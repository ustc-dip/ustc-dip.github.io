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6"/>
  </p:notesMasterIdLst>
  <p:handoutMasterIdLst>
    <p:handoutMasterId r:id="rId57"/>
  </p:handoutMasterIdLst>
  <p:sldIdLst>
    <p:sldId id="318" r:id="rId2"/>
    <p:sldId id="257" r:id="rId3"/>
    <p:sldId id="652" r:id="rId4"/>
    <p:sldId id="653" r:id="rId5"/>
    <p:sldId id="687" r:id="rId6"/>
    <p:sldId id="551" r:id="rId7"/>
    <p:sldId id="552" r:id="rId8"/>
    <p:sldId id="553" r:id="rId9"/>
    <p:sldId id="554" r:id="rId10"/>
    <p:sldId id="555" r:id="rId11"/>
    <p:sldId id="556" r:id="rId12"/>
    <p:sldId id="557" r:id="rId13"/>
    <p:sldId id="558" r:id="rId14"/>
    <p:sldId id="559" r:id="rId15"/>
    <p:sldId id="560" r:id="rId16"/>
    <p:sldId id="561" r:id="rId17"/>
    <p:sldId id="688" r:id="rId18"/>
    <p:sldId id="563" r:id="rId19"/>
    <p:sldId id="690" r:id="rId20"/>
    <p:sldId id="689" r:id="rId21"/>
    <p:sldId id="691" r:id="rId22"/>
    <p:sldId id="656" r:id="rId23"/>
    <p:sldId id="692" r:id="rId24"/>
    <p:sldId id="568" r:id="rId25"/>
    <p:sldId id="569" r:id="rId26"/>
    <p:sldId id="570" r:id="rId27"/>
    <p:sldId id="571" r:id="rId28"/>
    <p:sldId id="572" r:id="rId29"/>
    <p:sldId id="657" r:id="rId30"/>
    <p:sldId id="658" r:id="rId31"/>
    <p:sldId id="659" r:id="rId32"/>
    <p:sldId id="660" r:id="rId33"/>
    <p:sldId id="661" r:id="rId34"/>
    <p:sldId id="662" r:id="rId35"/>
    <p:sldId id="686" r:id="rId36"/>
    <p:sldId id="685" r:id="rId37"/>
    <p:sldId id="663" r:id="rId38"/>
    <p:sldId id="672" r:id="rId39"/>
    <p:sldId id="664" r:id="rId40"/>
    <p:sldId id="665" r:id="rId41"/>
    <p:sldId id="666" r:id="rId42"/>
    <p:sldId id="667" r:id="rId43"/>
    <p:sldId id="668" r:id="rId44"/>
    <p:sldId id="674" r:id="rId45"/>
    <p:sldId id="588" r:id="rId46"/>
    <p:sldId id="675" r:id="rId47"/>
    <p:sldId id="684" r:id="rId48"/>
    <p:sldId id="678" r:id="rId49"/>
    <p:sldId id="679" r:id="rId50"/>
    <p:sldId id="680" r:id="rId51"/>
    <p:sldId id="683" r:id="rId52"/>
    <p:sldId id="681" r:id="rId53"/>
    <p:sldId id="682" r:id="rId54"/>
    <p:sldId id="676" r:id="rId55"/>
  </p:sldIdLst>
  <p:sldSz cx="9144000" cy="6858000" type="screen4x3"/>
  <p:notesSz cx="7104063" cy="10234613"/>
  <p:defaultTextStyle>
    <a:defPPr>
      <a:defRPr lang="zh-CN"/>
    </a:defPPr>
    <a:lvl1pPr algn="l" rtl="0" fontAlgn="base">
      <a:spcBef>
        <a:spcPct val="20000"/>
      </a:spcBef>
      <a:spcAft>
        <a:spcPct val="0"/>
      </a:spcAft>
      <a:buClr>
        <a:schemeClr val="accent2"/>
      </a:buClr>
      <a:buFont typeface="Wingdings" panose="05000000000000000000" charset="0"/>
      <a:buChar char="•"/>
      <a:defRPr kern="1200">
        <a:solidFill>
          <a:schemeClr val="tx1"/>
        </a:solidFill>
        <a:latin typeface="Times New Roman" panose="02020603050405020304" charset="0"/>
        <a:ea typeface="黑体" panose="02010609060101010101" charset="-122"/>
        <a:cs typeface="黑体" panose="02010609060101010101" charset="-122"/>
      </a:defRPr>
    </a:lvl1pPr>
    <a:lvl2pPr marL="457200" algn="l" rtl="0" fontAlgn="base">
      <a:spcBef>
        <a:spcPct val="20000"/>
      </a:spcBef>
      <a:spcAft>
        <a:spcPct val="0"/>
      </a:spcAft>
      <a:buClr>
        <a:schemeClr val="accent2"/>
      </a:buClr>
      <a:buFont typeface="Wingdings" panose="05000000000000000000" charset="0"/>
      <a:buChar char="•"/>
      <a:defRPr kern="1200">
        <a:solidFill>
          <a:schemeClr val="tx1"/>
        </a:solidFill>
        <a:latin typeface="Times New Roman" panose="02020603050405020304" charset="0"/>
        <a:ea typeface="黑体" panose="02010609060101010101" charset="-122"/>
        <a:cs typeface="黑体" panose="02010609060101010101" charset="-122"/>
      </a:defRPr>
    </a:lvl2pPr>
    <a:lvl3pPr marL="914400" algn="l" rtl="0" fontAlgn="base">
      <a:spcBef>
        <a:spcPct val="20000"/>
      </a:spcBef>
      <a:spcAft>
        <a:spcPct val="0"/>
      </a:spcAft>
      <a:buClr>
        <a:schemeClr val="accent2"/>
      </a:buClr>
      <a:buFont typeface="Wingdings" panose="05000000000000000000" charset="0"/>
      <a:buChar char="•"/>
      <a:defRPr kern="1200">
        <a:solidFill>
          <a:schemeClr val="tx1"/>
        </a:solidFill>
        <a:latin typeface="Times New Roman" panose="02020603050405020304" charset="0"/>
        <a:ea typeface="黑体" panose="02010609060101010101" charset="-122"/>
        <a:cs typeface="黑体" panose="02010609060101010101" charset="-122"/>
      </a:defRPr>
    </a:lvl3pPr>
    <a:lvl4pPr marL="1371600" algn="l" rtl="0" fontAlgn="base">
      <a:spcBef>
        <a:spcPct val="20000"/>
      </a:spcBef>
      <a:spcAft>
        <a:spcPct val="0"/>
      </a:spcAft>
      <a:buClr>
        <a:schemeClr val="accent2"/>
      </a:buClr>
      <a:buFont typeface="Wingdings" panose="05000000000000000000" charset="0"/>
      <a:buChar char="•"/>
      <a:defRPr kern="1200">
        <a:solidFill>
          <a:schemeClr val="tx1"/>
        </a:solidFill>
        <a:latin typeface="Times New Roman" panose="02020603050405020304" charset="0"/>
        <a:ea typeface="黑体" panose="02010609060101010101" charset="-122"/>
        <a:cs typeface="黑体" panose="02010609060101010101" charset="-122"/>
      </a:defRPr>
    </a:lvl4pPr>
    <a:lvl5pPr marL="1828800" algn="l" rtl="0" fontAlgn="base">
      <a:spcBef>
        <a:spcPct val="20000"/>
      </a:spcBef>
      <a:spcAft>
        <a:spcPct val="0"/>
      </a:spcAft>
      <a:buClr>
        <a:schemeClr val="accent2"/>
      </a:buClr>
      <a:buFont typeface="Wingdings" panose="05000000000000000000" charset="0"/>
      <a:buChar char="•"/>
      <a:defRPr kern="1200">
        <a:solidFill>
          <a:schemeClr val="tx1"/>
        </a:solidFill>
        <a:latin typeface="Times New Roman" panose="02020603050405020304" charset="0"/>
        <a:ea typeface="黑体" panose="02010609060101010101" charset="-122"/>
        <a:cs typeface="黑体" panose="02010609060101010101" charset="-122"/>
      </a:defRPr>
    </a:lvl5pPr>
    <a:lvl6pPr marL="2286000" algn="l" defTabSz="457200" rtl="0" eaLnBrk="1" latinLnBrk="0" hangingPunct="1">
      <a:defRPr kern="1200">
        <a:solidFill>
          <a:schemeClr val="tx1"/>
        </a:solidFill>
        <a:latin typeface="Times New Roman" panose="02020603050405020304" charset="0"/>
        <a:ea typeface="黑体" panose="02010609060101010101" charset="-122"/>
        <a:cs typeface="黑体" panose="02010609060101010101" charset="-122"/>
      </a:defRPr>
    </a:lvl6pPr>
    <a:lvl7pPr marL="2743200" algn="l" defTabSz="457200" rtl="0" eaLnBrk="1" latinLnBrk="0" hangingPunct="1">
      <a:defRPr kern="1200">
        <a:solidFill>
          <a:schemeClr val="tx1"/>
        </a:solidFill>
        <a:latin typeface="Times New Roman" panose="02020603050405020304" charset="0"/>
        <a:ea typeface="黑体" panose="02010609060101010101" charset="-122"/>
        <a:cs typeface="黑体" panose="02010609060101010101" charset="-122"/>
      </a:defRPr>
    </a:lvl7pPr>
    <a:lvl8pPr marL="3200400" algn="l" defTabSz="457200" rtl="0" eaLnBrk="1" latinLnBrk="0" hangingPunct="1">
      <a:defRPr kern="1200">
        <a:solidFill>
          <a:schemeClr val="tx1"/>
        </a:solidFill>
        <a:latin typeface="Times New Roman" panose="02020603050405020304" charset="0"/>
        <a:ea typeface="黑体" panose="02010609060101010101" charset="-122"/>
        <a:cs typeface="黑体" panose="02010609060101010101" charset="-122"/>
      </a:defRPr>
    </a:lvl8pPr>
    <a:lvl9pPr marL="3657600" algn="l" defTabSz="457200" rtl="0" eaLnBrk="1" latinLnBrk="0" hangingPunct="1">
      <a:defRPr kern="1200">
        <a:solidFill>
          <a:schemeClr val="tx1"/>
        </a:solidFill>
        <a:latin typeface="Times New Roman" panose="02020603050405020304" charset="0"/>
        <a:ea typeface="黑体" panose="02010609060101010101" charset="-122"/>
        <a:cs typeface="黑体" panose="02010609060101010101" charset="-122"/>
      </a:defRPr>
    </a:lvl9pPr>
  </p:defaultTextStyle>
  <p:extLst>
    <p:ext uri="{EFAFB233-063F-42B5-8137-9DF3F51BA10A}">
      <p15:sldGuideLst xmlns:p15="http://schemas.microsoft.com/office/powerpoint/2012/main">
        <p15:guide id="1" orient="horz" pos="2086">
          <p15:clr>
            <a:srgbClr val="A4A3A4"/>
          </p15:clr>
        </p15:guide>
        <p15:guide id="2" pos="2877">
          <p15:clr>
            <a:srgbClr val="A4A3A4"/>
          </p15:clr>
        </p15:guide>
      </p15:sldGuideLst>
    </p:ext>
    <p:ext uri="{2D200454-40CA-4A62-9FC3-DE9A4176ACB9}">
      <p15:notesGuideLst xmlns:p15="http://schemas.microsoft.com/office/powerpoint/2012/main">
        <p15:guide id="1" orient="horz" pos="3113" userDrawn="1">
          <p15:clr>
            <a:srgbClr val="A4A3A4"/>
          </p15:clr>
        </p15:guide>
        <p15:guide id="2" pos="2235"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heng" initials="CC"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3399FF"/>
    <a:srgbClr val="99CCFF"/>
    <a:srgbClr val="FFFF99"/>
    <a:srgbClr val="FBF385"/>
    <a:srgbClr val="CCECFF"/>
    <a:srgbClr val="EEA5FF"/>
    <a:srgbClr val="FFFF66"/>
    <a:srgbClr val="FF47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89" autoAdjust="0"/>
    <p:restoredTop sz="81001" autoAdjust="0"/>
  </p:normalViewPr>
  <p:slideViewPr>
    <p:cSldViewPr>
      <p:cViewPr varScale="1">
        <p:scale>
          <a:sx n="77" d="100"/>
          <a:sy n="77" d="100"/>
        </p:scale>
        <p:origin x="1682" y="48"/>
      </p:cViewPr>
      <p:guideLst>
        <p:guide orient="horz" pos="2086"/>
        <p:guide pos="287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83" d="100"/>
          <a:sy n="83" d="100"/>
        </p:scale>
        <p:origin x="-1992" y="-78"/>
      </p:cViewPr>
      <p:guideLst>
        <p:guide orient="horz" pos="3113"/>
        <p:guide pos="2235"/>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5330" name="Rectangle 2"/>
          <p:cNvSpPr>
            <a:spLocks noGrp="1" noChangeArrowheads="1"/>
          </p:cNvSpPr>
          <p:nvPr>
            <p:ph type="hdr" sz="quarter"/>
          </p:nvPr>
        </p:nvSpPr>
        <p:spPr bwMode="auto">
          <a:xfrm>
            <a:off x="0" y="0"/>
            <a:ext cx="3078427"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9075" tIns="49538" rIns="99075" bIns="49538" numCol="1" anchor="t" anchorCtr="0" compatLnSpc="1"/>
          <a:lstStyle>
            <a:lvl1pPr>
              <a:spcBef>
                <a:spcPct val="0"/>
              </a:spcBef>
              <a:buClrTx/>
              <a:buFontTx/>
              <a:buNone/>
              <a:defRPr sz="1300">
                <a:latin typeface="Arial" panose="020B0604020202020204" pitchFamily="34" charset="0"/>
                <a:ea typeface="宋体" panose="02010600030101010101" pitchFamily="2" charset="-122"/>
                <a:cs typeface="宋体" panose="02010600030101010101" pitchFamily="2" charset="-122"/>
              </a:defRPr>
            </a:lvl1pPr>
          </a:lstStyle>
          <a:p>
            <a:pPr>
              <a:defRPr/>
            </a:pPr>
            <a:endParaRPr lang="en-US" altLang="zh-CN"/>
          </a:p>
        </p:txBody>
      </p:sp>
      <p:sp>
        <p:nvSpPr>
          <p:cNvPr id="355331" name="Rectangle 3"/>
          <p:cNvSpPr>
            <a:spLocks noGrp="1" noChangeArrowheads="1"/>
          </p:cNvSpPr>
          <p:nvPr>
            <p:ph type="dt" sz="quarter" idx="1"/>
          </p:nvPr>
        </p:nvSpPr>
        <p:spPr bwMode="auto">
          <a:xfrm>
            <a:off x="4023992" y="0"/>
            <a:ext cx="3078427"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9075" tIns="49538" rIns="99075" bIns="49538" numCol="1" anchor="t" anchorCtr="0" compatLnSpc="1"/>
          <a:lstStyle>
            <a:lvl1pPr algn="r">
              <a:spcBef>
                <a:spcPct val="0"/>
              </a:spcBef>
              <a:buClrTx/>
              <a:buFontTx/>
              <a:buNone/>
              <a:defRPr sz="1300">
                <a:latin typeface="Arial" panose="020B0604020202020204" pitchFamily="34" charset="0"/>
                <a:ea typeface="宋体" panose="02010600030101010101" pitchFamily="2" charset="-122"/>
                <a:cs typeface="宋体" panose="02010600030101010101" pitchFamily="2" charset="-122"/>
              </a:defRPr>
            </a:lvl1pPr>
          </a:lstStyle>
          <a:p>
            <a:pPr>
              <a:defRPr/>
            </a:pPr>
            <a:endParaRPr lang="en-US" altLang="zh-CN"/>
          </a:p>
        </p:txBody>
      </p:sp>
      <p:sp>
        <p:nvSpPr>
          <p:cNvPr id="355332" name="Rectangle 4"/>
          <p:cNvSpPr>
            <a:spLocks noGrp="1" noChangeArrowheads="1"/>
          </p:cNvSpPr>
          <p:nvPr>
            <p:ph type="ftr" sz="quarter" idx="2"/>
          </p:nvPr>
        </p:nvSpPr>
        <p:spPr bwMode="auto">
          <a:xfrm>
            <a:off x="0" y="9721106"/>
            <a:ext cx="3078427"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9075" tIns="49538" rIns="99075" bIns="49538" numCol="1" anchor="b" anchorCtr="0" compatLnSpc="1"/>
          <a:lstStyle>
            <a:lvl1pPr>
              <a:spcBef>
                <a:spcPct val="0"/>
              </a:spcBef>
              <a:buClrTx/>
              <a:buFontTx/>
              <a:buNone/>
              <a:defRPr sz="1300">
                <a:latin typeface="Arial" panose="020B0604020202020204" pitchFamily="34" charset="0"/>
                <a:ea typeface="宋体" panose="02010600030101010101" pitchFamily="2" charset="-122"/>
                <a:cs typeface="宋体" panose="02010600030101010101" pitchFamily="2" charset="-122"/>
              </a:defRPr>
            </a:lvl1pPr>
          </a:lstStyle>
          <a:p>
            <a:pPr>
              <a:defRPr/>
            </a:pPr>
            <a:endParaRPr lang="en-US" altLang="zh-CN"/>
          </a:p>
        </p:txBody>
      </p:sp>
      <p:sp>
        <p:nvSpPr>
          <p:cNvPr id="355333" name="Rectangle 5"/>
          <p:cNvSpPr>
            <a:spLocks noGrp="1" noChangeArrowheads="1"/>
          </p:cNvSpPr>
          <p:nvPr>
            <p:ph type="sldNum" sz="quarter" idx="3"/>
          </p:nvPr>
        </p:nvSpPr>
        <p:spPr bwMode="auto">
          <a:xfrm>
            <a:off x="4023992" y="9721106"/>
            <a:ext cx="3078427"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9075" tIns="49538" rIns="99075" bIns="49538" numCol="1" anchor="b" anchorCtr="0" compatLnSpc="1"/>
          <a:lstStyle>
            <a:lvl1pPr algn="r">
              <a:spcBef>
                <a:spcPct val="0"/>
              </a:spcBef>
              <a:buClrTx/>
              <a:buFontTx/>
              <a:buNone/>
              <a:defRPr sz="1300">
                <a:latin typeface="Arial" panose="020B0604020202020204" pitchFamily="34" charset="0"/>
                <a:ea typeface="宋体" panose="02010600030101010101" pitchFamily="2" charset="-122"/>
                <a:cs typeface="宋体" panose="02010600030101010101" pitchFamily="2" charset="-122"/>
              </a:defRPr>
            </a:lvl1pPr>
          </a:lstStyle>
          <a:p>
            <a:pPr>
              <a:defRPr/>
            </a:pPr>
            <a:fld id="{76C343F1-3439-734F-85AA-BD8B399AF6A3}" type="slidenum">
              <a:rPr lang="en-US" altLang="zh-CN"/>
              <a:pPr>
                <a:defRPr/>
              </a:pPr>
              <a:t>‹#›</a:t>
            </a:fld>
            <a:endParaRPr lang="en-US" altLang="zh-CN"/>
          </a:p>
        </p:txBody>
      </p:sp>
    </p:spTree>
    <p:extLst>
      <p:ext uri="{BB962C8B-B14F-4D97-AF65-F5344CB8AC3E}">
        <p14:creationId xmlns:p14="http://schemas.microsoft.com/office/powerpoint/2010/main" val="301826065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3078427"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9075" tIns="49538" rIns="99075" bIns="49538" numCol="1" anchor="t" anchorCtr="0" compatLnSpc="1"/>
          <a:lstStyle>
            <a:lvl1pPr>
              <a:spcBef>
                <a:spcPct val="0"/>
              </a:spcBef>
              <a:buClrTx/>
              <a:buFontTx/>
              <a:buNone/>
              <a:defRPr sz="1300">
                <a:latin typeface="Arial" panose="020B0604020202020204" pitchFamily="34" charset="0"/>
                <a:ea typeface="宋体" panose="02010600030101010101" pitchFamily="2" charset="-122"/>
                <a:cs typeface="宋体" panose="02010600030101010101" pitchFamily="2" charset="-122"/>
              </a:defRPr>
            </a:lvl1pPr>
          </a:lstStyle>
          <a:p>
            <a:pPr>
              <a:defRPr/>
            </a:pPr>
            <a:endParaRPr lang="en-US" altLang="zh-CN"/>
          </a:p>
        </p:txBody>
      </p:sp>
      <p:sp>
        <p:nvSpPr>
          <p:cNvPr id="12291" name="Rectangle 3"/>
          <p:cNvSpPr>
            <a:spLocks noGrp="1" noChangeArrowheads="1"/>
          </p:cNvSpPr>
          <p:nvPr>
            <p:ph type="dt" idx="1"/>
          </p:nvPr>
        </p:nvSpPr>
        <p:spPr bwMode="auto">
          <a:xfrm>
            <a:off x="4023992" y="0"/>
            <a:ext cx="3078427"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9075" tIns="49538" rIns="99075" bIns="49538" numCol="1" anchor="t" anchorCtr="0" compatLnSpc="1"/>
          <a:lstStyle>
            <a:lvl1pPr algn="r">
              <a:spcBef>
                <a:spcPct val="0"/>
              </a:spcBef>
              <a:buClrTx/>
              <a:buFontTx/>
              <a:buNone/>
              <a:defRPr sz="1300">
                <a:latin typeface="Arial" panose="020B0604020202020204" pitchFamily="34" charset="0"/>
                <a:ea typeface="宋体" panose="02010600030101010101" pitchFamily="2" charset="-122"/>
                <a:cs typeface="宋体" panose="02010600030101010101" pitchFamily="2" charset="-122"/>
              </a:defRPr>
            </a:lvl1pPr>
          </a:lstStyle>
          <a:p>
            <a:pPr>
              <a:defRPr/>
            </a:pPr>
            <a:endParaRPr lang="en-US" altLang="zh-CN"/>
          </a:p>
        </p:txBody>
      </p:sp>
      <p:sp>
        <p:nvSpPr>
          <p:cNvPr id="12292" name="Rectangle 4"/>
          <p:cNvSpPr>
            <a:spLocks noGrp="1" noRot="1" noChangeAspect="1" noChangeArrowheads="1" noTextEdit="1"/>
          </p:cNvSpPr>
          <p:nvPr>
            <p:ph type="sldImg" idx="2"/>
          </p:nvPr>
        </p:nvSpPr>
        <p:spPr bwMode="auto">
          <a:xfrm>
            <a:off x="995363" y="768350"/>
            <a:ext cx="5113337" cy="3836988"/>
          </a:xfrm>
          <a:prstGeom prst="rect">
            <a:avLst/>
          </a:prstGeom>
          <a:noFill/>
          <a:ln w="9525">
            <a:solidFill>
              <a:srgbClr val="000000"/>
            </a:solidFill>
            <a:miter lim="800000"/>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12293" name="Rectangle 5"/>
          <p:cNvSpPr>
            <a:spLocks noGrp="1" noChangeArrowheads="1"/>
          </p:cNvSpPr>
          <p:nvPr>
            <p:ph type="body" sz="quarter" idx="3"/>
          </p:nvPr>
        </p:nvSpPr>
        <p:spPr bwMode="auto">
          <a:xfrm>
            <a:off x="710407" y="4861441"/>
            <a:ext cx="5683250" cy="4605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9075" tIns="49538" rIns="99075" bIns="49538" numCol="1" anchor="t" anchorCtr="0" compatLnSpc="1"/>
          <a:lstStyle/>
          <a:p>
            <a:pPr lvl="0"/>
            <a:r>
              <a:rPr lang="zh-CN" altLang="en-US" noProof="0"/>
              <a:t>单击此处编辑母版文本样式</a:t>
            </a:r>
            <a:endParaRPr lang="en-US" altLang="zh-CN" noProof="0"/>
          </a:p>
          <a:p>
            <a:pPr lvl="1"/>
            <a:r>
              <a:rPr lang="zh-CN" altLang="en-US" noProof="0"/>
              <a:t>第二级</a:t>
            </a:r>
            <a:endParaRPr lang="en-US" altLang="zh-CN" noProof="0"/>
          </a:p>
          <a:p>
            <a:pPr lvl="2"/>
            <a:r>
              <a:rPr lang="zh-CN" altLang="en-US" noProof="0"/>
              <a:t>第三级</a:t>
            </a:r>
            <a:endParaRPr lang="en-US" altLang="zh-CN" noProof="0"/>
          </a:p>
          <a:p>
            <a:pPr lvl="3"/>
            <a:r>
              <a:rPr lang="zh-CN" altLang="en-US" noProof="0"/>
              <a:t>第四级</a:t>
            </a:r>
            <a:endParaRPr lang="en-US" altLang="zh-CN" noProof="0"/>
          </a:p>
          <a:p>
            <a:pPr lvl="4"/>
            <a:r>
              <a:rPr lang="zh-CN" altLang="en-US" noProof="0"/>
              <a:t>第五级</a:t>
            </a:r>
          </a:p>
        </p:txBody>
      </p:sp>
      <p:sp>
        <p:nvSpPr>
          <p:cNvPr id="12294" name="Rectangle 6"/>
          <p:cNvSpPr>
            <a:spLocks noGrp="1" noChangeArrowheads="1"/>
          </p:cNvSpPr>
          <p:nvPr>
            <p:ph type="ftr" sz="quarter" idx="4"/>
          </p:nvPr>
        </p:nvSpPr>
        <p:spPr bwMode="auto">
          <a:xfrm>
            <a:off x="0" y="9721106"/>
            <a:ext cx="3078427"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9075" tIns="49538" rIns="99075" bIns="49538" numCol="1" anchor="b" anchorCtr="0" compatLnSpc="1"/>
          <a:lstStyle>
            <a:lvl1pPr>
              <a:spcBef>
                <a:spcPct val="0"/>
              </a:spcBef>
              <a:buClrTx/>
              <a:buFontTx/>
              <a:buNone/>
              <a:defRPr sz="1300">
                <a:latin typeface="Arial" panose="020B0604020202020204" pitchFamily="34" charset="0"/>
                <a:ea typeface="宋体" panose="02010600030101010101" pitchFamily="2" charset="-122"/>
                <a:cs typeface="宋体" panose="02010600030101010101" pitchFamily="2" charset="-122"/>
              </a:defRPr>
            </a:lvl1pPr>
          </a:lstStyle>
          <a:p>
            <a:pPr>
              <a:defRPr/>
            </a:pPr>
            <a:endParaRPr lang="en-US" altLang="zh-CN"/>
          </a:p>
        </p:txBody>
      </p:sp>
      <p:sp>
        <p:nvSpPr>
          <p:cNvPr id="12295" name="Rectangle 7"/>
          <p:cNvSpPr>
            <a:spLocks noGrp="1" noChangeArrowheads="1"/>
          </p:cNvSpPr>
          <p:nvPr>
            <p:ph type="sldNum" sz="quarter" idx="5"/>
          </p:nvPr>
        </p:nvSpPr>
        <p:spPr bwMode="auto">
          <a:xfrm>
            <a:off x="4023992" y="9721106"/>
            <a:ext cx="3078427"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9075" tIns="49538" rIns="99075" bIns="49538" numCol="1" anchor="b" anchorCtr="0" compatLnSpc="1"/>
          <a:lstStyle>
            <a:lvl1pPr algn="r">
              <a:spcBef>
                <a:spcPct val="0"/>
              </a:spcBef>
              <a:buClrTx/>
              <a:buFontTx/>
              <a:buNone/>
              <a:defRPr sz="1300">
                <a:latin typeface="Arial" panose="020B0604020202020204" pitchFamily="34" charset="0"/>
                <a:ea typeface="宋体" panose="02010600030101010101" pitchFamily="2" charset="-122"/>
                <a:cs typeface="宋体" panose="02010600030101010101" pitchFamily="2" charset="-122"/>
              </a:defRPr>
            </a:lvl1pPr>
          </a:lstStyle>
          <a:p>
            <a:pPr>
              <a:defRPr/>
            </a:pPr>
            <a:fld id="{04EB2441-6E1B-0C46-A084-F5418D440600}" type="slidenum">
              <a:rPr lang="en-US" altLang="zh-CN"/>
              <a:pPr>
                <a:defRPr/>
              </a:pPr>
              <a:t>‹#›</a:t>
            </a:fld>
            <a:endParaRPr lang="en-US" altLang="zh-CN"/>
          </a:p>
        </p:txBody>
      </p:sp>
    </p:spTree>
    <p:extLst>
      <p:ext uri="{BB962C8B-B14F-4D97-AF65-F5344CB8AC3E}">
        <p14:creationId xmlns:p14="http://schemas.microsoft.com/office/powerpoint/2010/main" val="1882214779"/>
      </p:ext>
    </p:extLst>
  </p:cSld>
  <p:clrMap bg1="lt1" tx1="dk1" bg2="lt2" tx2="dk2" accent1="accent1" accent2="accent2" accent3="accent3" accent4="accent4" accent5="accent5" accent6="accent6" hlink="hlink" folHlink="folHlink"/>
  <p:hf hdr="0" dt="0"/>
  <p:notesStyle>
    <a:lvl1pPr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页脚占位符 3"/>
          <p:cNvSpPr>
            <a:spLocks noGrp="1"/>
          </p:cNvSpPr>
          <p:nvPr>
            <p:ph type="ftr" sz="quarter"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04EB2441-6E1B-0C46-A084-F5418D440600}" type="slidenum">
              <a:rPr lang="en-US" altLang="zh-CN" smtClean="0"/>
              <a:pPr>
                <a:defRPr/>
              </a:pPr>
              <a:t>1</a:t>
            </a:fld>
            <a:endParaRPr lang="en-US" altLang="zh-CN"/>
          </a:p>
        </p:txBody>
      </p:sp>
    </p:spTree>
    <p:extLst>
      <p:ext uri="{BB962C8B-B14F-4D97-AF65-F5344CB8AC3E}">
        <p14:creationId xmlns:p14="http://schemas.microsoft.com/office/powerpoint/2010/main" val="362683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04EB2441-6E1B-0C46-A084-F5418D440600}" type="slidenum">
              <a:rPr lang="en-US" altLang="zh-CN" smtClean="0"/>
              <a:pPr>
                <a:defRPr/>
              </a:pPr>
              <a:t>7</a:t>
            </a:fld>
            <a:endParaRPr lang="en-US" altLang="zh-CN"/>
          </a:p>
        </p:txBody>
      </p:sp>
    </p:spTree>
    <p:extLst>
      <p:ext uri="{BB962C8B-B14F-4D97-AF65-F5344CB8AC3E}">
        <p14:creationId xmlns:p14="http://schemas.microsoft.com/office/powerpoint/2010/main" val="3896928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txBox="1">
            <a:spLocks noGrp="1"/>
          </p:cNvSpPr>
          <p:nvPr>
            <p:ph type="sldNum" sz="quarter"/>
          </p:nvPr>
        </p:nvSpPr>
        <p:spPr>
          <a:xfrm>
            <a:off x="4023992" y="9721106"/>
            <a:ext cx="3078427" cy="511731"/>
          </a:xfrm>
          <a:prstGeom prst="rect">
            <a:avLst/>
          </a:prstGeom>
          <a:noFill/>
          <a:ln w="9525">
            <a:noFill/>
          </a:ln>
        </p:spPr>
        <p:txBody>
          <a:bodyPr anchor="b"/>
          <a:lstStyle/>
          <a:p>
            <a:pPr lvl="0" algn="r" eaLnBrk="1" hangingPunct="1">
              <a:spcBef>
                <a:spcPct val="0"/>
              </a:spcBef>
            </a:pPr>
            <a:fld id="{9A0DB2DC-4C9A-4742-B13C-FB6460FD3503}" type="slidenum">
              <a:rPr lang="en-US" altLang="zh-CN" dirty="0">
                <a:ea typeface="黑体" panose="02010609060101010101" charset="-122"/>
              </a:rPr>
              <a:pPr lvl="0" algn="r" eaLnBrk="1" hangingPunct="1">
                <a:spcBef>
                  <a:spcPct val="0"/>
                </a:spcBef>
              </a:pPr>
              <a:t>8</a:t>
            </a:fld>
            <a:endParaRPr lang="en-US" altLang="zh-CN" dirty="0">
              <a:ea typeface="黑体" panose="02010609060101010101" charset="-122"/>
            </a:endParaRPr>
          </a:p>
        </p:txBody>
      </p:sp>
      <p:sp>
        <p:nvSpPr>
          <p:cNvPr id="14339" name="Rectangle 2"/>
          <p:cNvSpPr>
            <a:spLocks noGrp="1" noRot="1" noChangeAspect="1" noTextEdit="1"/>
          </p:cNvSpPr>
          <p:nvPr>
            <p:ph type="sldImg"/>
          </p:nvPr>
        </p:nvSpPr>
        <p:spPr/>
      </p:sp>
      <p:sp>
        <p:nvSpPr>
          <p:cNvPr id="14340" name="Rectangle 3"/>
          <p:cNvSpPr>
            <a:spLocks noGrp="1"/>
          </p:cNvSpPr>
          <p:nvPr>
            <p:ph type="body" idx="1"/>
          </p:nvPr>
        </p:nvSpPr>
        <p:spPr/>
        <p:txBody>
          <a:bodyPr wrap="square" lIns="99075" tIns="49538" rIns="99075" bIns="49538" anchor="t"/>
          <a:lstStyle/>
          <a:p>
            <a:pPr lvl="0" eaLnBrk="1" hangingPunct="1"/>
            <a:r>
              <a:rPr lang="zh-CN" altLang="en-US" dirty="0"/>
              <a:t>富立叶频谱</a:t>
            </a:r>
            <a:r>
              <a:rPr lang="en-US" altLang="zh-CN" dirty="0"/>
              <a:t>0~1.5X10</a:t>
            </a:r>
            <a:r>
              <a:rPr lang="en-US" altLang="zh-CN" baseline="30000" dirty="0"/>
              <a:t>6</a:t>
            </a:r>
          </a:p>
        </p:txBody>
      </p:sp>
    </p:spTree>
    <p:extLst>
      <p:ext uri="{BB962C8B-B14F-4D97-AF65-F5344CB8AC3E}">
        <p14:creationId xmlns:p14="http://schemas.microsoft.com/office/powerpoint/2010/main" val="1907283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txBox="1">
            <a:spLocks noGrp="1"/>
          </p:cNvSpPr>
          <p:nvPr>
            <p:ph type="sldNum" sz="quarter"/>
          </p:nvPr>
        </p:nvSpPr>
        <p:spPr>
          <a:xfrm>
            <a:off x="4023992" y="9721106"/>
            <a:ext cx="3078427" cy="511731"/>
          </a:xfrm>
          <a:prstGeom prst="rect">
            <a:avLst/>
          </a:prstGeom>
          <a:noFill/>
          <a:ln w="9525">
            <a:noFill/>
          </a:ln>
        </p:spPr>
        <p:txBody>
          <a:bodyPr anchor="b"/>
          <a:lstStyle/>
          <a:p>
            <a:pPr lvl="0" algn="r" eaLnBrk="1" hangingPunct="1">
              <a:spcBef>
                <a:spcPct val="0"/>
              </a:spcBef>
            </a:pPr>
            <a:fld id="{9A0DB2DC-4C9A-4742-B13C-FB6460FD3503}" type="slidenum">
              <a:rPr lang="en-US" altLang="zh-CN" dirty="0">
                <a:ea typeface="黑体" panose="02010609060101010101" charset="-122"/>
              </a:rPr>
              <a:pPr lvl="0" algn="r" eaLnBrk="1" hangingPunct="1">
                <a:spcBef>
                  <a:spcPct val="0"/>
                </a:spcBef>
              </a:pPr>
              <a:t>10</a:t>
            </a:fld>
            <a:endParaRPr lang="en-US" altLang="zh-CN" dirty="0">
              <a:ea typeface="黑体" panose="02010609060101010101" charset="-122"/>
            </a:endParaRPr>
          </a:p>
        </p:txBody>
      </p:sp>
      <p:sp>
        <p:nvSpPr>
          <p:cNvPr id="17411" name="Rectangle 2"/>
          <p:cNvSpPr>
            <a:spLocks noGrp="1" noRot="1" noChangeAspect="1" noTextEdit="1"/>
          </p:cNvSpPr>
          <p:nvPr>
            <p:ph type="sldImg"/>
          </p:nvPr>
        </p:nvSpPr>
        <p:spPr/>
      </p:sp>
      <p:sp>
        <p:nvSpPr>
          <p:cNvPr id="17412" name="Rectangle 3"/>
          <p:cNvSpPr>
            <a:spLocks noGrp="1"/>
          </p:cNvSpPr>
          <p:nvPr>
            <p:ph type="body" idx="1"/>
          </p:nvPr>
        </p:nvSpPr>
        <p:spPr/>
        <p:txBody>
          <a:bodyPr wrap="square" lIns="99075" tIns="49538" rIns="99075" bIns="49538" anchor="t"/>
          <a:lstStyle/>
          <a:p>
            <a:pPr lvl="0" eaLnBrk="1" hangingPunct="1"/>
            <a:r>
              <a:rPr lang="zh-CN" altLang="en-US" dirty="0">
                <a:cs typeface="Times New Roman" panose="02020603050405020304" charset="0"/>
              </a:rPr>
              <a:t>阴极射线管</a:t>
            </a:r>
            <a:r>
              <a:rPr lang="en-US" altLang="zh-CN" dirty="0">
                <a:cs typeface="Times New Roman" panose="02020603050405020304" charset="0"/>
              </a:rPr>
              <a:t>(CRT)</a:t>
            </a:r>
            <a:r>
              <a:rPr lang="zh-CN" altLang="en-US" dirty="0">
                <a:cs typeface="Times New Roman" panose="02020603050405020304" charset="0"/>
              </a:rPr>
              <a:t>设备有一个灰度</a:t>
            </a:r>
            <a:r>
              <a:rPr lang="en-US" altLang="zh-CN" dirty="0">
                <a:cs typeface="Times New Roman" panose="02020603050405020304" charset="0"/>
              </a:rPr>
              <a:t>-</a:t>
            </a:r>
            <a:r>
              <a:rPr lang="zh-CN" altLang="en-US" dirty="0">
                <a:cs typeface="Times New Roman" panose="02020603050405020304" charset="0"/>
              </a:rPr>
              <a:t>电压响应，该响应是一个指数变化范围约为</a:t>
            </a:r>
            <a:r>
              <a:rPr lang="en-US" altLang="zh-CN" dirty="0">
                <a:cs typeface="Times New Roman" panose="02020603050405020304" charset="0"/>
              </a:rPr>
              <a:t>1.8~2.5</a:t>
            </a:r>
            <a:r>
              <a:rPr lang="zh-CN" altLang="en-US" dirty="0">
                <a:cs typeface="Times New Roman" panose="02020603050405020304" charset="0"/>
              </a:rPr>
              <a:t>的幂函数。在图 </a:t>
            </a:r>
            <a:r>
              <a:rPr lang="en-US" altLang="zh-CN" dirty="0">
                <a:cs typeface="Times New Roman" panose="02020603050405020304" charset="0"/>
              </a:rPr>
              <a:t>3.6</a:t>
            </a:r>
            <a:r>
              <a:rPr lang="zh-CN" altLang="en-US" dirty="0">
                <a:cs typeface="Times New Roman" panose="02020603050405020304" charset="0"/>
              </a:rPr>
              <a:t>中，用</a:t>
            </a:r>
            <a:r>
              <a:rPr lang="en-US" altLang="zh-CN" dirty="0">
                <a:cs typeface="Times New Roman" panose="02020603050405020304" charset="0"/>
              </a:rPr>
              <a:t>y=2.5</a:t>
            </a:r>
            <a:r>
              <a:rPr lang="zh-CN" altLang="en-US" dirty="0">
                <a:cs typeface="Times New Roman" panose="02020603050405020304" charset="0"/>
              </a:rPr>
              <a:t>时的参考曲线，我们看到，这种显示系统产生的图像往往要比期望的图像暗。这个结果在图 </a:t>
            </a:r>
            <a:r>
              <a:rPr lang="en-US" altLang="zh-CN" dirty="0">
                <a:cs typeface="Times New Roman" panose="02020603050405020304" charset="0"/>
              </a:rPr>
              <a:t>3.7 </a:t>
            </a:r>
            <a:r>
              <a:rPr lang="zh-CN" altLang="en-US" dirty="0">
                <a:cs typeface="Times New Roman" panose="02020603050405020304" charset="0"/>
              </a:rPr>
              <a:t>加以说明。图 </a:t>
            </a:r>
            <a:r>
              <a:rPr lang="en-US" altLang="zh-CN" dirty="0">
                <a:cs typeface="Times New Roman" panose="02020603050405020304" charset="0"/>
              </a:rPr>
              <a:t>3.7(a)</a:t>
            </a:r>
            <a:r>
              <a:rPr lang="zh-CN" altLang="en-US" dirty="0">
                <a:cs typeface="Times New Roman" panose="02020603050405020304" charset="0"/>
              </a:rPr>
              <a:t>显示了一幅输入到监视器的简单灰度斜坡</a:t>
            </a:r>
            <a:r>
              <a:rPr lang="en-US" altLang="zh-CN" dirty="0">
                <a:cs typeface="Times New Roman" panose="02020603050405020304" charset="0"/>
              </a:rPr>
              <a:t>(</a:t>
            </a:r>
            <a:r>
              <a:rPr lang="zh-CN" altLang="en-US" dirty="0">
                <a:cs typeface="Times New Roman" panose="02020603050405020304" charset="0"/>
              </a:rPr>
              <a:t>渐变</a:t>
            </a:r>
            <a:r>
              <a:rPr lang="en-US" altLang="zh-CN" dirty="0">
                <a:cs typeface="Times New Roman" panose="02020603050405020304" charset="0"/>
              </a:rPr>
              <a:t>)</a:t>
            </a:r>
            <a:r>
              <a:rPr lang="zh-CN" altLang="en-US" dirty="0">
                <a:cs typeface="Times New Roman" panose="02020603050405020304" charset="0"/>
              </a:rPr>
              <a:t>图像。如期望的那样，监视器表现了输出比输入暗，如图 </a:t>
            </a:r>
            <a:r>
              <a:rPr lang="en-US" altLang="zh-CN" dirty="0">
                <a:cs typeface="Times New Roman" panose="02020603050405020304" charset="0"/>
              </a:rPr>
              <a:t>3.7(b)</a:t>
            </a:r>
            <a:r>
              <a:rPr lang="zh-CN" altLang="en-US" dirty="0">
                <a:cs typeface="Times New Roman" panose="02020603050405020304" charset="0"/>
              </a:rPr>
              <a:t>所示。在这种情况下，伽马校正很简单。我们需要做的只是将图像输人到监视器前进行预处理，即进行</a:t>
            </a:r>
            <a:r>
              <a:rPr lang="en-US" altLang="zh-CN" dirty="0">
                <a:cs typeface="Times New Roman" panose="02020603050405020304" charset="0"/>
              </a:rPr>
              <a:t>=r5=°4</a:t>
            </a:r>
            <a:r>
              <a:rPr lang="zh-CN" altLang="en-US" dirty="0">
                <a:cs typeface="Times New Roman" panose="02020603050405020304" charset="0"/>
              </a:rPr>
              <a:t>变换。结果如图 </a:t>
            </a:r>
            <a:r>
              <a:rPr lang="en-US" altLang="zh-CN" dirty="0">
                <a:cs typeface="Times New Roman" panose="02020603050405020304" charset="0"/>
              </a:rPr>
              <a:t>3.7(c)</a:t>
            </a:r>
            <a:r>
              <a:rPr lang="zh-CN" altLang="en-US" dirty="0">
                <a:cs typeface="Times New Roman" panose="02020603050405020304" charset="0"/>
              </a:rPr>
              <a:t>所示。当输人到相同的监视器时，这一伽马校正过的输入产生外观上接近于原图像的输出，如图</a:t>
            </a:r>
            <a:r>
              <a:rPr lang="en-US" altLang="zh-CN" dirty="0">
                <a:cs typeface="Times New Roman" panose="02020603050405020304" charset="0"/>
              </a:rPr>
              <a:t>3.7()</a:t>
            </a:r>
            <a:r>
              <a:rPr lang="zh-CN" altLang="en-US" dirty="0">
                <a:cs typeface="Times New Roman" panose="02020603050405020304" charset="0"/>
              </a:rPr>
              <a:t>所示。类似的分析也适用于其他图像设备，如扫描仪和打印机。唯一的不同是随设备而定的伽马值</a:t>
            </a:r>
            <a:r>
              <a:rPr lang="en-US" altLang="zh-CN" dirty="0">
                <a:cs typeface="Times New Roman" panose="02020603050405020304" charset="0"/>
              </a:rPr>
              <a:t>(Poynton[1996])</a:t>
            </a:r>
            <a:r>
              <a:rPr lang="zh-CN" altLang="en-US" dirty="0">
                <a:cs typeface="Times New Roman" panose="02020603050405020304" charset="0"/>
              </a:rPr>
              <a:t>。 </a:t>
            </a:r>
            <a:endParaRPr lang="el-GR" altLang="zh-CN" dirty="0">
              <a:ea typeface="Times New Roman" panose="02020603050405020304" charset="0"/>
            </a:endParaRPr>
          </a:p>
        </p:txBody>
      </p:sp>
    </p:spTree>
    <p:extLst>
      <p:ext uri="{BB962C8B-B14F-4D97-AF65-F5344CB8AC3E}">
        <p14:creationId xmlns:p14="http://schemas.microsoft.com/office/powerpoint/2010/main" val="121324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a:t>
            </a:r>
            <a:r>
              <a:rPr lang="en-US" altLang="zh-CN" dirty="0"/>
              <a:t>3.12()</a:t>
            </a:r>
            <a:r>
              <a:rPr lang="zh-CN" altLang="en-US" dirty="0"/>
              <a:t>是一幅靠近肾脏区域的大动脉血管造影照片</a:t>
            </a:r>
            <a:r>
              <a:rPr lang="en-US" altLang="zh-CN" dirty="0"/>
              <a:t>(</a:t>
            </a:r>
            <a:r>
              <a:rPr lang="zh-CN" altLang="en-US" dirty="0"/>
              <a:t>见</a:t>
            </a:r>
            <a:r>
              <a:rPr lang="en-US" altLang="zh-CN" dirty="0"/>
              <a:t>1.3.2</a:t>
            </a:r>
            <a:r>
              <a:rPr lang="zh-CN" altLang="en-US" dirty="0"/>
              <a:t>节对这幅图像更详细的解释</a:t>
            </a:r>
            <a:r>
              <a:rPr lang="en-US" altLang="zh-CN" dirty="0"/>
              <a:t>)</a:t>
            </a:r>
            <a:r>
              <a:rPr lang="zh-CN" altLang="en-US" dirty="0"/>
              <a:t>。该例的目的是使用灰度级分层来突出主要血管，使其更亮一些，如同注射造影剂的效果那样。图</a:t>
            </a:r>
            <a:r>
              <a:rPr lang="en-US" altLang="zh-CN" dirty="0"/>
              <a:t>3.12(b)</a:t>
            </a:r>
            <a:r>
              <a:rPr lang="zh-CN" altLang="en-US" dirty="0"/>
              <a:t>显示了使用图 </a:t>
            </a:r>
            <a:r>
              <a:rPr lang="en-US" altLang="zh-CN" dirty="0"/>
              <a:t>3.11(a)</a:t>
            </a:r>
            <a:r>
              <a:rPr lang="zh-CN" altLang="en-US" dirty="0"/>
              <a:t>给出的变换的结果，所选范围接近数值的顶端，因为感兴趣的范围比背景亮。该变换的最终结果是血管和肾脏部分显现白色，而其他灰度显示为黑色。这种类型的增强产生了一幅二值图像，这对于研究</a:t>
            </a:r>
            <a:r>
              <a:rPr lang="en-US" altLang="zh-CN" dirty="0"/>
              <a:t>(</a:t>
            </a:r>
            <a:r>
              <a:rPr lang="zh-CN" altLang="en-US" dirty="0"/>
              <a:t>用于检测血管堵塞的</a:t>
            </a:r>
            <a:r>
              <a:rPr lang="en-US" altLang="zh-CN" dirty="0"/>
              <a:t>)</a:t>
            </a:r>
            <a:r>
              <a:rPr lang="zh-CN" altLang="en-US" dirty="0"/>
              <a:t>造影剂的流动是很有用的。另一方面，如果我们的兴趣在于研究感兴趣区域的实际灰度值，则可使用图</a:t>
            </a:r>
            <a:r>
              <a:rPr lang="en-US" altLang="zh-CN" dirty="0"/>
              <a:t>3.11(b)</a:t>
            </a:r>
            <a:r>
              <a:rPr lang="zh-CN" altLang="en-US" dirty="0"/>
              <a:t>中的变换图</a:t>
            </a:r>
            <a:r>
              <a:rPr lang="en-US" altLang="zh-CN" dirty="0"/>
              <a:t>3.12(c)</a:t>
            </a:r>
            <a:r>
              <a:rPr lang="zh-CN" altLang="en-US" dirty="0"/>
              <a:t>显示了使用这样一个变换后的结果</a:t>
            </a:r>
            <a:r>
              <a:rPr lang="en-US" altLang="zh-CN" dirty="0"/>
              <a:t>:</a:t>
            </a:r>
            <a:r>
              <a:rPr lang="zh-CN" altLang="en-US" dirty="0"/>
              <a:t>近似等于平均灰度的中等灰度区域的灰度范围设置为黑色而其他灰度保持不变。这里，我们看到主血管和肾脏区域部分的灰度级色调保持不变。当我们的兴趣是测量系列图像中造影剂随时间流动时，这种结果是很有用的。</a:t>
            </a:r>
          </a:p>
        </p:txBody>
      </p:sp>
      <p:sp>
        <p:nvSpPr>
          <p:cNvPr id="4" name="页脚占位符 3"/>
          <p:cNvSpPr>
            <a:spLocks noGrp="1"/>
          </p:cNvSpPr>
          <p:nvPr>
            <p:ph type="ftr" sz="quarter" idx="4"/>
          </p:nvPr>
        </p:nvSpPr>
        <p:spPr/>
        <p:txBody>
          <a:bodyPr/>
          <a:lstStyle/>
          <a:p>
            <a:pPr>
              <a:defRPr/>
            </a:pPr>
            <a:endParaRPr lang="en-US" altLang="zh-CN"/>
          </a:p>
        </p:txBody>
      </p:sp>
      <p:sp>
        <p:nvSpPr>
          <p:cNvPr id="5" name="灯片编号占位符 4"/>
          <p:cNvSpPr>
            <a:spLocks noGrp="1"/>
          </p:cNvSpPr>
          <p:nvPr>
            <p:ph type="sldNum" sz="quarter" idx="5"/>
          </p:nvPr>
        </p:nvSpPr>
        <p:spPr/>
        <p:txBody>
          <a:bodyPr/>
          <a:lstStyle/>
          <a:p>
            <a:pPr>
              <a:defRPr/>
            </a:pPr>
            <a:fld id="{04EB2441-6E1B-0C46-A084-F5418D440600}" type="slidenum">
              <a:rPr lang="en-US" altLang="zh-CN" smtClean="0"/>
              <a:pPr>
                <a:defRPr/>
              </a:pPr>
              <a:t>14</a:t>
            </a:fld>
            <a:endParaRPr lang="en-US" altLang="zh-CN"/>
          </a:p>
        </p:txBody>
      </p:sp>
    </p:spTree>
    <p:extLst>
      <p:ext uri="{BB962C8B-B14F-4D97-AF65-F5344CB8AC3E}">
        <p14:creationId xmlns:p14="http://schemas.microsoft.com/office/powerpoint/2010/main" val="2247480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两节讨论的直方图处理方法是全局性的，在某种意义上，像素被基于整幅图像的灰度分布的变换函数修改。虽然这种全局方法适用于整个图像的增强，但存在这样的情况，增强图像中小区域的细节也是需要的。这些区域中，一些像素的影响在全局变换的计算中可能被忽略了，因为全局变换没有必要保证期望的局部增强。解决方法是以图像中每个像素的邻域中的灰度分布为基础设计变换函数。 </a:t>
            </a:r>
            <a:endParaRPr lang="en-US" altLang="zh-CN" dirty="0"/>
          </a:p>
          <a:p>
            <a:r>
              <a:rPr lang="zh-CN" altLang="en-US" dirty="0"/>
              <a:t>该过程是定义一个邻域，并把该区域的中心从一个像素移至另一个像素。在每个位置</a:t>
            </a:r>
            <a:r>
              <a:rPr lang="en-US" altLang="zh-CN" dirty="0"/>
              <a:t>,</a:t>
            </a:r>
            <a:r>
              <a:rPr lang="zh-CN" altLang="en-US" dirty="0"/>
              <a:t>计算邻域中的点的直方图</a:t>
            </a:r>
            <a:r>
              <a:rPr lang="en-US" altLang="zh-CN" dirty="0"/>
              <a:t>,</a:t>
            </a:r>
            <a:r>
              <a:rPr lang="zh-CN" altLang="en-US" dirty="0"/>
              <a:t>并且得到的不是直方图均衡化，就是规定化变换函数。这个函数最终用于映射邻域中心像素的灰度。然后，邻域的中心被移至一个相邻像素位置，并重复该过程。当</a:t>
            </a:r>
          </a:p>
        </p:txBody>
      </p:sp>
      <p:sp>
        <p:nvSpPr>
          <p:cNvPr id="4" name="页脚占位符 3"/>
          <p:cNvSpPr>
            <a:spLocks noGrp="1"/>
          </p:cNvSpPr>
          <p:nvPr>
            <p:ph type="ftr" sz="quarter" idx="4"/>
          </p:nvPr>
        </p:nvSpPr>
        <p:spPr/>
        <p:txBody>
          <a:bodyPr/>
          <a:lstStyle/>
          <a:p>
            <a:pPr>
              <a:defRPr/>
            </a:pPr>
            <a:endParaRPr lang="en-US" altLang="zh-CN"/>
          </a:p>
        </p:txBody>
      </p:sp>
      <p:sp>
        <p:nvSpPr>
          <p:cNvPr id="5" name="灯片编号占位符 4"/>
          <p:cNvSpPr>
            <a:spLocks noGrp="1"/>
          </p:cNvSpPr>
          <p:nvPr>
            <p:ph type="sldNum" sz="quarter" idx="5"/>
          </p:nvPr>
        </p:nvSpPr>
        <p:spPr/>
        <p:txBody>
          <a:bodyPr/>
          <a:lstStyle/>
          <a:p>
            <a:pPr>
              <a:defRPr/>
            </a:pPr>
            <a:fld id="{04EB2441-6E1B-0C46-A084-F5418D440600}" type="slidenum">
              <a:rPr lang="en-US" altLang="zh-CN" smtClean="0"/>
              <a:pPr>
                <a:defRPr/>
              </a:pPr>
              <a:t>29</a:t>
            </a:fld>
            <a:endParaRPr lang="en-US" altLang="zh-CN"/>
          </a:p>
        </p:txBody>
      </p:sp>
    </p:spTree>
    <p:extLst>
      <p:ext uri="{BB962C8B-B14F-4D97-AF65-F5344CB8AC3E}">
        <p14:creationId xmlns:p14="http://schemas.microsoft.com/office/powerpoint/2010/main" val="36648809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3399FF"/>
          </a:solidFill>
          <a:ln w="9525">
            <a:solidFill>
              <a:srgbClr val="3399FF"/>
            </a:solidFill>
            <a:round/>
          </a:ln>
        </p:spPr>
        <p:txBody>
          <a:bodyPr/>
          <a:lstStyle/>
          <a:p>
            <a:endParaRPr lang="zh-CN" altLang="en-US"/>
          </a:p>
        </p:txBody>
      </p:sp>
      <p:sp>
        <p:nvSpPr>
          <p:cNvPr id="701442" name="Rectangle 2"/>
          <p:cNvSpPr>
            <a:spLocks noGrp="1" noChangeArrowheads="1"/>
          </p:cNvSpPr>
          <p:nvPr>
            <p:ph type="ctrTitle"/>
          </p:nvPr>
        </p:nvSpPr>
        <p:spPr>
          <a:xfrm>
            <a:off x="685800" y="990600"/>
            <a:ext cx="7772400" cy="1371600"/>
          </a:xfrm>
        </p:spPr>
        <p:txBody>
          <a:bodyPr/>
          <a:lstStyle>
            <a:lvl1pPr algn="ctr">
              <a:defRPr sz="4000"/>
            </a:lvl1pPr>
          </a:lstStyle>
          <a:p>
            <a:pPr lvl="0"/>
            <a:r>
              <a:rPr lang="zh-CN" altLang="en-US" noProof="0" dirty="0"/>
              <a:t>单击此处编辑母版标题样式</a:t>
            </a:r>
          </a:p>
        </p:txBody>
      </p:sp>
      <p:sp>
        <p:nvSpPr>
          <p:cNvPr id="701443" name="Rectangle 3"/>
          <p:cNvSpPr>
            <a:spLocks noGrp="1" noChangeArrowheads="1"/>
          </p:cNvSpPr>
          <p:nvPr>
            <p:ph type="subTitle" idx="1"/>
          </p:nvPr>
        </p:nvSpPr>
        <p:spPr>
          <a:xfrm>
            <a:off x="1447800" y="3501008"/>
            <a:ext cx="7010400" cy="1600200"/>
          </a:xfrm>
        </p:spPr>
        <p:txBody>
          <a:bodyPr/>
          <a:lstStyle>
            <a:lvl1pPr marL="0" indent="0" algn="l">
              <a:buFont typeface="Wingdings" panose="05000000000000000000" charset="0"/>
              <a:buNone/>
              <a:defRPr sz="2200"/>
            </a:lvl1pPr>
          </a:lstStyle>
          <a:p>
            <a:pPr lvl="0"/>
            <a:r>
              <a:rPr lang="zh-CN" altLang="en-US" noProof="0" dirty="0"/>
              <a:t>单击此处编辑母版副标题样式</a:t>
            </a:r>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68529" y="15670"/>
            <a:ext cx="938915" cy="965405"/>
          </a:xfrm>
          <a:prstGeom prst="rect">
            <a:avLst/>
          </a:prstGeom>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标题幻灯片_空白">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701442" name="Rectangle 2"/>
          <p:cNvSpPr>
            <a:spLocks noGrp="1" noChangeArrowheads="1"/>
          </p:cNvSpPr>
          <p:nvPr>
            <p:ph type="ctrTitle"/>
          </p:nvPr>
        </p:nvSpPr>
        <p:spPr>
          <a:xfrm>
            <a:off x="685800" y="990600"/>
            <a:ext cx="7772400" cy="1371600"/>
          </a:xfrm>
        </p:spPr>
        <p:txBody>
          <a:bodyPr/>
          <a:lstStyle>
            <a:lvl1pPr algn="ctr">
              <a:defRPr sz="4000"/>
            </a:lvl1pPr>
          </a:lstStyle>
          <a:p>
            <a:pPr lvl="0"/>
            <a:r>
              <a:rPr lang="zh-CN" altLang="en-US" noProof="0" dirty="0"/>
              <a:t>单击此处编辑母版标题样式</a:t>
            </a:r>
          </a:p>
        </p:txBody>
      </p:sp>
      <p:sp>
        <p:nvSpPr>
          <p:cNvPr id="701443" name="Rectangle 3"/>
          <p:cNvSpPr>
            <a:spLocks noGrp="1" noChangeArrowheads="1"/>
          </p:cNvSpPr>
          <p:nvPr>
            <p:ph type="subTitle" idx="1"/>
          </p:nvPr>
        </p:nvSpPr>
        <p:spPr>
          <a:xfrm>
            <a:off x="1066800" y="3429000"/>
            <a:ext cx="7010400" cy="1600200"/>
          </a:xfrm>
        </p:spPr>
        <p:txBody>
          <a:bodyPr/>
          <a:lstStyle>
            <a:lvl1pPr marL="0" indent="0" algn="ctr">
              <a:buFont typeface="Wingdings" panose="05000000000000000000" charset="0"/>
              <a:buNone/>
              <a:defRPr sz="2200"/>
            </a:lvl1pPr>
          </a:lstStyle>
          <a:p>
            <a:pPr lvl="0"/>
            <a:r>
              <a:rPr lang="zh-CN" altLang="en-US" noProof="0" dirty="0"/>
              <a:t>单击此处编辑母版副标题样式</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zh-CN" altLang="en-US"/>
              <a:t>单击此处编辑母版标题样式</a:t>
            </a:r>
          </a:p>
        </p:txBody>
      </p:sp>
      <p:sp>
        <p:nvSpPr>
          <p:cNvPr id="3" name="内容占位符 2"/>
          <p:cNvSpPr>
            <a:spLocks noGrp="1"/>
          </p:cNvSpPr>
          <p:nvPr>
            <p:ph idx="1"/>
          </p:nvPr>
        </p:nvSpPr>
        <p:spPr/>
        <p:txBody>
          <a:bodyPr/>
          <a:lstStyle>
            <a:lvl1pPr>
              <a:defRPr lang="zh-CN" altLang="en-US" dirty="0" smtClean="0"/>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dirty="0"/>
          </a:p>
        </p:txBody>
      </p:sp>
      <p:sp>
        <p:nvSpPr>
          <p:cNvPr id="6" name="Rectangle 6"/>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lstStyle>
            <a:lvl1pPr algn="r">
              <a:spcBef>
                <a:spcPct val="0"/>
              </a:spcBef>
              <a:buClrTx/>
              <a:buFontTx/>
              <a:buNone/>
              <a:defRPr sz="1200">
                <a:latin typeface="Verdana" panose="020B0604030504040204" charset="0"/>
                <a:ea typeface="宋体" panose="02010600030101010101" pitchFamily="2" charset="-122"/>
                <a:cs typeface="宋体" panose="02010600030101010101" pitchFamily="2" charset="-122"/>
              </a:defRPr>
            </a:lvl1pPr>
          </a:lstStyle>
          <a:p>
            <a:pPr>
              <a:defRPr/>
            </a:pPr>
            <a:fld id="{BE59E6E9-16BB-4D46-A8D6-97CC594B8C57}" type="slidenum">
              <a:rPr lang="en-US" altLang="zh-CN"/>
              <a:pPr>
                <a:defRPr/>
              </a:pPr>
              <a:t>‹#›</a:t>
            </a:fld>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p:cNvSpPr>
            <a:spLocks noGrp="1"/>
          </p:cNvSpPr>
          <p:nvPr>
            <p:ph sz="half" idx="2"/>
          </p:nvPr>
        </p:nvSpPr>
        <p:spPr>
          <a:xfrm>
            <a:off x="46434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6"/>
          <p:cNvSpPr>
            <a:spLocks noGrp="1" noChangeArrowheads="1"/>
          </p:cNvSpPr>
          <p:nvPr>
            <p:ph type="dt" sz="half" idx="10"/>
          </p:nvPr>
        </p:nvSpPr>
        <p:spPr/>
        <p:txBody>
          <a:bodyPr/>
          <a:lstStyle>
            <a:lvl1pPr>
              <a:defRPr/>
            </a:lvl1pPr>
          </a:lstStyle>
          <a:p>
            <a:pPr>
              <a:defRPr/>
            </a:pPr>
            <a:endParaRPr lang="en-US" altLang="zh-CN"/>
          </a:p>
        </p:txBody>
      </p:sp>
      <p:sp>
        <p:nvSpPr>
          <p:cNvPr id="8" name="Rectangle 7"/>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dt" sz="half" idx="10"/>
          </p:nvPr>
        </p:nvSpPr>
        <p:spPr/>
        <p:txBody>
          <a:bodyPr/>
          <a:lstStyle>
            <a:lvl1pPr>
              <a:defRPr/>
            </a:lvl1pPr>
          </a:lstStyle>
          <a:p>
            <a:pPr>
              <a:defRPr/>
            </a:pPr>
            <a:endParaRPr lang="en-US" altLang="zh-CN"/>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lstStyle>
            <a:lvl1pPr algn="r">
              <a:spcBef>
                <a:spcPct val="0"/>
              </a:spcBef>
              <a:buClrTx/>
              <a:buFontTx/>
              <a:buNone/>
              <a:defRPr sz="1200">
                <a:latin typeface="Verdana" panose="020B0604030504040204" charset="0"/>
                <a:ea typeface="宋体" panose="02010600030101010101" pitchFamily="2" charset="-122"/>
                <a:cs typeface="宋体" panose="02010600030101010101" pitchFamily="2" charset="-122"/>
              </a:defRPr>
            </a:lvl1pPr>
          </a:lstStyle>
          <a:p>
            <a:pPr>
              <a:defRPr/>
            </a:pPr>
            <a:fld id="{BE59E6E9-16BB-4D46-A8D6-97CC594B8C57}" type="slidenum">
              <a:rPr lang="en-US" altLang="zh-CN"/>
              <a:pPr>
                <a:defRPr/>
              </a:pPr>
              <a:t>‹#›</a:t>
            </a:fld>
            <a:endParaRPr lang="en-US" alt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endParaRPr lang="en-US" altLang="zh-CN"/>
          </a:p>
        </p:txBody>
      </p:sp>
      <p:sp>
        <p:nvSpPr>
          <p:cNvPr id="3" name="Rectangle 7"/>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lstStyle>
            <a:lvl1pPr algn="r">
              <a:spcBef>
                <a:spcPct val="0"/>
              </a:spcBef>
              <a:buClrTx/>
              <a:buFontTx/>
              <a:buNone/>
              <a:defRPr sz="1200">
                <a:latin typeface="Verdana" panose="020B0604030504040204" charset="0"/>
                <a:ea typeface="宋体" panose="02010600030101010101" pitchFamily="2" charset="-122"/>
                <a:cs typeface="宋体" panose="02010600030101010101" pitchFamily="2" charset="-122"/>
              </a:defRPr>
            </a:lvl1pPr>
          </a:lstStyle>
          <a:p>
            <a:pPr>
              <a:defRPr/>
            </a:pPr>
            <a:fld id="{BE59E6E9-16BB-4D46-A8D6-97CC594B8C57}" type="slidenum">
              <a:rPr lang="en-US" altLang="zh-CN"/>
              <a:pPr>
                <a:defRPr/>
              </a:pPr>
              <a:t>‹#›</a:t>
            </a:fld>
            <a:endParaRPr lang="en-US" alt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本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6003925"/>
          </a:xfr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566738" y="304800"/>
            <a:ext cx="5854700" cy="60039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67627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341438"/>
            <a:ext cx="3924300" cy="49672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3438" y="1341438"/>
            <a:ext cx="3924300" cy="49672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8168529" y="15670"/>
            <a:ext cx="938915" cy="965405"/>
          </a:xfrm>
          <a:prstGeom prst="rect">
            <a:avLst/>
          </a:prstGeom>
        </p:spPr>
      </p:pic>
      <p:sp>
        <p:nvSpPr>
          <p:cNvPr id="700418" name="Rectangle 2"/>
          <p:cNvSpPr>
            <a:spLocks noGrp="1" noChangeArrowheads="1"/>
          </p:cNvSpPr>
          <p:nvPr>
            <p:ph type="title"/>
          </p:nvPr>
        </p:nvSpPr>
        <p:spPr bwMode="auto">
          <a:xfrm>
            <a:off x="574675" y="304800"/>
            <a:ext cx="80010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b" anchorCtr="0" compatLnSpc="1"/>
          <a:lstStyle/>
          <a:p>
            <a:pPr lvl="0"/>
            <a:r>
              <a:rPr lang="zh-CN" altLang="en-US"/>
              <a:t>单击此处编辑母版标题样式</a:t>
            </a:r>
          </a:p>
        </p:txBody>
      </p:sp>
      <p:sp>
        <p:nvSpPr>
          <p:cNvPr id="700419" name="Rectangle 3"/>
          <p:cNvSpPr>
            <a:spLocks noGrp="1" noChangeArrowheads="1"/>
          </p:cNvSpPr>
          <p:nvPr>
            <p:ph type="body" idx="1"/>
          </p:nvPr>
        </p:nvSpPr>
        <p:spPr bwMode="auto">
          <a:xfrm>
            <a:off x="566738" y="1341438"/>
            <a:ext cx="8001000"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p>
        </p:txBody>
      </p:sp>
      <p:sp>
        <p:nvSpPr>
          <p:cNvPr id="1028" name="AutoShape 4"/>
          <p:cNvSpPr>
            <a:spLocks noChangeArrowheads="1"/>
          </p:cNvSpPr>
          <p:nvPr/>
        </p:nvSpPr>
        <p:spPr bwMode="auto">
          <a:xfrm>
            <a:off x="566738" y="1119189"/>
            <a:ext cx="7958137" cy="109537"/>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3399FF"/>
          </a:solidFill>
          <a:ln w="9525">
            <a:solidFill>
              <a:srgbClr val="3399FF"/>
            </a:solidFill>
            <a:round/>
          </a:ln>
        </p:spPr>
        <p:txBody>
          <a:bodyPr/>
          <a:lstStyle/>
          <a:p>
            <a:endParaRPr lang="zh-CN" altLang="en-US"/>
          </a:p>
        </p:txBody>
      </p:sp>
      <p:sp>
        <p:nvSpPr>
          <p:cNvPr id="700422" name="Rectangle 6"/>
          <p:cNvSpPr>
            <a:spLocks noGrp="1" noChangeArrowheads="1"/>
          </p:cNvSpPr>
          <p:nvPr>
            <p:ph type="dt" sz="half" idx="2"/>
          </p:nvPr>
        </p:nvSpPr>
        <p:spPr bwMode="auto">
          <a:xfrm>
            <a:off x="609600" y="6245225"/>
            <a:ext cx="198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lstStyle>
            <a:lvl1pPr>
              <a:spcBef>
                <a:spcPct val="0"/>
              </a:spcBef>
              <a:buClrTx/>
              <a:buFontTx/>
              <a:buNone/>
              <a:defRPr sz="1200">
                <a:latin typeface="Verdana" panose="020B0604030504040204" charset="0"/>
                <a:ea typeface="宋体" panose="02010600030101010101" pitchFamily="2" charset="-122"/>
                <a:cs typeface="宋体" panose="02010600030101010101" pitchFamily="2" charset="-122"/>
              </a:defRPr>
            </a:lvl1pPr>
          </a:lstStyle>
          <a:p>
            <a:pPr>
              <a:defRPr/>
            </a:pPr>
            <a:endParaRPr lang="en-US" altLang="zh-CN"/>
          </a:p>
        </p:txBody>
      </p:sp>
      <p:sp>
        <p:nvSpPr>
          <p:cNvPr id="700423" name="Rectangle 7"/>
          <p:cNvSpPr>
            <a:spLocks noGrp="1" noChangeArrowheads="1"/>
          </p:cNvSpPr>
          <p:nvPr>
            <p:ph type="ftr" sz="quarter" idx="3"/>
          </p:nvPr>
        </p:nvSpPr>
        <p:spPr bwMode="auto">
          <a:xfrm>
            <a:off x="7191375" y="6624638"/>
            <a:ext cx="1952625" cy="23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0" numCol="1" anchor="t" anchorCtr="0" compatLnSpc="1"/>
          <a:lstStyle>
            <a:lvl1pPr algn="r">
              <a:spcBef>
                <a:spcPct val="0"/>
              </a:spcBef>
              <a:buClrTx/>
              <a:buFontTx/>
              <a:buNone/>
              <a:defRPr sz="1200">
                <a:latin typeface="Verdana" panose="020B0604030504040204" charset="0"/>
                <a:ea typeface="宋体" panose="02010600030101010101" pitchFamily="2" charset="-122"/>
                <a:cs typeface="宋体" panose="02010600030101010101" pitchFamily="2" charset="-122"/>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hf hdr="0" ftr="0" dt="0"/>
  <p:txStyles>
    <p:titleStyle>
      <a:lvl1pPr algn="l" rtl="0" fontAlgn="base">
        <a:spcBef>
          <a:spcPct val="0"/>
        </a:spcBef>
        <a:spcAft>
          <a:spcPct val="0"/>
        </a:spcAft>
        <a:defRPr kumimoji="1" sz="3800">
          <a:solidFill>
            <a:schemeClr val="tx2"/>
          </a:solidFill>
          <a:latin typeface="+mj-lt"/>
          <a:ea typeface="+mj-ea"/>
          <a:cs typeface="+mj-cs"/>
        </a:defRPr>
      </a:lvl1pPr>
      <a:lvl2pPr algn="l" rtl="0" fontAlgn="base">
        <a:spcBef>
          <a:spcPct val="0"/>
        </a:spcBef>
        <a:spcAft>
          <a:spcPct val="0"/>
        </a:spcAft>
        <a:defRPr kumimoji="1" sz="3800">
          <a:solidFill>
            <a:schemeClr val="tx2"/>
          </a:solidFill>
          <a:latin typeface="Times New Roman" panose="02020603050405020304" charset="0"/>
          <a:ea typeface="黑体" panose="02010609060101010101" charset="-122"/>
          <a:cs typeface="黑体" panose="02010609060101010101" charset="-122"/>
        </a:defRPr>
      </a:lvl2pPr>
      <a:lvl3pPr algn="l" rtl="0" fontAlgn="base">
        <a:spcBef>
          <a:spcPct val="0"/>
        </a:spcBef>
        <a:spcAft>
          <a:spcPct val="0"/>
        </a:spcAft>
        <a:defRPr kumimoji="1" sz="3800">
          <a:solidFill>
            <a:schemeClr val="tx2"/>
          </a:solidFill>
          <a:latin typeface="Times New Roman" panose="02020603050405020304" charset="0"/>
          <a:ea typeface="黑体" panose="02010609060101010101" charset="-122"/>
          <a:cs typeface="黑体" panose="02010609060101010101" charset="-122"/>
        </a:defRPr>
      </a:lvl3pPr>
      <a:lvl4pPr algn="l" rtl="0" fontAlgn="base">
        <a:spcBef>
          <a:spcPct val="0"/>
        </a:spcBef>
        <a:spcAft>
          <a:spcPct val="0"/>
        </a:spcAft>
        <a:defRPr kumimoji="1" sz="3800">
          <a:solidFill>
            <a:schemeClr val="tx2"/>
          </a:solidFill>
          <a:latin typeface="Times New Roman" panose="02020603050405020304" charset="0"/>
          <a:ea typeface="黑体" panose="02010609060101010101" charset="-122"/>
          <a:cs typeface="黑体" panose="02010609060101010101" charset="-122"/>
        </a:defRPr>
      </a:lvl4pPr>
      <a:lvl5pPr algn="l" rtl="0" fontAlgn="base">
        <a:spcBef>
          <a:spcPct val="0"/>
        </a:spcBef>
        <a:spcAft>
          <a:spcPct val="0"/>
        </a:spcAft>
        <a:defRPr kumimoji="1" sz="3800">
          <a:solidFill>
            <a:schemeClr val="tx2"/>
          </a:solidFill>
          <a:latin typeface="Times New Roman" panose="02020603050405020304" charset="0"/>
          <a:ea typeface="黑体" panose="02010609060101010101" charset="-122"/>
          <a:cs typeface="黑体" panose="02010609060101010101" charset="-122"/>
        </a:defRPr>
      </a:lvl5pPr>
      <a:lvl6pPr marL="457200" algn="l" rtl="0" fontAlgn="base">
        <a:spcBef>
          <a:spcPct val="0"/>
        </a:spcBef>
        <a:spcAft>
          <a:spcPct val="0"/>
        </a:spcAft>
        <a:defRPr sz="3800">
          <a:solidFill>
            <a:schemeClr val="tx2"/>
          </a:solidFill>
          <a:latin typeface="Times New Roman" panose="02020603050405020304" charset="0"/>
          <a:ea typeface="黑体" panose="02010609060101010101" charset="-122"/>
          <a:cs typeface="黑体" panose="02010609060101010101" charset="-122"/>
        </a:defRPr>
      </a:lvl6pPr>
      <a:lvl7pPr marL="914400" algn="l" rtl="0" fontAlgn="base">
        <a:spcBef>
          <a:spcPct val="0"/>
        </a:spcBef>
        <a:spcAft>
          <a:spcPct val="0"/>
        </a:spcAft>
        <a:defRPr sz="3800">
          <a:solidFill>
            <a:schemeClr val="tx2"/>
          </a:solidFill>
          <a:latin typeface="Times New Roman" panose="02020603050405020304" charset="0"/>
          <a:ea typeface="黑体" panose="02010609060101010101" charset="-122"/>
          <a:cs typeface="黑体" panose="02010609060101010101" charset="-122"/>
        </a:defRPr>
      </a:lvl7pPr>
      <a:lvl8pPr marL="1371600" algn="l" rtl="0" fontAlgn="base">
        <a:spcBef>
          <a:spcPct val="0"/>
        </a:spcBef>
        <a:spcAft>
          <a:spcPct val="0"/>
        </a:spcAft>
        <a:defRPr sz="3800">
          <a:solidFill>
            <a:schemeClr val="tx2"/>
          </a:solidFill>
          <a:latin typeface="Times New Roman" panose="02020603050405020304" charset="0"/>
          <a:ea typeface="黑体" panose="02010609060101010101" charset="-122"/>
          <a:cs typeface="黑体" panose="02010609060101010101" charset="-122"/>
        </a:defRPr>
      </a:lvl8pPr>
      <a:lvl9pPr marL="1828800" algn="l" rtl="0" fontAlgn="base">
        <a:spcBef>
          <a:spcPct val="0"/>
        </a:spcBef>
        <a:spcAft>
          <a:spcPct val="0"/>
        </a:spcAft>
        <a:defRPr sz="3800">
          <a:solidFill>
            <a:schemeClr val="tx2"/>
          </a:solidFill>
          <a:latin typeface="Times New Roman" panose="02020603050405020304" charset="0"/>
          <a:ea typeface="黑体" panose="02010609060101010101" charset="-122"/>
          <a:cs typeface="黑体" panose="02010609060101010101" charset="-122"/>
        </a:defRPr>
      </a:lvl9pPr>
    </p:titleStyle>
    <p:bodyStyle>
      <a:lvl1pPr marL="469900" indent="-469900" algn="l" rtl="0" fontAlgn="base">
        <a:spcBef>
          <a:spcPct val="20000"/>
        </a:spcBef>
        <a:spcAft>
          <a:spcPct val="0"/>
        </a:spcAft>
        <a:buClr>
          <a:srgbClr val="3399FF"/>
        </a:buClr>
        <a:buFont typeface="Wingdings" panose="05000000000000000000" charset="0"/>
        <a:buChar char="o"/>
        <a:defRPr kumimoji="1" sz="2400">
          <a:solidFill>
            <a:schemeClr val="tx1"/>
          </a:solidFill>
          <a:latin typeface="+mn-lt"/>
          <a:ea typeface="+mn-ea"/>
          <a:cs typeface="+mn-cs"/>
        </a:defRPr>
      </a:lvl1pPr>
      <a:lvl2pPr marL="908050" indent="-436880" algn="l" rtl="0" fontAlgn="base">
        <a:spcBef>
          <a:spcPct val="20000"/>
        </a:spcBef>
        <a:spcAft>
          <a:spcPct val="0"/>
        </a:spcAft>
        <a:buClr>
          <a:srgbClr val="3399FF"/>
        </a:buClr>
        <a:buFont typeface="Wingdings" panose="05000000000000000000" charset="0"/>
        <a:buChar char="n"/>
        <a:defRPr kumimoji="1" sz="2000">
          <a:solidFill>
            <a:schemeClr val="tx1"/>
          </a:solidFill>
          <a:latin typeface="+mn-lt"/>
          <a:ea typeface="+mn-ea"/>
          <a:cs typeface="+mn-cs"/>
        </a:defRPr>
      </a:lvl2pPr>
      <a:lvl3pPr marL="1304925" indent="-395605" algn="l" rtl="0" fontAlgn="base">
        <a:spcBef>
          <a:spcPct val="20000"/>
        </a:spcBef>
        <a:spcAft>
          <a:spcPct val="0"/>
        </a:spcAft>
        <a:buClr>
          <a:srgbClr val="3399FF"/>
        </a:buClr>
        <a:buFont typeface="Wingdings" panose="05000000000000000000" pitchFamily="2" charset="2"/>
        <a:buChar char="ü"/>
        <a:defRPr kumimoji="1">
          <a:solidFill>
            <a:schemeClr val="tx1"/>
          </a:solidFill>
          <a:latin typeface="+mn-lt"/>
          <a:ea typeface="+mn-ea"/>
          <a:cs typeface="+mn-cs"/>
        </a:defRPr>
      </a:lvl3pPr>
      <a:lvl4pPr marL="1694180" indent="-387350" algn="l" rtl="0" fontAlgn="base">
        <a:spcBef>
          <a:spcPct val="20000"/>
        </a:spcBef>
        <a:spcAft>
          <a:spcPct val="0"/>
        </a:spcAft>
        <a:buClr>
          <a:srgbClr val="3399FF"/>
        </a:buClr>
        <a:buFont typeface="Wingdings" panose="05000000000000000000" pitchFamily="2" charset="2"/>
        <a:buChar char="Ø"/>
        <a:defRPr kumimoji="1" sz="1600">
          <a:solidFill>
            <a:schemeClr val="tx1"/>
          </a:solidFill>
          <a:latin typeface="+mn-lt"/>
          <a:ea typeface="+mn-ea"/>
          <a:cs typeface="+mn-cs"/>
        </a:defRPr>
      </a:lvl4pPr>
      <a:lvl5pPr marL="2094230" indent="-398780" algn="l" rtl="0" fontAlgn="base">
        <a:spcBef>
          <a:spcPct val="20000"/>
        </a:spcBef>
        <a:spcAft>
          <a:spcPct val="0"/>
        </a:spcAft>
        <a:buClr>
          <a:srgbClr val="3399FF"/>
        </a:buClr>
        <a:buFont typeface="Wingdings" panose="05000000000000000000" pitchFamily="2" charset="2"/>
        <a:buChar char="l"/>
        <a:defRPr kumimoji="1" sz="1600">
          <a:solidFill>
            <a:schemeClr val="tx1"/>
          </a:solidFill>
          <a:latin typeface="+mn-lt"/>
          <a:ea typeface="+mn-ea"/>
          <a:cs typeface="+mn-cs"/>
        </a:defRPr>
      </a:lvl5pPr>
      <a:lvl6pPr marL="25514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6pPr>
      <a:lvl7pPr marL="30086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7pPr>
      <a:lvl8pPr marL="34658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8pPr>
      <a:lvl9pPr marL="39230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zhwg@ustc.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liuws@mail.ustc.edu.c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3.xml"/><Relationship Id="rId7"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9.png"/><Relationship Id="rId5" Type="http://schemas.openxmlformats.org/officeDocument/2006/relationships/image" Target="../media/image8.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9.emf"/></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29.emf"/><Relationship Id="rId2" Type="http://schemas.openxmlformats.org/officeDocument/2006/relationships/image" Target="../media/image28.wmf"/><Relationship Id="rId1" Type="http://schemas.openxmlformats.org/officeDocument/2006/relationships/slideLayout" Target="../slideLayouts/slideLayout7.xml"/><Relationship Id="rId6" Type="http://schemas.openxmlformats.org/officeDocument/2006/relationships/image" Target="../media/image330.png"/><Relationship Id="rId5" Type="http://schemas.openxmlformats.org/officeDocument/2006/relationships/image" Target="../media/image321.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4" Type="http://schemas.openxmlformats.org/officeDocument/2006/relationships/image" Target="../media/image32.wmf"/></Relationships>
</file>

<file path=ppt/slides/_rels/slide24.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10.png"/><Relationship Id="rId1" Type="http://schemas.openxmlformats.org/officeDocument/2006/relationships/slideLayout" Target="../slideLayouts/slideLayout3.xml"/><Relationship Id="rId4" Type="http://schemas.openxmlformats.org/officeDocument/2006/relationships/image" Target="../media/image34.wmf"/></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wmf"/><Relationship Id="rId1" Type="http://schemas.openxmlformats.org/officeDocument/2006/relationships/slideLayout" Target="../slideLayouts/slideLayout7.xml"/><Relationship Id="rId5" Type="http://schemas.openxmlformats.org/officeDocument/2006/relationships/image" Target="../media/image420.png"/><Relationship Id="rId4" Type="http://schemas.openxmlformats.org/officeDocument/2006/relationships/image" Target="../media/image410.png"/></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1.png"/><Relationship Id="rId1" Type="http://schemas.openxmlformats.org/officeDocument/2006/relationships/slideLayout" Target="../slideLayouts/slideLayout3.xml"/><Relationship Id="rId4" Type="http://schemas.openxmlformats.org/officeDocument/2006/relationships/image" Target="../media/image4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4.w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9.wmf"/><Relationship Id="rId5" Type="http://schemas.openxmlformats.org/officeDocument/2006/relationships/oleObject" Target="../embeddings/oleObject3.bin"/><Relationship Id="rId4" Type="http://schemas.openxmlformats.org/officeDocument/2006/relationships/image" Target="../media/image48.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1.w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57.wmf"/><Relationship Id="rId5" Type="http://schemas.openxmlformats.org/officeDocument/2006/relationships/oleObject" Target="../embeddings/oleObject5.bin"/><Relationship Id="rId4" Type="http://schemas.openxmlformats.org/officeDocument/2006/relationships/image" Target="../media/image56.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defRPr/>
            </a:pPr>
            <a:r>
              <a:rPr lang="zh-CN" altLang="en-US" sz="4800" b="1" dirty="0"/>
              <a:t>数字图象处理</a:t>
            </a:r>
          </a:p>
        </p:txBody>
      </p:sp>
      <p:sp>
        <p:nvSpPr>
          <p:cNvPr id="4" name="矩形 3"/>
          <p:cNvSpPr/>
          <p:nvPr/>
        </p:nvSpPr>
        <p:spPr>
          <a:xfrm>
            <a:off x="-508" y="6453336"/>
            <a:ext cx="3672800" cy="369332"/>
          </a:xfrm>
          <a:prstGeom prst="rect">
            <a:avLst/>
          </a:prstGeom>
        </p:spPr>
        <p:txBody>
          <a:bodyPr wrap="none">
            <a:spAutoFit/>
          </a:bodyPr>
          <a:lstStyle/>
          <a:p>
            <a:pPr>
              <a:buNone/>
            </a:pPr>
            <a:r>
              <a:rPr lang="zh-CN" altLang="en-US" dirty="0"/>
              <a:t>课件下载：https://ustc-dip.github.io/</a:t>
            </a:r>
          </a:p>
        </p:txBody>
      </p:sp>
      <p:sp>
        <p:nvSpPr>
          <p:cNvPr id="8" name="Rectangle 3">
            <a:extLst>
              <a:ext uri="{FF2B5EF4-FFF2-40B4-BE49-F238E27FC236}">
                <a16:creationId xmlns:a16="http://schemas.microsoft.com/office/drawing/2014/main" id="{167A985F-CC3F-4BCE-B452-5D8A70103DC0}"/>
              </a:ext>
            </a:extLst>
          </p:cNvPr>
          <p:cNvSpPr>
            <a:spLocks noGrp="1" noChangeArrowheads="1"/>
          </p:cNvSpPr>
          <p:nvPr>
            <p:ph type="subTitle" idx="1"/>
          </p:nvPr>
        </p:nvSpPr>
        <p:spPr>
          <a:xfrm>
            <a:off x="1066800" y="2528900"/>
            <a:ext cx="7010400" cy="3816350"/>
          </a:xfrm>
        </p:spPr>
        <p:txBody>
          <a:bodyPr/>
          <a:lstStyle/>
          <a:p>
            <a:pPr algn="ctr" eaLnBrk="1" hangingPunct="1">
              <a:defRPr/>
            </a:pPr>
            <a:r>
              <a:rPr lang="zh-CN" altLang="en-US" sz="2800" dirty="0"/>
              <a:t>中国科学技术大学</a:t>
            </a:r>
          </a:p>
          <a:p>
            <a:pPr algn="ctr" eaLnBrk="1" hangingPunct="1">
              <a:defRPr/>
            </a:pPr>
            <a:r>
              <a:rPr lang="zh-CN" altLang="en-US" sz="2800" dirty="0"/>
              <a:t>电子工程与信息科学系</a:t>
            </a:r>
            <a:endParaRPr lang="en-US" altLang="zh-CN" sz="2800" dirty="0"/>
          </a:p>
          <a:p>
            <a:pPr eaLnBrk="1" hangingPunct="1">
              <a:defRPr/>
            </a:pPr>
            <a:endParaRPr lang="en-US" altLang="zh-CN" dirty="0"/>
          </a:p>
          <a:p>
            <a:pPr eaLnBrk="1" hangingPunct="1">
              <a:defRPr/>
            </a:pPr>
            <a:r>
              <a:rPr lang="zh-CN" altLang="en-US" dirty="0"/>
              <a:t> </a:t>
            </a:r>
            <a:r>
              <a:rPr lang="en-US" altLang="zh-CN" dirty="0"/>
              <a:t>           </a:t>
            </a:r>
            <a:r>
              <a:rPr lang="zh-CN" altLang="en-US" dirty="0"/>
              <a:t>主讲教师：李厚强 </a:t>
            </a:r>
            <a:r>
              <a:rPr lang="en-US" altLang="zh-CN" dirty="0"/>
              <a:t>(lihq@ustc.edu.cn)</a:t>
            </a:r>
          </a:p>
          <a:p>
            <a:pPr eaLnBrk="1" hangingPunct="1">
              <a:defRPr/>
            </a:pPr>
            <a:r>
              <a:rPr lang="zh-CN" altLang="en-US" dirty="0"/>
              <a:t>                                周文罡 </a:t>
            </a:r>
            <a:r>
              <a:rPr lang="en-US" altLang="zh-CN" dirty="0"/>
              <a:t>(</a:t>
            </a:r>
            <a:r>
              <a:rPr lang="en-US" altLang="zh-CN" dirty="0">
                <a:hlinkClick r:id="rId3"/>
              </a:rPr>
              <a:t>zhwg@ustc.edu.cn</a:t>
            </a:r>
            <a:r>
              <a:rPr lang="en-US" altLang="zh-CN" dirty="0"/>
              <a:t>)</a:t>
            </a:r>
          </a:p>
          <a:p>
            <a:pPr eaLnBrk="1" hangingPunct="1">
              <a:defRPr/>
            </a:pPr>
            <a:r>
              <a:rPr lang="en-US" altLang="zh-CN" dirty="0"/>
              <a:t>	                   </a:t>
            </a:r>
            <a:r>
              <a:rPr lang="zh-CN" altLang="en-US" dirty="0"/>
              <a:t>李    礼 </a:t>
            </a:r>
            <a:r>
              <a:rPr lang="en-US" altLang="zh-CN" dirty="0"/>
              <a:t>(lil1@ustc.edu.cn)</a:t>
            </a:r>
          </a:p>
          <a:p>
            <a:pPr eaLnBrk="1" hangingPunct="1">
              <a:spcBef>
                <a:spcPts val="1200"/>
              </a:spcBef>
              <a:defRPr/>
            </a:pPr>
            <a:r>
              <a:rPr lang="en-US" altLang="zh-CN" dirty="0"/>
              <a:t>	</a:t>
            </a:r>
            <a:r>
              <a:rPr lang="zh-CN" altLang="en-US" dirty="0"/>
              <a:t>助       教：刘为顺 </a:t>
            </a:r>
            <a:r>
              <a:rPr lang="en-US" altLang="zh-CN" dirty="0"/>
              <a:t>(</a:t>
            </a:r>
            <a:r>
              <a:rPr lang="en-US" altLang="zh-CN" dirty="0">
                <a:hlinkClick r:id="rId4"/>
              </a:rPr>
              <a:t>liuws@mail.ustc.edu.cn</a:t>
            </a:r>
            <a:r>
              <a:rPr lang="en-US" altLang="zh-CN" dirty="0"/>
              <a:t>)</a:t>
            </a:r>
          </a:p>
          <a:p>
            <a:pPr eaLnBrk="1" hangingPunct="1">
              <a:spcBef>
                <a:spcPts val="1200"/>
              </a:spcBef>
              <a:defRPr/>
            </a:pPr>
            <a:r>
              <a:rPr lang="en-US" altLang="zh-CN" dirty="0"/>
              <a:t>                                </a:t>
            </a:r>
            <a:r>
              <a:rPr lang="zh-CN" altLang="en-US" dirty="0"/>
              <a:t>景卓然 </a:t>
            </a:r>
            <a:r>
              <a:rPr lang="en-US" altLang="zh-CN" dirty="0"/>
              <a:t>(j1810188947@mail.ustc.edu.cn)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zh-CN" altLang="en-US" sz="3600" dirty="0">
                <a:latin typeface="+mj-ea"/>
              </a:rPr>
              <a:t>第</a:t>
            </a:r>
            <a:r>
              <a:rPr lang="en-US" altLang="zh-CN" sz="3600" dirty="0">
                <a:latin typeface="+mj-ea"/>
              </a:rPr>
              <a:t>3</a:t>
            </a:r>
            <a:r>
              <a:rPr lang="zh-CN" altLang="en-US" sz="3600" dirty="0">
                <a:latin typeface="+mj-ea"/>
              </a:rPr>
              <a:t>章  灰度变换与空域滤波</a:t>
            </a:r>
            <a:endParaRPr lang="en-US" altLang="zh-CN" sz="3600" dirty="0">
              <a:latin typeface="+mj-ea"/>
            </a:endParaRPr>
          </a:p>
        </p:txBody>
      </p:sp>
      <p:sp>
        <p:nvSpPr>
          <p:cNvPr id="198659" name="Text Box 3"/>
          <p:cNvSpPr txBox="1">
            <a:spLocks noChangeArrowheads="1"/>
          </p:cNvSpPr>
          <p:nvPr/>
        </p:nvSpPr>
        <p:spPr bwMode="auto">
          <a:xfrm>
            <a:off x="575556" y="1464945"/>
            <a:ext cx="7990205" cy="4592347"/>
          </a:xfrm>
          <a:prstGeom prst="rect">
            <a:avLst/>
          </a:prstGeom>
          <a:noFill/>
          <a:ln w="9525">
            <a:noFill/>
            <a:miter lim="800000"/>
          </a:ln>
          <a:effectLst/>
        </p:spPr>
        <p:txBody>
          <a:bodyPr/>
          <a:lstStyle/>
          <a:p>
            <a:pPr>
              <a:spcBef>
                <a:spcPct val="50000"/>
              </a:spcBef>
              <a:buClr>
                <a:schemeClr val="tx1"/>
              </a:buClr>
              <a:buNone/>
              <a:defRPr/>
            </a:pPr>
            <a:r>
              <a:rPr lang="en-US" altLang="zh-CN" sz="3200" dirty="0">
                <a:solidFill>
                  <a:srgbClr val="FF0000"/>
                </a:solidFill>
                <a:sym typeface="Wingdings" panose="05000000000000000000" pitchFamily="2" charset="2"/>
              </a:rPr>
              <a:t>3.1	</a:t>
            </a:r>
            <a:r>
              <a:rPr lang="zh-CN" altLang="en-US" sz="3200" dirty="0">
                <a:solidFill>
                  <a:srgbClr val="FF0000"/>
                </a:solidFill>
                <a:sym typeface="Wingdings" panose="05000000000000000000" pitchFamily="2" charset="2"/>
              </a:rPr>
              <a:t>背景知识</a:t>
            </a:r>
          </a:p>
          <a:p>
            <a:pPr>
              <a:spcBef>
                <a:spcPct val="50000"/>
              </a:spcBef>
              <a:buClr>
                <a:schemeClr val="tx1"/>
              </a:buClr>
              <a:buNone/>
              <a:defRPr/>
            </a:pPr>
            <a:r>
              <a:rPr lang="en-US" altLang="zh-CN" sz="3200" dirty="0">
                <a:sym typeface="Wingdings" panose="05000000000000000000" pitchFamily="2" charset="2"/>
              </a:rPr>
              <a:t>3.2	</a:t>
            </a:r>
            <a:r>
              <a:rPr lang="zh-CN" altLang="en-US" sz="3200" dirty="0">
                <a:sym typeface="Wingdings" panose="05000000000000000000" pitchFamily="2" charset="2"/>
              </a:rPr>
              <a:t>基本灰度变换</a:t>
            </a:r>
          </a:p>
          <a:p>
            <a:pPr>
              <a:spcBef>
                <a:spcPct val="50000"/>
              </a:spcBef>
              <a:buClr>
                <a:schemeClr val="tx1"/>
              </a:buClr>
              <a:buNone/>
              <a:defRPr/>
            </a:pPr>
            <a:r>
              <a:rPr lang="en-US" altLang="zh-CN" sz="3200" dirty="0">
                <a:sym typeface="Wingdings" panose="05000000000000000000" pitchFamily="2" charset="2"/>
              </a:rPr>
              <a:t>3.3	</a:t>
            </a:r>
            <a:r>
              <a:rPr lang="zh-CN" altLang="en-US" sz="3200" dirty="0">
                <a:sym typeface="Wingdings" panose="05000000000000000000" pitchFamily="2" charset="2"/>
              </a:rPr>
              <a:t>直方图处理</a:t>
            </a:r>
            <a:endParaRPr lang="en-US" altLang="zh-CN" sz="3200" dirty="0">
              <a:sym typeface="Wingdings" panose="05000000000000000000" pitchFamily="2" charset="2"/>
            </a:endParaRPr>
          </a:p>
          <a:p>
            <a:pPr>
              <a:spcBef>
                <a:spcPct val="50000"/>
              </a:spcBef>
              <a:buClr>
                <a:schemeClr val="tx1"/>
              </a:buClr>
              <a:buNone/>
              <a:defRPr/>
            </a:pPr>
            <a:r>
              <a:rPr lang="en-US" altLang="zh-CN" sz="3200" dirty="0">
                <a:sym typeface="Wingdings" panose="05000000000000000000" pitchFamily="2" charset="2"/>
              </a:rPr>
              <a:t>3.4    </a:t>
            </a:r>
            <a:r>
              <a:rPr lang="zh-CN" altLang="en-US" sz="3200" dirty="0">
                <a:sym typeface="Wingdings" panose="05000000000000000000" pitchFamily="2" charset="2"/>
              </a:rPr>
              <a:t>空间滤波基础</a:t>
            </a:r>
          </a:p>
          <a:p>
            <a:pPr>
              <a:spcBef>
                <a:spcPct val="50000"/>
              </a:spcBef>
              <a:buClr>
                <a:schemeClr val="tx1"/>
              </a:buClr>
              <a:buNone/>
              <a:defRPr/>
            </a:pPr>
            <a:r>
              <a:rPr lang="en-US" altLang="zh-CN" sz="3200" dirty="0">
                <a:sym typeface="Wingdings" panose="05000000000000000000" pitchFamily="2" charset="2"/>
              </a:rPr>
              <a:t>3.5	</a:t>
            </a:r>
            <a:r>
              <a:rPr lang="zh-CN" altLang="en-US" sz="3200" dirty="0">
                <a:sym typeface="Wingdings" panose="05000000000000000000" pitchFamily="2" charset="2"/>
              </a:rPr>
              <a:t>空域平滑</a:t>
            </a:r>
          </a:p>
          <a:p>
            <a:pPr>
              <a:spcBef>
                <a:spcPct val="50000"/>
              </a:spcBef>
              <a:buClr>
                <a:schemeClr val="tx1"/>
              </a:buClr>
              <a:buNone/>
              <a:defRPr/>
            </a:pPr>
            <a:r>
              <a:rPr lang="en-US" altLang="zh-CN" sz="3200" dirty="0">
                <a:sym typeface="Wingdings" panose="05000000000000000000" pitchFamily="2" charset="2"/>
              </a:rPr>
              <a:t>3.6    </a:t>
            </a:r>
            <a:r>
              <a:rPr lang="zh-CN" altLang="en-US" sz="3200" dirty="0">
                <a:sym typeface="Wingdings" panose="05000000000000000000" pitchFamily="2" charset="2"/>
              </a:rPr>
              <a:t>空域锐化</a:t>
            </a:r>
          </a:p>
          <a:p>
            <a:pPr>
              <a:spcBef>
                <a:spcPct val="50000"/>
              </a:spcBef>
              <a:buClr>
                <a:schemeClr val="tx1"/>
              </a:buClr>
              <a:buNone/>
              <a:defRPr/>
            </a:pPr>
            <a:endParaRPr lang="zh-CN" altLang="en-US" sz="2800" dirty="0">
              <a:latin typeface="+mn-lt"/>
              <a:ea typeface="+mn-ea"/>
              <a:sym typeface="Wingdings" panose="05000000000000000000" pitchFamily="2" charset="2"/>
            </a:endParaRPr>
          </a:p>
          <a:p>
            <a:pPr>
              <a:spcBef>
                <a:spcPct val="50000"/>
              </a:spcBef>
              <a:buClr>
                <a:schemeClr val="tx1"/>
              </a:buClr>
              <a:buNone/>
              <a:defRPr/>
            </a:pPr>
            <a:endParaRPr kumimoji="1" lang="zh-CN" altLang="en-US" sz="2800" b="0" i="0" u="none" strike="noStrike" kern="0" cap="none" spc="0" normalizeH="0" baseline="0" noProof="0" dirty="0">
              <a:ln>
                <a:noFill/>
              </a:ln>
              <a:solidFill>
                <a:schemeClr val="tx1"/>
              </a:solidFill>
              <a:effectLst/>
              <a:uLnTx/>
              <a:uFillTx/>
              <a:latin typeface="+mn-ea"/>
              <a:ea typeface="+mn-ea"/>
              <a:cs typeface="+mn-cs"/>
              <a:sym typeface="+mn-ea"/>
            </a:endParaRPr>
          </a:p>
          <a:p>
            <a:pPr>
              <a:spcBef>
                <a:spcPct val="50000"/>
              </a:spcBef>
              <a:buClr>
                <a:schemeClr val="tx1"/>
              </a:buClr>
              <a:buNone/>
              <a:defRPr/>
            </a:pPr>
            <a:endParaRPr lang="en-US" altLang="zh-CN" sz="3200" dirty="0">
              <a:latin typeface="+mn-lt"/>
              <a:ea typeface="+mn-ea"/>
              <a:sym typeface="Wingdings" panose="05000000000000000000" pitchFamily="2" charset="2"/>
            </a:endParaRPr>
          </a:p>
        </p:txBody>
      </p:sp>
      <p:sp>
        <p:nvSpPr>
          <p:cNvPr id="2" name="灯片编号占位符 1">
            <a:extLst>
              <a:ext uri="{FF2B5EF4-FFF2-40B4-BE49-F238E27FC236}">
                <a16:creationId xmlns:a16="http://schemas.microsoft.com/office/drawing/2014/main" id="{59FDD463-6DB6-456A-90BD-7AB3E09EA25C}"/>
              </a:ext>
            </a:extLst>
          </p:cNvPr>
          <p:cNvSpPr>
            <a:spLocks noGrp="1"/>
          </p:cNvSpPr>
          <p:nvPr>
            <p:ph type="sldNum" sz="quarter" idx="12"/>
          </p:nvPr>
        </p:nvSpPr>
        <p:spPr/>
        <p:txBody>
          <a:bodyPr/>
          <a:lstStyle/>
          <a:p>
            <a:pPr>
              <a:defRPr/>
            </a:pPr>
            <a:fld id="{BE59E6E9-16BB-4D46-A8D6-97CC594B8C57}" type="slidenum">
              <a:rPr lang="en-US" altLang="zh-CN" smtClean="0"/>
              <a:pPr>
                <a:defRPr/>
              </a:pPr>
              <a:t>2</a:t>
            </a:fld>
            <a:endParaRPr lang="en-US" altLang="zh-CN"/>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8084" y="3465004"/>
            <a:ext cx="3722751" cy="3278942"/>
          </a:xfrm>
          <a:prstGeom prst="rect">
            <a:avLst/>
          </a:prstGeom>
          <a:solidFill>
            <a:schemeClr val="bg1"/>
          </a:solidFill>
          <a:ln>
            <a:solidFill>
              <a:schemeClr val="bg1"/>
            </a:solidFill>
          </a:ln>
          <a:effectLst/>
        </p:spPr>
      </p:pic>
      <p:sp>
        <p:nvSpPr>
          <p:cNvPr id="2" name="标题 1"/>
          <p:cNvSpPr>
            <a:spLocks noGrp="1"/>
          </p:cNvSpPr>
          <p:nvPr>
            <p:ph type="title"/>
          </p:nvPr>
        </p:nvSpPr>
        <p:spPr/>
        <p:txBody>
          <a:bodyPr/>
          <a:lstStyle/>
          <a:p>
            <a:r>
              <a:rPr lang="zh-CN" altLang="en-US" dirty="0"/>
              <a:t>灰度变换与空间滤波基础</a:t>
            </a:r>
          </a:p>
        </p:txBody>
      </p:sp>
      <mc:AlternateContent xmlns:mc="http://schemas.openxmlformats.org/markup-compatibility/2006">
        <mc:Choice xmlns:a14="http://schemas.microsoft.com/office/drawing/2010/main" Requires="a14">
          <p:sp>
            <p:nvSpPr>
              <p:cNvPr id="9" name="内容占位符 8"/>
              <p:cNvSpPr>
                <a:spLocks noGrp="1"/>
              </p:cNvSpPr>
              <p:nvPr>
                <p:ph idx="1"/>
              </p:nvPr>
            </p:nvSpPr>
            <p:spPr>
              <a:xfrm>
                <a:off x="566738" y="1341438"/>
                <a:ext cx="8001000" cy="4967287"/>
              </a:xfrm>
            </p:spPr>
            <p:txBody>
              <a:bodyPr/>
              <a:lstStyle/>
              <a:p>
                <a:r>
                  <a:rPr lang="zh-CN" altLang="en-US" dirty="0"/>
                  <a:t>空间域：包含图像像素的简单平面</a:t>
                </a:r>
                <a:endParaRPr lang="en-US" altLang="zh-CN" dirty="0"/>
              </a:p>
              <a:p>
                <a:r>
                  <a:rPr lang="zh-CN" altLang="en-US" dirty="0"/>
                  <a:t>典型的空域处理：</a:t>
                </a:r>
                <a14:m>
                  <m:oMath xmlns:m="http://schemas.openxmlformats.org/officeDocument/2006/math">
                    <m:r>
                      <a:rPr lang="en-US" altLang="zh-CN" b="0" i="1">
                        <a:latin typeface="Cambria Math" panose="02040503050406030204" pitchFamily="18" charset="0"/>
                      </a:rPr>
                      <m:t>𝑔</m:t>
                    </m:r>
                    <m:r>
                      <a:rPr lang="en-US" altLang="zh-CN" b="0" i="1">
                        <a:latin typeface="Cambria Math" panose="02040503050406030204" pitchFamily="18" charset="0"/>
                      </a:rPr>
                      <m:t>(</m:t>
                    </m:r>
                    <m:r>
                      <a:rPr lang="en-US" altLang="zh-CN" b="0" i="1">
                        <a:latin typeface="Cambria Math" panose="02040503050406030204" pitchFamily="18" charset="0"/>
                      </a:rPr>
                      <m:t>𝑥</m:t>
                    </m:r>
                    <m:r>
                      <a:rPr lang="en-US" altLang="zh-CN" b="0" i="1">
                        <a:latin typeface="Cambria Math" panose="02040503050406030204" pitchFamily="18" charset="0"/>
                      </a:rPr>
                      <m:t>,</m:t>
                    </m:r>
                    <m:r>
                      <a:rPr lang="en-US" altLang="zh-CN" b="0" i="1">
                        <a:latin typeface="Cambria Math" panose="02040503050406030204" pitchFamily="18" charset="0"/>
                      </a:rPr>
                      <m:t>𝑦</m:t>
                    </m:r>
                    <m:r>
                      <a:rPr lang="en-US" altLang="zh-CN" b="0" i="1">
                        <a:latin typeface="Cambria Math" panose="02040503050406030204" pitchFamily="18" charset="0"/>
                      </a:rPr>
                      <m:t>)=</m:t>
                    </m:r>
                    <m:r>
                      <a:rPr lang="en-US" altLang="zh-CN" b="0" i="1">
                        <a:latin typeface="Cambria Math" panose="02040503050406030204" pitchFamily="18" charset="0"/>
                      </a:rPr>
                      <m:t>𝑇</m:t>
                    </m:r>
                    <m:r>
                      <a:rPr lang="en-US" altLang="zh-CN" b="0" i="1">
                        <a:latin typeface="Cambria Math" panose="02040503050406030204" pitchFamily="18" charset="0"/>
                      </a:rPr>
                      <m:t>(</m:t>
                    </m:r>
                    <m:r>
                      <a:rPr lang="en-US" altLang="zh-CN" b="0" i="1">
                        <a:latin typeface="Cambria Math" panose="02040503050406030204" pitchFamily="18" charset="0"/>
                      </a:rPr>
                      <m:t>𝑓</m:t>
                    </m:r>
                    <m:r>
                      <a:rPr lang="en-US" altLang="zh-CN" b="0" i="1">
                        <a:latin typeface="Cambria Math" panose="02040503050406030204" pitchFamily="18" charset="0"/>
                      </a:rPr>
                      <m:t>(</m:t>
                    </m:r>
                    <m:r>
                      <a:rPr lang="en-US" altLang="zh-CN" b="0" i="1">
                        <a:latin typeface="Cambria Math" panose="02040503050406030204" pitchFamily="18" charset="0"/>
                      </a:rPr>
                      <m:t>𝑥</m:t>
                    </m:r>
                    <m:r>
                      <a:rPr lang="en-US" altLang="zh-CN" b="0" i="1">
                        <a:latin typeface="Cambria Math" panose="02040503050406030204" pitchFamily="18" charset="0"/>
                      </a:rPr>
                      <m:t>,</m:t>
                    </m:r>
                    <m:r>
                      <a:rPr lang="en-US" altLang="zh-CN" b="0" i="1">
                        <a:latin typeface="Cambria Math" panose="02040503050406030204" pitchFamily="18" charset="0"/>
                      </a:rPr>
                      <m:t>𝑦</m:t>
                    </m:r>
                    <m:r>
                      <a:rPr lang="en-US" altLang="zh-CN" b="0" i="1">
                        <a:latin typeface="Cambria Math" panose="02040503050406030204" pitchFamily="18" charset="0"/>
                      </a:rPr>
                      <m:t>))</m:t>
                    </m:r>
                  </m:oMath>
                </a14:m>
                <a:endParaRPr lang="zh-CN" altLang="en-US" dirty="0"/>
              </a:p>
              <a:p>
                <a:pPr lvl="1"/>
                <a14:m>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oMath>
                </a14:m>
                <a:r>
                  <a:rPr lang="zh-CN" altLang="en-US" dirty="0"/>
                  <a:t>：输入图像</a:t>
                </a:r>
                <a:r>
                  <a:rPr lang="en-US" altLang="zh-CN" dirty="0"/>
                  <a:t>; </a:t>
                </a:r>
                <a14:m>
                  <m:oMath xmlns:m="http://schemas.openxmlformats.org/officeDocument/2006/math">
                    <m:r>
                      <a:rPr lang="en-US" altLang="zh-CN" b="0" i="0" smtClean="0">
                        <a:latin typeface="Cambria Math" panose="02040503050406030204" pitchFamily="18" charset="0"/>
                      </a:rPr>
                      <m:t>  </m:t>
                    </m:r>
                    <m:r>
                      <a:rPr lang="en-US" altLang="zh-CN" i="1">
                        <a:latin typeface="Cambria Math" panose="02040503050406030204" pitchFamily="18" charset="0"/>
                      </a:rPr>
                      <m:t>𝑔</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oMath>
                </a14:m>
                <a:r>
                  <a:rPr lang="zh-CN" altLang="en-US" dirty="0"/>
                  <a:t>：输出图像</a:t>
                </a:r>
              </a:p>
              <a:p>
                <a:pPr lvl="1"/>
                <a14:m>
                  <m:oMath xmlns:m="http://schemas.openxmlformats.org/officeDocument/2006/math">
                    <m:r>
                      <a:rPr lang="en-US" altLang="zh-CN" i="1">
                        <a:latin typeface="Cambria Math" panose="02040503050406030204" pitchFamily="18" charset="0"/>
                      </a:rPr>
                      <m:t>𝑇</m:t>
                    </m:r>
                  </m:oMath>
                </a14:m>
                <a:r>
                  <a:rPr lang="zh-CN" altLang="en-US" dirty="0"/>
                  <a:t>：在点</a:t>
                </a: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oMath>
                </a14:m>
                <a:r>
                  <a:rPr lang="zh-CN" altLang="en-US" dirty="0"/>
                  <a:t>的邻域上定义的关于灰度</a:t>
                </a:r>
                <a14:m>
                  <m:oMath xmlns:m="http://schemas.openxmlformats.org/officeDocument/2006/math">
                    <m:r>
                      <a:rPr lang="en-US" altLang="zh-CN" i="1">
                        <a:latin typeface="Cambria Math" panose="02040503050406030204" pitchFamily="18" charset="0"/>
                      </a:rPr>
                      <m:t>𝑓</m:t>
                    </m:r>
                  </m:oMath>
                </a14:m>
                <a:r>
                  <a:rPr lang="zh-CN" altLang="en-US" dirty="0"/>
                  <a:t>的一种算子</a:t>
                </a:r>
                <a:endParaRPr lang="en-US" altLang="zh-CN" dirty="0"/>
              </a:p>
              <a:p>
                <a:pPr lvl="2"/>
                <a:r>
                  <a:rPr lang="zh-CN" altLang="en-US" b="1" dirty="0"/>
                  <a:t>邻域：</a:t>
                </a:r>
                <a:r>
                  <a:rPr lang="zh-CN" altLang="en-US" dirty="0"/>
                  <a:t>决定操作的图像局部范围</a:t>
                </a:r>
                <a:endParaRPr lang="en-US" altLang="zh-CN" dirty="0"/>
              </a:p>
              <a:p>
                <a:pPr lvl="1"/>
                <a:endParaRPr lang="zh-CN" altLang="en-US" dirty="0"/>
              </a:p>
              <a:p>
                <a:r>
                  <a:rPr lang="zh-CN" altLang="en-US" dirty="0"/>
                  <a:t>灰度变换</a:t>
                </a:r>
                <a:endParaRPr lang="en-US" altLang="zh-CN" dirty="0"/>
              </a:p>
              <a:p>
                <a:pPr lvl="1"/>
                <a:r>
                  <a:rPr lang="zh-CN" altLang="en-US" dirty="0"/>
                  <a:t>对</a:t>
                </a:r>
                <a:r>
                  <a:rPr lang="zh-CN" altLang="en-US" b="1" dirty="0">
                    <a:solidFill>
                      <a:srgbClr val="0070C0"/>
                    </a:solidFill>
                  </a:rPr>
                  <a:t>单个像素</a:t>
                </a:r>
                <a:r>
                  <a:rPr lang="zh-CN" altLang="en-US" dirty="0"/>
                  <a:t>进行操作</a:t>
                </a:r>
                <a:endParaRPr lang="en-US" altLang="zh-CN" dirty="0"/>
              </a:p>
              <a:p>
                <a:pPr lvl="1"/>
                <a:r>
                  <a:rPr lang="zh-CN" altLang="en-US" dirty="0"/>
                  <a:t>即</a:t>
                </a:r>
                <a:r>
                  <a:rPr lang="en-US" altLang="zh-CN" dirty="0"/>
                  <a:t> </a:t>
                </a:r>
                <a14:m>
                  <m:oMath xmlns:m="http://schemas.openxmlformats.org/officeDocument/2006/math">
                    <m:r>
                      <a:rPr lang="en-US" altLang="zh-CN" i="1">
                        <a:latin typeface="Cambria Math" panose="02040503050406030204" pitchFamily="18" charset="0"/>
                      </a:rPr>
                      <m:t>𝑇</m:t>
                    </m:r>
                  </m:oMath>
                </a14:m>
                <a:r>
                  <a:rPr lang="en-US" altLang="zh-CN" dirty="0"/>
                  <a:t> </a:t>
                </a:r>
                <a:r>
                  <a:rPr lang="zh-CN" altLang="en-US" dirty="0"/>
                  <a:t>中的邻域为</a:t>
                </a:r>
                <a14:m>
                  <m:oMath xmlns:m="http://schemas.openxmlformats.org/officeDocument/2006/math">
                    <m:r>
                      <a:rPr lang="en-US" altLang="zh-CN" i="1" dirty="0">
                        <a:latin typeface="Cambria Math" panose="02040503050406030204" pitchFamily="18" charset="0"/>
                      </a:rPr>
                      <m:t>1</m:t>
                    </m:r>
                    <m:r>
                      <a:rPr lang="en-US" altLang="zh-CN" i="1" dirty="0">
                        <a:latin typeface="Cambria Math" panose="02040503050406030204" pitchFamily="18" charset="0"/>
                        <a:ea typeface="Cambria Math" panose="02040503050406030204" pitchFamily="18" charset="0"/>
                      </a:rPr>
                      <m:t>×1</m:t>
                    </m:r>
                  </m:oMath>
                </a14:m>
                <a:r>
                  <a:rPr lang="zh-CN" altLang="en-US" dirty="0"/>
                  <a:t>：</a:t>
                </a:r>
                <a14:m>
                  <m:oMath xmlns:m="http://schemas.openxmlformats.org/officeDocument/2006/math">
                    <m:r>
                      <a:rPr lang="en-US" altLang="zh-CN" b="1" i="1" smtClean="0">
                        <a:latin typeface="Cambria Math" panose="02040503050406030204" pitchFamily="18" charset="0"/>
                      </a:rPr>
                      <m:t>𝒔</m:t>
                    </m:r>
                    <m:r>
                      <a:rPr lang="en-US" altLang="zh-CN" b="1" i="1" smtClean="0">
                        <a:latin typeface="Cambria Math" panose="02040503050406030204" pitchFamily="18" charset="0"/>
                      </a:rPr>
                      <m:t>=</m:t>
                    </m:r>
                    <m:r>
                      <a:rPr lang="en-US" altLang="zh-CN" b="1" i="1" smtClean="0">
                        <a:latin typeface="Cambria Math" panose="02040503050406030204" pitchFamily="18" charset="0"/>
                      </a:rPr>
                      <m:t>𝑻</m:t>
                    </m:r>
                    <m:r>
                      <a:rPr lang="en-US" altLang="zh-CN" b="1" i="1" smtClean="0">
                        <a:latin typeface="Cambria Math" panose="02040503050406030204" pitchFamily="18" charset="0"/>
                      </a:rPr>
                      <m:t>(</m:t>
                    </m:r>
                    <m:r>
                      <a:rPr lang="en-US" altLang="zh-CN" b="1" i="1" smtClean="0">
                        <a:latin typeface="Cambria Math" panose="02040503050406030204" pitchFamily="18" charset="0"/>
                      </a:rPr>
                      <m:t>𝒓</m:t>
                    </m:r>
                    <m:r>
                      <a:rPr lang="en-US" altLang="zh-CN" b="1" i="1" smtClean="0">
                        <a:latin typeface="Cambria Math" panose="02040503050406030204" pitchFamily="18" charset="0"/>
                      </a:rPr>
                      <m:t>)</m:t>
                    </m:r>
                  </m:oMath>
                </a14:m>
                <a:endParaRPr lang="en-US" altLang="zh-CN" b="1" dirty="0"/>
              </a:p>
              <a:p>
                <a:pPr lvl="1"/>
                <a:endParaRPr lang="en-US" altLang="zh-CN" dirty="0"/>
              </a:p>
              <a:p>
                <a:r>
                  <a:rPr lang="zh-CN" altLang="en-US" dirty="0"/>
                  <a:t>空间滤波</a:t>
                </a:r>
                <a:endParaRPr lang="en-US" altLang="zh-CN" dirty="0"/>
              </a:p>
              <a:p>
                <a:pPr lvl="1"/>
                <a:r>
                  <a:rPr lang="zh-CN" altLang="en-US" dirty="0"/>
                  <a:t>操作邻域多个像素的灰度值</a:t>
                </a:r>
                <a:endParaRPr lang="en-US" altLang="zh-CN" dirty="0"/>
              </a:p>
              <a:p>
                <a:pPr lvl="1"/>
                <a:r>
                  <a:rPr lang="zh-CN" altLang="en-US" dirty="0"/>
                  <a:t>改善图象质量</a:t>
                </a:r>
                <a:endParaRPr lang="en-US" altLang="zh-CN" dirty="0"/>
              </a:p>
            </p:txBody>
          </p:sp>
        </mc:Choice>
        <mc:Fallback>
          <p:sp>
            <p:nvSpPr>
              <p:cNvPr id="9" name="内容占位符 8"/>
              <p:cNvSpPr>
                <a:spLocks noGrp="1" noRot="1" noChangeAspect="1" noMove="1" noResize="1" noEditPoints="1" noAdjustHandles="1" noChangeArrowheads="1" noChangeShapeType="1" noTextEdit="1"/>
              </p:cNvSpPr>
              <p:nvPr>
                <p:ph idx="1"/>
              </p:nvPr>
            </p:nvSpPr>
            <p:spPr>
              <a:xfrm>
                <a:off x="566738" y="1341438"/>
                <a:ext cx="8001000" cy="4967287"/>
              </a:xfrm>
              <a:blipFill>
                <a:blip r:embed="rId3"/>
                <a:stretch>
                  <a:fillRect l="-1067" t="-1350" b="-3313"/>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D4028E2A-805B-4E5E-8EE5-F0B8FAFA3ABE}"/>
              </a:ext>
            </a:extLst>
          </p:cNvPr>
          <p:cNvSpPr>
            <a:spLocks noGrp="1"/>
          </p:cNvSpPr>
          <p:nvPr>
            <p:ph type="sldNum" sz="quarter" idx="12"/>
          </p:nvPr>
        </p:nvSpPr>
        <p:spPr/>
        <p:txBody>
          <a:bodyPr/>
          <a:lstStyle/>
          <a:p>
            <a:pPr>
              <a:defRPr/>
            </a:pPr>
            <a:fld id="{BE59E6E9-16BB-4D46-A8D6-97CC594B8C57}" type="slidenum">
              <a:rPr lang="en-US" altLang="zh-CN" smtClean="0"/>
              <a:pPr>
                <a:defRPr/>
              </a:pPr>
              <a:t>3</a:t>
            </a:fld>
            <a:endParaRPr lang="en-US" altLang="zh-CN"/>
          </a:p>
        </p:txBody>
      </p:sp>
    </p:spTree>
    <p:extLst>
      <p:ext uri="{BB962C8B-B14F-4D97-AF65-F5344CB8AC3E}">
        <p14:creationId xmlns:p14="http://schemas.microsoft.com/office/powerpoint/2010/main" val="34616776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灰度变换</a:t>
            </a:r>
          </a:p>
        </p:txBody>
      </p:sp>
      <p:sp>
        <p:nvSpPr>
          <p:cNvPr id="5" name="内容占位符 4"/>
          <p:cNvSpPr>
            <a:spLocks noGrp="1"/>
          </p:cNvSpPr>
          <p:nvPr>
            <p:ph idx="1"/>
          </p:nvPr>
        </p:nvSpPr>
        <p:spPr/>
        <p:txBody>
          <a:bodyPr/>
          <a:lstStyle/>
          <a:p>
            <a:r>
              <a:rPr lang="zh-CN" altLang="en-US" dirty="0"/>
              <a:t>邻域为</a:t>
            </a:r>
            <a:r>
              <a:rPr lang="en-US" altLang="zh-CN" dirty="0"/>
              <a:t>1×1</a:t>
            </a:r>
            <a:r>
              <a:rPr lang="zh-CN" altLang="en-US" dirty="0"/>
              <a:t>时的灰度变换</a:t>
            </a:r>
          </a:p>
        </p:txBody>
      </p:sp>
      <p:sp>
        <p:nvSpPr>
          <p:cNvPr id="3" name="灯片编号占位符 2"/>
          <p:cNvSpPr>
            <a:spLocks noGrp="1"/>
          </p:cNvSpPr>
          <p:nvPr>
            <p:ph type="sldNum" sz="quarter" idx="12"/>
          </p:nvPr>
        </p:nvSpPr>
        <p:spPr/>
        <p:txBody>
          <a:bodyPr/>
          <a:lstStyle/>
          <a:p>
            <a:pPr>
              <a:defRPr/>
            </a:pPr>
            <a:fld id="{BE59E6E9-16BB-4D46-A8D6-97CC594B8C57}" type="slidenum">
              <a:rPr lang="en-US" altLang="zh-CN" smtClean="0"/>
              <a:pPr>
                <a:defRPr/>
              </a:pPr>
              <a:t>4</a:t>
            </a:fld>
            <a:endParaRPr lang="en-US" altLang="zh-CN"/>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1620" y="2051911"/>
            <a:ext cx="7164796" cy="3546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2591780" y="5535613"/>
            <a:ext cx="1800493" cy="369332"/>
          </a:xfrm>
          <a:prstGeom prst="rect">
            <a:avLst/>
          </a:prstGeom>
          <a:solidFill>
            <a:schemeClr val="bg1">
              <a:lumMod val="95000"/>
            </a:schemeClr>
          </a:solidFill>
        </p:spPr>
        <p:txBody>
          <a:bodyPr wrap="none" rtlCol="0">
            <a:spAutoFit/>
          </a:bodyPr>
          <a:lstStyle/>
          <a:p>
            <a:pPr>
              <a:buNone/>
            </a:pPr>
            <a:r>
              <a:rPr lang="zh-CN" altLang="en-US" dirty="0"/>
              <a:t>对比度拉伸函数</a:t>
            </a:r>
          </a:p>
        </p:txBody>
      </p:sp>
      <p:sp>
        <p:nvSpPr>
          <p:cNvPr id="7" name="文本框 6"/>
          <p:cNvSpPr txBox="1"/>
          <p:nvPr/>
        </p:nvSpPr>
        <p:spPr>
          <a:xfrm>
            <a:off x="5688417" y="5535613"/>
            <a:ext cx="1611339" cy="369332"/>
          </a:xfrm>
          <a:prstGeom prst="rect">
            <a:avLst/>
          </a:prstGeom>
          <a:solidFill>
            <a:schemeClr val="bg1">
              <a:lumMod val="95000"/>
            </a:schemeClr>
          </a:solidFill>
        </p:spPr>
        <p:txBody>
          <a:bodyPr wrap="none" rtlCol="0">
            <a:spAutoFit/>
          </a:bodyPr>
          <a:lstStyle/>
          <a:p>
            <a:pPr>
              <a:buNone/>
            </a:pPr>
            <a:r>
              <a:rPr lang="zh-CN" altLang="en-US" dirty="0"/>
              <a:t>阈值处理函数</a:t>
            </a:r>
          </a:p>
        </p:txBody>
      </p:sp>
      <p:cxnSp>
        <p:nvCxnSpPr>
          <p:cNvPr id="9" name="直接连接符 8"/>
          <p:cNvCxnSpPr/>
          <p:nvPr/>
        </p:nvCxnSpPr>
        <p:spPr bwMode="auto">
          <a:xfrm flipH="1">
            <a:off x="2375757" y="2775517"/>
            <a:ext cx="2052227" cy="2100987"/>
          </a:xfrm>
          <a:prstGeom prst="line">
            <a:avLst/>
          </a:prstGeom>
          <a:noFill/>
          <a:ln>
            <a:solidFill>
              <a:schemeClr val="bg1">
                <a:lumMod val="85000"/>
              </a:schemeClr>
            </a:solidFill>
          </a:ln>
        </p:spPr>
      </p:cxnSp>
      <p:cxnSp>
        <p:nvCxnSpPr>
          <p:cNvPr id="10" name="直接连接符 9"/>
          <p:cNvCxnSpPr/>
          <p:nvPr/>
        </p:nvCxnSpPr>
        <p:spPr bwMode="auto">
          <a:xfrm flipH="1">
            <a:off x="5436096" y="2775517"/>
            <a:ext cx="2031395" cy="2100987"/>
          </a:xfrm>
          <a:prstGeom prst="line">
            <a:avLst/>
          </a:prstGeom>
          <a:noFill/>
          <a:ln>
            <a:solidFill>
              <a:schemeClr val="bg1">
                <a:lumMod val="85000"/>
              </a:schemeClr>
            </a:solidFill>
          </a:ln>
        </p:spPr>
      </p:cxnSp>
    </p:spTree>
    <p:extLst>
      <p:ext uri="{BB962C8B-B14F-4D97-AF65-F5344CB8AC3E}">
        <p14:creationId xmlns:p14="http://schemas.microsoft.com/office/powerpoint/2010/main" val="122339800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zh-CN" altLang="en-US" sz="3600" dirty="0">
                <a:latin typeface="+mj-ea"/>
              </a:rPr>
              <a:t>第</a:t>
            </a:r>
            <a:r>
              <a:rPr lang="en-US" altLang="zh-CN" sz="3600" dirty="0">
                <a:latin typeface="+mj-ea"/>
              </a:rPr>
              <a:t>3</a:t>
            </a:r>
            <a:r>
              <a:rPr lang="zh-CN" altLang="en-US" sz="3600" dirty="0">
                <a:latin typeface="+mj-ea"/>
              </a:rPr>
              <a:t>章  灰度变换与空域滤波</a:t>
            </a:r>
            <a:endParaRPr lang="en-US" altLang="zh-CN" sz="3600" dirty="0">
              <a:latin typeface="+mj-ea"/>
            </a:endParaRPr>
          </a:p>
        </p:txBody>
      </p:sp>
      <p:sp>
        <p:nvSpPr>
          <p:cNvPr id="198659" name="Text Box 3"/>
          <p:cNvSpPr txBox="1">
            <a:spLocks noChangeArrowheads="1"/>
          </p:cNvSpPr>
          <p:nvPr/>
        </p:nvSpPr>
        <p:spPr bwMode="auto">
          <a:xfrm>
            <a:off x="575556" y="1464945"/>
            <a:ext cx="7990205" cy="4592347"/>
          </a:xfrm>
          <a:prstGeom prst="rect">
            <a:avLst/>
          </a:prstGeom>
          <a:noFill/>
          <a:ln w="9525">
            <a:noFill/>
            <a:miter lim="800000"/>
          </a:ln>
          <a:effectLst/>
        </p:spPr>
        <p:txBody>
          <a:bodyPr/>
          <a:lstStyle/>
          <a:p>
            <a:pPr>
              <a:spcBef>
                <a:spcPct val="50000"/>
              </a:spcBef>
              <a:buClr>
                <a:schemeClr val="tx1"/>
              </a:buClr>
              <a:buNone/>
              <a:defRPr/>
            </a:pPr>
            <a:r>
              <a:rPr lang="en-US" altLang="zh-CN" sz="3200" dirty="0">
                <a:sym typeface="Wingdings" panose="05000000000000000000" pitchFamily="2" charset="2"/>
              </a:rPr>
              <a:t>3.1	</a:t>
            </a:r>
            <a:r>
              <a:rPr lang="zh-CN" altLang="en-US" sz="3200" dirty="0">
                <a:sym typeface="Wingdings" panose="05000000000000000000" pitchFamily="2" charset="2"/>
              </a:rPr>
              <a:t>背景知识</a:t>
            </a:r>
          </a:p>
          <a:p>
            <a:pPr>
              <a:spcBef>
                <a:spcPct val="50000"/>
              </a:spcBef>
              <a:buClr>
                <a:schemeClr val="tx1"/>
              </a:buClr>
              <a:buNone/>
              <a:defRPr/>
            </a:pPr>
            <a:r>
              <a:rPr lang="en-US" altLang="zh-CN" sz="3200" dirty="0">
                <a:solidFill>
                  <a:srgbClr val="FF0000"/>
                </a:solidFill>
                <a:sym typeface="Wingdings" panose="05000000000000000000" pitchFamily="2" charset="2"/>
              </a:rPr>
              <a:t>3.2	</a:t>
            </a:r>
            <a:r>
              <a:rPr lang="zh-CN" altLang="en-US" sz="3200" dirty="0">
                <a:solidFill>
                  <a:srgbClr val="FF0000"/>
                </a:solidFill>
                <a:sym typeface="Wingdings" panose="05000000000000000000" pitchFamily="2" charset="2"/>
              </a:rPr>
              <a:t>基本灰度变换</a:t>
            </a:r>
          </a:p>
          <a:p>
            <a:pPr>
              <a:spcBef>
                <a:spcPct val="50000"/>
              </a:spcBef>
              <a:buClr>
                <a:schemeClr val="tx1"/>
              </a:buClr>
              <a:buNone/>
              <a:defRPr/>
            </a:pPr>
            <a:r>
              <a:rPr lang="en-US" altLang="zh-CN" sz="3200" dirty="0">
                <a:sym typeface="Wingdings" panose="05000000000000000000" pitchFamily="2" charset="2"/>
              </a:rPr>
              <a:t>3.3	</a:t>
            </a:r>
            <a:r>
              <a:rPr lang="zh-CN" altLang="en-US" sz="3200" dirty="0">
                <a:sym typeface="Wingdings" panose="05000000000000000000" pitchFamily="2" charset="2"/>
              </a:rPr>
              <a:t>直方图处理</a:t>
            </a:r>
            <a:endParaRPr lang="en-US" altLang="zh-CN" sz="3200" dirty="0">
              <a:sym typeface="Wingdings" panose="05000000000000000000" pitchFamily="2" charset="2"/>
            </a:endParaRPr>
          </a:p>
          <a:p>
            <a:pPr>
              <a:spcBef>
                <a:spcPct val="50000"/>
              </a:spcBef>
              <a:buClr>
                <a:schemeClr val="tx1"/>
              </a:buClr>
              <a:buNone/>
              <a:defRPr/>
            </a:pPr>
            <a:r>
              <a:rPr lang="en-US" altLang="zh-CN" sz="3200" dirty="0">
                <a:sym typeface="Wingdings" panose="05000000000000000000" pitchFamily="2" charset="2"/>
              </a:rPr>
              <a:t>3.4    </a:t>
            </a:r>
            <a:r>
              <a:rPr lang="zh-CN" altLang="en-US" sz="3200" dirty="0">
                <a:sym typeface="Wingdings" panose="05000000000000000000" pitchFamily="2" charset="2"/>
              </a:rPr>
              <a:t>空间滤波基础</a:t>
            </a:r>
          </a:p>
          <a:p>
            <a:pPr>
              <a:spcBef>
                <a:spcPct val="50000"/>
              </a:spcBef>
              <a:buClr>
                <a:schemeClr val="tx1"/>
              </a:buClr>
              <a:buNone/>
              <a:defRPr/>
            </a:pPr>
            <a:r>
              <a:rPr lang="en-US" altLang="zh-CN" sz="3200" dirty="0">
                <a:sym typeface="Wingdings" panose="05000000000000000000" pitchFamily="2" charset="2"/>
              </a:rPr>
              <a:t>3.5	</a:t>
            </a:r>
            <a:r>
              <a:rPr lang="zh-CN" altLang="en-US" sz="3200" dirty="0">
                <a:sym typeface="Wingdings" panose="05000000000000000000" pitchFamily="2" charset="2"/>
              </a:rPr>
              <a:t>空域平滑</a:t>
            </a:r>
          </a:p>
          <a:p>
            <a:pPr>
              <a:spcBef>
                <a:spcPct val="50000"/>
              </a:spcBef>
              <a:buClr>
                <a:schemeClr val="tx1"/>
              </a:buClr>
              <a:buNone/>
              <a:defRPr/>
            </a:pPr>
            <a:r>
              <a:rPr lang="en-US" altLang="zh-CN" sz="3200" dirty="0">
                <a:sym typeface="Wingdings" panose="05000000000000000000" pitchFamily="2" charset="2"/>
              </a:rPr>
              <a:t>3.6    </a:t>
            </a:r>
            <a:r>
              <a:rPr lang="zh-CN" altLang="en-US" sz="3200" dirty="0">
                <a:sym typeface="Wingdings" panose="05000000000000000000" pitchFamily="2" charset="2"/>
              </a:rPr>
              <a:t>空域锐化</a:t>
            </a:r>
          </a:p>
          <a:p>
            <a:pPr>
              <a:spcBef>
                <a:spcPct val="50000"/>
              </a:spcBef>
              <a:buClr>
                <a:schemeClr val="tx1"/>
              </a:buClr>
              <a:buNone/>
              <a:defRPr/>
            </a:pPr>
            <a:endParaRPr lang="zh-CN" altLang="en-US" sz="2800" dirty="0">
              <a:latin typeface="+mn-lt"/>
              <a:ea typeface="+mn-ea"/>
              <a:sym typeface="Wingdings" panose="05000000000000000000" pitchFamily="2" charset="2"/>
            </a:endParaRPr>
          </a:p>
          <a:p>
            <a:pPr>
              <a:spcBef>
                <a:spcPct val="50000"/>
              </a:spcBef>
              <a:buClr>
                <a:schemeClr val="tx1"/>
              </a:buClr>
              <a:buNone/>
              <a:defRPr/>
            </a:pPr>
            <a:endParaRPr kumimoji="1" lang="zh-CN" altLang="en-US" sz="2800" b="0" i="0" u="none" strike="noStrike" kern="0" cap="none" spc="0" normalizeH="0" baseline="0" noProof="0" dirty="0">
              <a:ln>
                <a:noFill/>
              </a:ln>
              <a:solidFill>
                <a:schemeClr val="tx1"/>
              </a:solidFill>
              <a:effectLst/>
              <a:uLnTx/>
              <a:uFillTx/>
              <a:latin typeface="+mn-ea"/>
              <a:ea typeface="+mn-ea"/>
              <a:cs typeface="+mn-cs"/>
              <a:sym typeface="+mn-ea"/>
            </a:endParaRPr>
          </a:p>
          <a:p>
            <a:pPr>
              <a:spcBef>
                <a:spcPct val="50000"/>
              </a:spcBef>
              <a:buClr>
                <a:schemeClr val="tx1"/>
              </a:buClr>
              <a:buNone/>
              <a:defRPr/>
            </a:pPr>
            <a:endParaRPr lang="en-US" altLang="zh-CN" sz="3200" dirty="0">
              <a:latin typeface="+mn-lt"/>
              <a:ea typeface="+mn-ea"/>
              <a:sym typeface="Wingdings" panose="05000000000000000000" pitchFamily="2" charset="2"/>
            </a:endParaRPr>
          </a:p>
        </p:txBody>
      </p:sp>
      <p:sp>
        <p:nvSpPr>
          <p:cNvPr id="2" name="灯片编号占位符 1">
            <a:extLst>
              <a:ext uri="{FF2B5EF4-FFF2-40B4-BE49-F238E27FC236}">
                <a16:creationId xmlns:a16="http://schemas.microsoft.com/office/drawing/2014/main" id="{1EC924A4-FBDC-4D2B-AB35-EE12977A131C}"/>
              </a:ext>
            </a:extLst>
          </p:cNvPr>
          <p:cNvSpPr>
            <a:spLocks noGrp="1"/>
          </p:cNvSpPr>
          <p:nvPr>
            <p:ph type="sldNum" sz="quarter" idx="12"/>
          </p:nvPr>
        </p:nvSpPr>
        <p:spPr/>
        <p:txBody>
          <a:bodyPr/>
          <a:lstStyle/>
          <a:p>
            <a:pPr>
              <a:defRPr/>
            </a:pPr>
            <a:fld id="{BE59E6E9-16BB-4D46-A8D6-97CC594B8C57}" type="slidenum">
              <a:rPr lang="en-US" altLang="zh-CN" smtClean="0"/>
              <a:pPr>
                <a:defRPr/>
              </a:pPr>
              <a:t>5</a:t>
            </a:fld>
            <a:endParaRPr lang="en-US" altLang="zh-CN"/>
          </a:p>
        </p:txBody>
      </p:sp>
    </p:spTree>
    <p:extLst>
      <p:ext uri="{BB962C8B-B14F-4D97-AF65-F5344CB8AC3E}">
        <p14:creationId xmlns:p14="http://schemas.microsoft.com/office/powerpoint/2010/main" val="138410658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mj-lt"/>
                <a:ea typeface="+mj-ea"/>
                <a:cs typeface="+mj-cs"/>
              </a:rPr>
              <a:t>常见灰度变换</a:t>
            </a:r>
          </a:p>
        </p:txBody>
      </p:sp>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灰度变换 </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m:t>
                        </m:r>
                      </m:e>
                    </m:d>
                  </m:oMath>
                </a14:m>
                <a:endParaRPr lang="en-US" altLang="zh-CN" b="0" dirty="0"/>
              </a:p>
              <a:p>
                <a:pPr lvl="1"/>
                <a14:m>
                  <m:oMath xmlns:m="http://schemas.openxmlformats.org/officeDocument/2006/math">
                    <m:r>
                      <a:rPr lang="en-US" altLang="zh-CN" i="1">
                        <a:latin typeface="Cambria Math" panose="02040503050406030204" pitchFamily="18" charset="0"/>
                      </a:rPr>
                      <m:t>𝑟</m:t>
                    </m:r>
                    <m:r>
                      <a:rPr lang="zh-CN" altLang="en-US" i="1" smtClean="0">
                        <a:latin typeface="Cambria Math" panose="02040503050406030204" pitchFamily="18" charset="0"/>
                      </a:rPr>
                      <m:t>为</m:t>
                    </m:r>
                  </m:oMath>
                </a14:m>
                <a:r>
                  <a:rPr lang="zh-CN" altLang="en-US" dirty="0"/>
                  <a:t>数字量且取值有限（</a:t>
                </a:r>
                <a:r>
                  <a:rPr lang="en-US" altLang="zh-CN" dirty="0"/>
                  <a:t>256</a:t>
                </a:r>
                <a:r>
                  <a:rPr lang="zh-CN" altLang="en-US" dirty="0"/>
                  <a:t>种），</a:t>
                </a:r>
                <a:r>
                  <a:rPr lang="zh-CN" altLang="en-US" b="1" dirty="0">
                    <a:solidFill>
                      <a:srgbClr val="0000FF"/>
                    </a:solidFill>
                  </a:rPr>
                  <a:t>该映射可通过查找表实现</a:t>
                </a:r>
                <a:endParaRPr lang="en-US" altLang="zh-CN" b="1" dirty="0">
                  <a:solidFill>
                    <a:srgbClr val="0000FF"/>
                  </a:solidFill>
                </a:endParaRPr>
              </a:p>
              <a:p>
                <a:pPr lvl="1"/>
                <a:r>
                  <a:rPr lang="zh-CN" altLang="en-US" b="1" dirty="0"/>
                  <a:t>单调性：保序变换（</a:t>
                </a:r>
                <a:r>
                  <a:rPr lang="en-US" altLang="zh-CN" b="1" dirty="0"/>
                  <a:t>rank-preserving</a:t>
                </a:r>
                <a:r>
                  <a:rPr lang="zh-CN" altLang="en-US" b="1" dirty="0"/>
                  <a:t>）</a:t>
                </a:r>
                <a:endParaRPr lang="en-US" altLang="zh-CN" b="1" dirty="0"/>
              </a:p>
              <a:p>
                <a:pPr lvl="2"/>
                <a:r>
                  <a:rPr lang="zh-CN" altLang="en-US" dirty="0"/>
                  <a:t>变换前后，</a:t>
                </a:r>
                <a:r>
                  <a:rPr lang="zh-CN" altLang="en-US" b="1" dirty="0"/>
                  <a:t>灰度级的相对大小</a:t>
                </a:r>
                <a:r>
                  <a:rPr lang="zh-CN" altLang="en-US" dirty="0"/>
                  <a:t>关系不变或正好相反</a:t>
                </a:r>
                <a:endParaRPr lang="en-US" altLang="zh-CN" dirty="0"/>
              </a:p>
              <a:p>
                <a:pPr lvl="1"/>
                <a:endParaRPr lang="en-US" altLang="zh-CN" b="1" dirty="0">
                  <a:solidFill>
                    <a:srgbClr val="FF0000"/>
                  </a:solidFill>
                </a:endParaRPr>
              </a:p>
            </p:txBody>
          </p:sp>
        </mc:Choice>
        <mc:Fallback>
          <p:sp>
            <p:nvSpPr>
              <p:cNvPr id="2" name="内容占位符 1"/>
              <p:cNvSpPr>
                <a:spLocks noGrp="1" noRot="1" noChangeAspect="1" noMove="1" noResize="1" noEditPoints="1" noAdjustHandles="1" noChangeArrowheads="1" noChangeShapeType="1" noTextEdit="1"/>
              </p:cNvSpPr>
              <p:nvPr>
                <p:ph idx="1"/>
              </p:nvPr>
            </p:nvSpPr>
            <p:spPr>
              <a:blipFill>
                <a:blip r:embed="rId2"/>
                <a:stretch>
                  <a:fillRect l="-1067" t="-1350"/>
                </a:stretch>
              </a:blipFill>
            </p:spPr>
            <p:txBody>
              <a:bodyPr/>
              <a:lstStyle/>
              <a:p>
                <a:r>
                  <a:rPr lang="zh-CN" altLang="en-US">
                    <a:noFill/>
                  </a:rPr>
                  <a:t> </a:t>
                </a:r>
              </a:p>
            </p:txBody>
          </p:sp>
        </mc:Fallback>
      </mc:AlternateContent>
      <p:sp>
        <p:nvSpPr>
          <p:cNvPr id="5123" name="灯片编号占位符 5"/>
          <p:cNvSpPr txBox="1">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613CB2C3-F95D-485F-8236-B28DE950A8DE}"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6</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11268" name="Picture 4"/>
          <p:cNvPicPr>
            <a:picLocks noChangeAspect="1"/>
          </p:cNvPicPr>
          <p:nvPr/>
        </p:nvPicPr>
        <p:blipFill rotWithShape="1">
          <a:blip r:embed="rId3"/>
          <a:srcRect l="26490"/>
          <a:stretch/>
        </p:blipFill>
        <p:spPr>
          <a:xfrm>
            <a:off x="2428966" y="2888940"/>
            <a:ext cx="4014696" cy="3906065"/>
          </a:xfrm>
          <a:prstGeom prst="rect">
            <a:avLst/>
          </a:prstGeom>
          <a:noFill/>
          <a:ln w="9525">
            <a:noFill/>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9"/>
          <p:cNvSpPr>
            <a:spLocks noGrp="1" noChangeArrowheads="1"/>
          </p:cNvSpPr>
          <p:nvPr>
            <p:ph type="title"/>
          </p:nvPr>
        </p:nvSpPr>
        <p:spPr/>
        <p:txBody>
          <a:bodyPr vert="horz" wrap="square" lIns="91440" tIns="45720" rIns="91440" bIns="45720" numCol="1" anchor="b" anchorCtr="0" compatLnSpc="1"/>
          <a:lstStyle/>
          <a:p>
            <a:pPr lvl="0">
              <a:defRPr/>
            </a:pPr>
            <a:r>
              <a:rPr lang="zh-CN" altLang="en-US" sz="3600" dirty="0"/>
              <a:t>常见灰度变换－</a:t>
            </a:r>
            <a:r>
              <a:rPr kumimoji="1" lang="zh-CN" altLang="en-US" sz="3600" b="0" i="0" u="none" strike="noStrike" kern="0" cap="none" spc="0" normalizeH="0" baseline="0" noProof="0" dirty="0">
                <a:ln>
                  <a:noFill/>
                </a:ln>
                <a:solidFill>
                  <a:schemeClr val="tx2"/>
                </a:solidFill>
                <a:effectLst/>
                <a:uLnTx/>
                <a:uFillTx/>
                <a:latin typeface="+mj-lt"/>
                <a:ea typeface="+mj-ea"/>
                <a:cs typeface="+mj-cs"/>
              </a:rPr>
              <a:t>图象求反</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灰度变换函数： </a:t>
                </a:r>
                <a14:m>
                  <m:oMath xmlns:m="http://schemas.openxmlformats.org/officeDocument/2006/math">
                    <m:r>
                      <a:rPr lang="en-US" altLang="zh-CN" i="1">
                        <a:latin typeface="Cambria Math" panose="02040503050406030204" pitchFamily="18" charset="0"/>
                      </a:rPr>
                      <m:t>𝑠</m:t>
                    </m:r>
                    <m:r>
                      <a:rPr lang="en-GB" altLang="zh-CN" i="1">
                        <a:latin typeface="Cambria Math" panose="02040503050406030204" pitchFamily="18" charset="0"/>
                      </a:rPr>
                      <m:t>=</m:t>
                    </m:r>
                    <m:r>
                      <a:rPr lang="en-US" altLang="zh-CN" i="1">
                        <a:latin typeface="Cambria Math" panose="02040503050406030204" pitchFamily="18" charset="0"/>
                      </a:rPr>
                      <m:t>𝐿</m:t>
                    </m:r>
                    <m:r>
                      <a:rPr lang="en-US" altLang="zh-CN" i="1">
                        <a:latin typeface="Cambria Math" panose="02040503050406030204" pitchFamily="18" charset="0"/>
                      </a:rPr>
                      <m:t>−1−</m:t>
                    </m:r>
                    <m:r>
                      <a:rPr lang="en-US" altLang="zh-CN" i="1">
                        <a:latin typeface="Cambria Math" panose="02040503050406030204" pitchFamily="18" charset="0"/>
                      </a:rPr>
                      <m:t>𝑟</m:t>
                    </m:r>
                  </m:oMath>
                </a14:m>
                <a:endParaRPr lang="zh-CN" altLang="en-US" dirty="0"/>
              </a:p>
              <a:p>
                <a:pPr lvl="1"/>
                <a:r>
                  <a:rPr lang="zh-CN" altLang="en-US" dirty="0"/>
                  <a:t>适用于增强嵌入图像暗色区域中的白色或灰色细节</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1067" t="-1350"/>
                </a:stretch>
              </a:blipFill>
            </p:spPr>
            <p:txBody>
              <a:bodyPr/>
              <a:lstStyle/>
              <a:p>
                <a:r>
                  <a:rPr lang="zh-CN" altLang="en-US">
                    <a:noFill/>
                  </a:rPr>
                  <a:t> </a:t>
                </a:r>
              </a:p>
            </p:txBody>
          </p:sp>
        </mc:Fallback>
      </mc:AlternateContent>
      <p:sp>
        <p:nvSpPr>
          <p:cNvPr id="6147" name="灯片编号占位符 5"/>
          <p:cNvSpPr txBox="1">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44C00794-A206-49CF-8A9C-9123848563EA}"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7</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sp>
        <p:nvSpPr>
          <p:cNvPr id="104466" name="Rectangle 18"/>
          <p:cNvSpPr>
            <a:spLocks noChangeArrowheads="1"/>
          </p:cNvSpPr>
          <p:nvPr/>
        </p:nvSpPr>
        <p:spPr bwMode="auto">
          <a:xfrm>
            <a:off x="250825" y="404813"/>
            <a:ext cx="5761038" cy="990600"/>
          </a:xfrm>
          <a:prstGeom prst="rect">
            <a:avLst/>
          </a:prstGeom>
          <a:noFill/>
          <a:ln w="9525">
            <a:noFill/>
            <a:miter lim="800000"/>
          </a:ln>
          <a:effectLst/>
        </p:spPr>
        <p:txBody>
          <a:bodyPr lIns="92075" tIns="46038" rIns="92075" bIns="46038"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3600" b="1"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pic>
        <p:nvPicPr>
          <p:cNvPr id="12294" name="Picture 21"/>
          <p:cNvPicPr>
            <a:picLocks noChangeAspect="1"/>
          </p:cNvPicPr>
          <p:nvPr/>
        </p:nvPicPr>
        <p:blipFill>
          <a:blip r:embed="rId4"/>
          <a:stretch>
            <a:fillRect/>
          </a:stretch>
        </p:blipFill>
        <p:spPr>
          <a:xfrm>
            <a:off x="678180" y="2476183"/>
            <a:ext cx="7793990" cy="3693795"/>
          </a:xfrm>
          <a:prstGeom prst="rect">
            <a:avLst/>
          </a:prstGeom>
          <a:noFill/>
          <a:ln w="9525">
            <a:noFill/>
          </a:ln>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
          <p:cNvSpPr>
            <a:spLocks noGrp="1" noChangeArrowheads="1"/>
          </p:cNvSpPr>
          <p:nvPr>
            <p:ph type="title"/>
          </p:nvPr>
        </p:nvSpPr>
        <p:spPr/>
        <p:txBody>
          <a:bodyPr vert="horz" wrap="square" lIns="91440" tIns="45720" rIns="91440" bIns="45720" numCol="1" anchor="b" anchorCtr="0" compatLnSpc="1"/>
          <a:lstStyle/>
          <a:p>
            <a:pPr lvl="0">
              <a:defRPr/>
            </a:pPr>
            <a:r>
              <a:rPr lang="zh-CN" altLang="en-US" sz="3600" dirty="0"/>
              <a:t>常见灰度变换－</a:t>
            </a:r>
            <a:r>
              <a:rPr kumimoji="1" lang="zh-CN" altLang="en-US" sz="3600" b="0" i="0" u="none" strike="noStrike" kern="0" cap="none" spc="0" normalizeH="0" baseline="0" noProof="0" dirty="0">
                <a:ln>
                  <a:noFill/>
                </a:ln>
                <a:solidFill>
                  <a:schemeClr val="tx2"/>
                </a:solidFill>
                <a:effectLst/>
                <a:uLnTx/>
                <a:uFillTx/>
                <a:latin typeface="Arial" panose="020B0604020202020204" pitchFamily="34" charset="0"/>
                <a:ea typeface="+mj-ea"/>
                <a:cs typeface="Arial" panose="020B0604020202020204" pitchFamily="34" charset="0"/>
              </a:rPr>
              <a:t>对数变换</a:t>
            </a:r>
          </a:p>
        </p:txBody>
      </p:sp>
      <p:graphicFrame>
        <p:nvGraphicFramePr>
          <p:cNvPr id="13315" name="Object 7"/>
          <p:cNvGraphicFramePr>
            <a:graphicFrameLocks noGrp="1"/>
          </p:cNvGraphicFramePr>
          <p:nvPr>
            <p:ph idx="1"/>
          </p:nvPr>
        </p:nvGraphicFramePr>
        <p:xfrm>
          <a:off x="4116388" y="3722688"/>
          <a:ext cx="901700" cy="203200"/>
        </p:xfrm>
        <a:graphic>
          <a:graphicData uri="http://schemas.openxmlformats.org/presentationml/2006/ole">
            <mc:AlternateContent xmlns:mc="http://schemas.openxmlformats.org/markup-compatibility/2006">
              <mc:Choice xmlns:v="urn:schemas-microsoft-com:vml" Requires="v">
                <p:oleObj spid="_x0000_s3244" r:id="rId4" imgW="901309" imgH="203112" progId="">
                  <p:embed/>
                </p:oleObj>
              </mc:Choice>
              <mc:Fallback>
                <p:oleObj r:id="rId4" imgW="901309" imgH="203112" progId="">
                  <p:embed/>
                  <p:pic>
                    <p:nvPicPr>
                      <p:cNvPr id="0" name="Picture 4" descr="image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6388" y="3722688"/>
                        <a:ext cx="901700" cy="203200"/>
                      </a:xfrm>
                      <a:prstGeom prst="rect">
                        <a:avLst/>
                      </a:prstGeom>
                      <a:solidFill>
                        <a:srgbClr val="0000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72" name="灯片编号占位符 5"/>
          <p:cNvSpPr txBox="1">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6E88FA2C-6395-4432-9CC6-B6F8E09B48E3}"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8</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13317" name="Picture 4"/>
          <p:cNvPicPr>
            <a:picLocks noChangeAspect="1"/>
          </p:cNvPicPr>
          <p:nvPr/>
        </p:nvPicPr>
        <p:blipFill>
          <a:blip r:embed="rId6"/>
          <a:stretch>
            <a:fillRect/>
          </a:stretch>
        </p:blipFill>
        <p:spPr>
          <a:xfrm>
            <a:off x="1115616" y="3614601"/>
            <a:ext cx="7786583" cy="3131201"/>
          </a:xfrm>
          <a:prstGeom prst="rect">
            <a:avLst/>
          </a:prstGeom>
          <a:noFill/>
          <a:ln w="9525">
            <a:noFill/>
          </a:ln>
        </p:spPr>
      </p:pic>
      <mc:AlternateContent xmlns:mc="http://schemas.openxmlformats.org/markup-compatibility/2006">
        <mc:Choice xmlns:a14="http://schemas.microsoft.com/office/drawing/2010/main" Requires="a14">
          <p:sp>
            <p:nvSpPr>
              <p:cNvPr id="8" name="内容占位符 2"/>
              <p:cNvSpPr txBox="1">
                <a:spLocks/>
              </p:cNvSpPr>
              <p:nvPr/>
            </p:nvSpPr>
            <p:spPr bwMode="auto">
              <a:xfrm>
                <a:off x="566738" y="1341438"/>
                <a:ext cx="8001000" cy="143948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lstStyle>
                <a:lvl1pPr marL="469900" indent="-469900" algn="l" rtl="0" fontAlgn="base">
                  <a:spcBef>
                    <a:spcPct val="20000"/>
                  </a:spcBef>
                  <a:spcAft>
                    <a:spcPct val="0"/>
                  </a:spcAft>
                  <a:buClr>
                    <a:srgbClr val="3399FF"/>
                  </a:buClr>
                  <a:buFont typeface="Wingdings" panose="05000000000000000000" charset="0"/>
                  <a:buChar char="o"/>
                  <a:defRPr kumimoji="1" lang="zh-CN" altLang="en-US" sz="2400" dirty="0" smtClean="0">
                    <a:solidFill>
                      <a:schemeClr val="tx1"/>
                    </a:solidFill>
                    <a:latin typeface="+mn-lt"/>
                    <a:ea typeface="+mn-ea"/>
                    <a:cs typeface="+mn-cs"/>
                  </a:defRPr>
                </a:lvl1pPr>
                <a:lvl2pPr marL="908050" indent="-436880" algn="l" rtl="0" fontAlgn="base">
                  <a:spcBef>
                    <a:spcPct val="20000"/>
                  </a:spcBef>
                  <a:spcAft>
                    <a:spcPct val="0"/>
                  </a:spcAft>
                  <a:buClr>
                    <a:srgbClr val="3399FF"/>
                  </a:buClr>
                  <a:buFont typeface="Wingdings" panose="05000000000000000000" charset="0"/>
                  <a:buChar char="n"/>
                  <a:defRPr kumimoji="1" lang="zh-CN" altLang="en-US" sz="2000" dirty="0" smtClean="0">
                    <a:solidFill>
                      <a:schemeClr val="tx1"/>
                    </a:solidFill>
                    <a:latin typeface="+mn-lt"/>
                    <a:ea typeface="+mn-ea"/>
                    <a:cs typeface="+mn-cs"/>
                  </a:defRPr>
                </a:lvl2pPr>
                <a:lvl3pPr marL="1304925" indent="-395605" algn="l" rtl="0" fontAlgn="base">
                  <a:spcBef>
                    <a:spcPct val="20000"/>
                  </a:spcBef>
                  <a:spcAft>
                    <a:spcPct val="0"/>
                  </a:spcAft>
                  <a:buClr>
                    <a:srgbClr val="3399FF"/>
                  </a:buClr>
                  <a:buFont typeface="Wingdings" panose="05000000000000000000" pitchFamily="2" charset="2"/>
                  <a:buChar char="ü"/>
                  <a:defRPr kumimoji="1" lang="zh-CN" altLang="en-US" dirty="0" smtClean="0">
                    <a:solidFill>
                      <a:schemeClr val="tx1"/>
                    </a:solidFill>
                    <a:latin typeface="+mn-lt"/>
                    <a:ea typeface="+mn-ea"/>
                    <a:cs typeface="+mn-cs"/>
                  </a:defRPr>
                </a:lvl3pPr>
                <a:lvl4pPr marL="1694180" indent="-387350" algn="l" rtl="0" fontAlgn="base">
                  <a:spcBef>
                    <a:spcPct val="20000"/>
                  </a:spcBef>
                  <a:spcAft>
                    <a:spcPct val="0"/>
                  </a:spcAft>
                  <a:buClr>
                    <a:srgbClr val="3399FF"/>
                  </a:buClr>
                  <a:buFont typeface="Wingdings" panose="05000000000000000000" pitchFamily="2" charset="2"/>
                  <a:buChar char="Ø"/>
                  <a:defRPr kumimoji="1" lang="zh-CN" altLang="en-US" sz="1600" dirty="0" smtClean="0">
                    <a:solidFill>
                      <a:schemeClr val="tx1"/>
                    </a:solidFill>
                    <a:latin typeface="+mn-lt"/>
                    <a:ea typeface="+mn-ea"/>
                    <a:cs typeface="+mn-cs"/>
                  </a:defRPr>
                </a:lvl4pPr>
                <a:lvl5pPr marL="2094230" indent="-398780" algn="l" rtl="0" fontAlgn="base">
                  <a:spcBef>
                    <a:spcPct val="20000"/>
                  </a:spcBef>
                  <a:spcAft>
                    <a:spcPct val="0"/>
                  </a:spcAft>
                  <a:buClr>
                    <a:srgbClr val="3399FF"/>
                  </a:buClr>
                  <a:buFont typeface="Wingdings" panose="05000000000000000000" pitchFamily="2" charset="2"/>
                  <a:buChar char="l"/>
                  <a:defRPr kumimoji="1" lang="zh-CN" altLang="en-US" sz="1600" dirty="0">
                    <a:solidFill>
                      <a:schemeClr val="tx1"/>
                    </a:solidFill>
                    <a:latin typeface="+mn-lt"/>
                    <a:ea typeface="+mn-ea"/>
                    <a:cs typeface="+mn-cs"/>
                  </a:defRPr>
                </a:lvl5pPr>
                <a:lvl6pPr marL="25514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6pPr>
                <a:lvl7pPr marL="30086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7pPr>
                <a:lvl8pPr marL="34658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8pPr>
                <a:lvl9pPr marL="39230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9pPr>
              </a:lstStyle>
              <a:p>
                <a:r>
                  <a:rPr lang="zh-CN" altLang="en-US" dirty="0"/>
                  <a:t>灰度变换函数：</a:t>
                </a:r>
                <a:endParaRPr lang="en-US" altLang="zh-CN" dirty="0"/>
              </a:p>
              <a:p>
                <a:pPr lvl="1"/>
                <a:r>
                  <a:rPr lang="zh-CN" altLang="en-US" dirty="0"/>
                  <a:t> </a:t>
                </a:r>
                <a14:m>
                  <m:oMath xmlns:m="http://schemas.openxmlformats.org/officeDocument/2006/math">
                    <m:r>
                      <a:rPr lang="en-US" altLang="zh-CN" sz="2400" i="1">
                        <a:latin typeface="Cambria Math" panose="02040503050406030204" pitchFamily="18" charset="0"/>
                      </a:rPr>
                      <m:t>𝑠</m:t>
                    </m:r>
                    <m:r>
                      <a:rPr lang="en-GB" altLang="zh-CN" sz="2400" i="1">
                        <a:latin typeface="Cambria Math" panose="02040503050406030204" pitchFamily="18" charset="0"/>
                      </a:rPr>
                      <m:t>=</m:t>
                    </m:r>
                    <m:r>
                      <a:rPr lang="en-US" altLang="zh-CN" sz="2400" i="1">
                        <a:latin typeface="Cambria Math" panose="02040503050406030204" pitchFamily="18" charset="0"/>
                      </a:rPr>
                      <m:t>𝑐</m:t>
                    </m:r>
                    <m:r>
                      <a:rPr lang="en-US" altLang="zh-CN" sz="2400" i="1">
                        <a:latin typeface="Cambria Math" panose="02040503050406030204" pitchFamily="18" charset="0"/>
                        <a:ea typeface="Cambria Math" panose="02040503050406030204" pitchFamily="18" charset="0"/>
                      </a:rPr>
                      <m:t>∙</m:t>
                    </m:r>
                    <m:r>
                      <m:rPr>
                        <m:sty m:val="p"/>
                      </m:rPr>
                      <a:rPr lang="en-US" altLang="zh-CN" sz="2400">
                        <a:latin typeface="Cambria Math" panose="02040503050406030204" pitchFamily="18" charset="0"/>
                      </a:rPr>
                      <m:t>log</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1+</m:t>
                        </m:r>
                        <m:r>
                          <a:rPr lang="en-US" altLang="zh-CN" sz="2400" i="1">
                            <a:latin typeface="Cambria Math" panose="02040503050406030204" pitchFamily="18" charset="0"/>
                          </a:rPr>
                          <m:t>𝑟</m:t>
                        </m:r>
                      </m:e>
                    </m:d>
                  </m:oMath>
                </a14:m>
                <a:endParaRPr lang="en-US" altLang="zh-CN" sz="2400" dirty="0"/>
              </a:p>
              <a:p>
                <a:pPr lvl="1"/>
                <a:r>
                  <a:rPr lang="zh-CN" altLang="en-US" dirty="0"/>
                  <a:t>为了用灰度图像显示，需对新值域线性变换</a:t>
                </a:r>
              </a:p>
            </p:txBody>
          </p:sp>
        </mc:Choice>
        <mc:Fallback>
          <p:sp>
            <p:nvSpPr>
              <p:cNvPr id="8" name="内容占位符 2"/>
              <p:cNvSpPr txBox="1">
                <a:spLocks noRot="1" noChangeAspect="1" noMove="1" noResize="1" noEditPoints="1" noAdjustHandles="1" noChangeArrowheads="1" noChangeShapeType="1" noTextEdit="1"/>
              </p:cNvSpPr>
              <p:nvPr/>
            </p:nvSpPr>
            <p:spPr bwMode="auto">
              <a:xfrm>
                <a:off x="566738" y="1341438"/>
                <a:ext cx="8001000" cy="1439489"/>
              </a:xfrm>
              <a:prstGeom prst="rect">
                <a:avLst/>
              </a:prstGeom>
              <a:blipFill>
                <a:blip r:embed="rId7"/>
                <a:stretch>
                  <a:fillRect l="-1067" t="-46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zh-CN" altLang="en-US">
                    <a:noFill/>
                  </a:rPr>
                  <a:t> </a:t>
                </a:r>
              </a:p>
            </p:txBody>
          </p:sp>
        </mc:Fallback>
      </mc:AlternateContent>
      <p:pic>
        <p:nvPicPr>
          <p:cNvPr id="7" name="Picture 4">
            <a:extLst>
              <a:ext uri="{FF2B5EF4-FFF2-40B4-BE49-F238E27FC236}">
                <a16:creationId xmlns:a16="http://schemas.microsoft.com/office/drawing/2014/main" id="{4603CC2C-A377-4F2E-B4A2-BC6745174176}"/>
              </a:ext>
            </a:extLst>
          </p:cNvPr>
          <p:cNvPicPr>
            <a:picLocks noChangeAspect="1"/>
          </p:cNvPicPr>
          <p:nvPr/>
        </p:nvPicPr>
        <p:blipFill rotWithShape="1">
          <a:blip r:embed="rId8"/>
          <a:srcRect l="26490"/>
          <a:stretch/>
        </p:blipFill>
        <p:spPr>
          <a:xfrm>
            <a:off x="6441646" y="1214507"/>
            <a:ext cx="2466842" cy="2400094"/>
          </a:xfrm>
          <a:prstGeom prst="rect">
            <a:avLst/>
          </a:prstGeom>
          <a:noFill/>
          <a:ln w="9525">
            <a:noFill/>
          </a:ln>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mj-lt"/>
                <a:ea typeface="+mj-ea"/>
                <a:cs typeface="+mj-cs"/>
              </a:rPr>
              <a:t>常见灰度变换－指数变换</a:t>
            </a:r>
          </a:p>
        </p:txBody>
      </p:sp>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D45FC0D0-EC64-4F63-A9B5-2B5D1D12FB05}"/>
                  </a:ext>
                </a:extLst>
              </p:cNvPr>
              <p:cNvSpPr>
                <a:spLocks noGrp="1"/>
              </p:cNvSpPr>
              <p:nvPr>
                <p:ph idx="1"/>
              </p:nvPr>
            </p:nvSpPr>
            <p:spPr/>
            <p:txBody>
              <a:bodyPr/>
              <a:lstStyle/>
              <a:p>
                <a:r>
                  <a:rPr lang="zh-CN" altLang="en-US" sz="2400" b="0" dirty="0"/>
                  <a:t>灰度</a:t>
                </a:r>
                <a:r>
                  <a:rPr lang="zh-CN" altLang="en-US" sz="2400" dirty="0"/>
                  <a:t>变换函数： </a:t>
                </a:r>
                <a14:m>
                  <m:oMath xmlns:m="http://schemas.openxmlformats.org/officeDocument/2006/math">
                    <m:r>
                      <a:rPr lang="en-US" altLang="zh-CN" sz="2400" b="0" i="1" smtClean="0">
                        <a:latin typeface="Cambria Math" panose="02040503050406030204" pitchFamily="18" charset="0"/>
                      </a:rPr>
                      <m:t>𝑠</m:t>
                    </m:r>
                    <m:r>
                      <a:rPr lang="en-GB" altLang="zh-CN" sz="2400" i="1" smtClean="0">
                        <a:latin typeface="Cambria Math" panose="02040503050406030204" pitchFamily="18" charset="0"/>
                      </a:rPr>
                      <m:t>=</m:t>
                    </m:r>
                    <m:r>
                      <a:rPr lang="en-US" altLang="zh-CN" sz="2400" b="0" i="1" smtClean="0">
                        <a:latin typeface="Cambria Math" panose="02040503050406030204" pitchFamily="18" charset="0"/>
                      </a:rPr>
                      <m:t>𝑐</m:t>
                    </m:r>
                    <m:r>
                      <a:rPr lang="en-US" altLang="zh-CN" sz="2400" b="0" i="1" smtClean="0">
                        <a:latin typeface="Cambria Math" panose="02040503050406030204" pitchFamily="18" charset="0"/>
                        <a:ea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𝑟</m:t>
                        </m:r>
                      </m:e>
                      <m:sup>
                        <m:r>
                          <a:rPr lang="zh-CN" altLang="en-US" sz="2400" b="0" i="1" smtClean="0">
                            <a:latin typeface="Cambria Math" panose="02040503050406030204" pitchFamily="18" charset="0"/>
                          </a:rPr>
                          <m:t>𝛾</m:t>
                        </m:r>
                      </m:sup>
                    </m:sSup>
                  </m:oMath>
                </a14:m>
                <a:endParaRPr lang="zh-CN" altLang="en-US" sz="2400" dirty="0"/>
              </a:p>
              <a:p>
                <a:endParaRPr lang="zh-CN" altLang="en-US" dirty="0"/>
              </a:p>
            </p:txBody>
          </p:sp>
        </mc:Choice>
        <mc:Fallback>
          <p:sp>
            <p:nvSpPr>
              <p:cNvPr id="2" name="内容占位符 1">
                <a:extLst>
                  <a:ext uri="{FF2B5EF4-FFF2-40B4-BE49-F238E27FC236}">
                    <a16:creationId xmlns:a16="http://schemas.microsoft.com/office/drawing/2014/main" id="{D45FC0D0-EC64-4F63-A9B5-2B5D1D12FB05}"/>
                  </a:ext>
                </a:extLst>
              </p:cNvPr>
              <p:cNvSpPr>
                <a:spLocks noGrp="1" noRot="1" noChangeAspect="1" noMove="1" noResize="1" noEditPoints="1" noAdjustHandles="1" noChangeArrowheads="1" noChangeShapeType="1" noTextEdit="1"/>
              </p:cNvSpPr>
              <p:nvPr>
                <p:ph idx="1"/>
              </p:nvPr>
            </p:nvSpPr>
            <p:spPr>
              <a:blipFill>
                <a:blip r:embed="rId2"/>
                <a:stretch>
                  <a:fillRect l="-1067" t="-1350"/>
                </a:stretch>
              </a:blipFill>
            </p:spPr>
            <p:txBody>
              <a:bodyPr/>
              <a:lstStyle/>
              <a:p>
                <a:r>
                  <a:rPr lang="zh-CN" altLang="en-US">
                    <a:noFill/>
                  </a:rPr>
                  <a:t> </a:t>
                </a:r>
              </a:p>
            </p:txBody>
          </p:sp>
        </mc:Fallback>
      </mc:AlternateContent>
      <p:sp>
        <p:nvSpPr>
          <p:cNvPr id="9219" name="灯片编号占位符 5"/>
          <p:cNvSpPr txBox="1">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D441C1D9-366E-4882-8ABD-5AC652469CA2}"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9</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15364" name="Picture 4"/>
          <p:cNvPicPr>
            <a:picLocks noChangeAspect="1"/>
          </p:cNvPicPr>
          <p:nvPr/>
        </p:nvPicPr>
        <p:blipFill>
          <a:blip r:embed="rId3"/>
          <a:stretch>
            <a:fillRect/>
          </a:stretch>
        </p:blipFill>
        <p:spPr>
          <a:xfrm>
            <a:off x="1583668" y="2073738"/>
            <a:ext cx="6516184" cy="4631862"/>
          </a:xfrm>
          <a:prstGeom prst="rect">
            <a:avLst/>
          </a:prstGeom>
          <a:noFill/>
          <a:ln w="9525">
            <a:noFill/>
          </a:ln>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vert="horz" wrap="square" lIns="91440" tIns="45720" rIns="91440" bIns="45720" numCol="1" anchor="b" anchorCtr="0" compatLnSpc="1"/>
          <a:lstStyle/>
          <a:p>
            <a:pPr lvl="0">
              <a:defRPr/>
            </a:pPr>
            <a:r>
              <a:rPr lang="zh-CN" altLang="en-US" sz="3600" dirty="0"/>
              <a:t>指数变换－伽</a:t>
            </a:r>
            <a:r>
              <a:rPr kumimoji="1" lang="zh-CN" altLang="en-US" sz="3600" b="0" i="0" u="none" strike="noStrike" kern="0" cap="none" spc="0" normalizeH="0" baseline="0" noProof="0" dirty="0">
                <a:ln>
                  <a:noFill/>
                </a:ln>
                <a:solidFill>
                  <a:schemeClr val="tx2"/>
                </a:solidFill>
                <a:effectLst/>
                <a:uLnTx/>
                <a:uFillTx/>
                <a:latin typeface="+mj-lt"/>
                <a:ea typeface="+mj-ea"/>
                <a:cs typeface="+mj-cs"/>
              </a:rPr>
              <a:t>马校正</a:t>
            </a:r>
          </a:p>
        </p:txBody>
      </p:sp>
      <p:sp>
        <p:nvSpPr>
          <p:cNvPr id="10243" name="灯片编号占位符 5"/>
          <p:cNvSpPr txBox="1">
            <a:spLocks noGrp="1"/>
          </p:cNvSpPr>
          <p:nvPr>
            <p:ph type="sldNum" sz="quarter" idx="4"/>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3E8D0662-D20C-4360-AE3B-8531C47EB56B}"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10</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16388" name="Picture 4"/>
          <p:cNvPicPr>
            <a:picLocks noChangeAspect="1"/>
          </p:cNvPicPr>
          <p:nvPr/>
        </p:nvPicPr>
        <p:blipFill>
          <a:blip r:embed="rId3"/>
          <a:stretch>
            <a:fillRect/>
          </a:stretch>
        </p:blipFill>
        <p:spPr>
          <a:xfrm>
            <a:off x="1040318" y="1736812"/>
            <a:ext cx="7351395" cy="5040630"/>
          </a:xfrm>
          <a:prstGeom prst="rect">
            <a:avLst/>
          </a:prstGeom>
          <a:noFill/>
          <a:ln w="9525">
            <a:noFill/>
          </a:ln>
        </p:spPr>
      </p:pic>
      <p:sp>
        <p:nvSpPr>
          <p:cNvPr id="2" name="文本框 1"/>
          <p:cNvSpPr txBox="1"/>
          <p:nvPr/>
        </p:nvSpPr>
        <p:spPr>
          <a:xfrm>
            <a:off x="4788024" y="1772816"/>
            <a:ext cx="792088" cy="369332"/>
          </a:xfrm>
          <a:prstGeom prst="rect">
            <a:avLst/>
          </a:prstGeom>
          <a:noFill/>
        </p:spPr>
        <p:txBody>
          <a:bodyPr wrap="square" rtlCol="0">
            <a:spAutoFit/>
          </a:bodyPr>
          <a:lstStyle/>
          <a:p>
            <a:pPr>
              <a:buNone/>
            </a:pPr>
            <a:r>
              <a:rPr lang="el-GR" altLang="zh-CN" b="1" dirty="0"/>
              <a:t>γ</a:t>
            </a:r>
            <a:r>
              <a:rPr lang="en-US" altLang="zh-CN" b="1" dirty="0"/>
              <a:t>=2.5</a:t>
            </a:r>
            <a:endParaRPr lang="zh-CN" altLang="en-US" b="1" dirty="0"/>
          </a:p>
        </p:txBody>
      </p:sp>
      <p:sp>
        <p:nvSpPr>
          <p:cNvPr id="6" name="文本框 5"/>
          <p:cNvSpPr txBox="1"/>
          <p:nvPr/>
        </p:nvSpPr>
        <p:spPr>
          <a:xfrm>
            <a:off x="4716016" y="4679848"/>
            <a:ext cx="792088" cy="369332"/>
          </a:xfrm>
          <a:prstGeom prst="rect">
            <a:avLst/>
          </a:prstGeom>
          <a:noFill/>
        </p:spPr>
        <p:txBody>
          <a:bodyPr wrap="square" rtlCol="0">
            <a:spAutoFit/>
          </a:bodyPr>
          <a:lstStyle/>
          <a:p>
            <a:pPr>
              <a:buNone/>
            </a:pPr>
            <a:r>
              <a:rPr lang="el-GR" altLang="zh-CN" b="1" dirty="0"/>
              <a:t>γ</a:t>
            </a:r>
            <a:r>
              <a:rPr lang="en-US" altLang="zh-CN" b="1" dirty="0"/>
              <a:t>=0.4</a:t>
            </a:r>
            <a:endParaRPr lang="zh-CN" altLang="en-US" b="1" dirty="0"/>
          </a:p>
        </p:txBody>
      </p:sp>
      <p:sp>
        <p:nvSpPr>
          <p:cNvPr id="8" name="文本框 7">
            <a:extLst>
              <a:ext uri="{FF2B5EF4-FFF2-40B4-BE49-F238E27FC236}">
                <a16:creationId xmlns:a16="http://schemas.microsoft.com/office/drawing/2014/main" id="{0E57DB24-147E-47CC-A572-2C9D8FA1A520}"/>
              </a:ext>
            </a:extLst>
          </p:cNvPr>
          <p:cNvSpPr txBox="1"/>
          <p:nvPr/>
        </p:nvSpPr>
        <p:spPr>
          <a:xfrm>
            <a:off x="787524" y="1272493"/>
            <a:ext cx="8001000" cy="338554"/>
          </a:xfrm>
          <a:prstGeom prst="rect">
            <a:avLst/>
          </a:prstGeom>
          <a:noFill/>
        </p:spPr>
        <p:txBody>
          <a:bodyPr wrap="square">
            <a:spAutoFit/>
          </a:bodyPr>
          <a:lstStyle/>
          <a:p>
            <a:pPr>
              <a:buNone/>
            </a:pPr>
            <a:r>
              <a:rPr lang="zh-CN" altLang="en-US" sz="1600" dirty="0">
                <a:cs typeface="Times New Roman" panose="02020603050405020304" charset="0"/>
              </a:rPr>
              <a:t>阴极射线管</a:t>
            </a:r>
            <a:r>
              <a:rPr lang="en-US" altLang="zh-CN" sz="1600" dirty="0">
                <a:cs typeface="Times New Roman" panose="02020603050405020304" charset="0"/>
              </a:rPr>
              <a:t>(CRT)</a:t>
            </a:r>
            <a:r>
              <a:rPr lang="zh-CN" altLang="en-US" sz="1600" dirty="0">
                <a:cs typeface="Times New Roman" panose="02020603050405020304" charset="0"/>
              </a:rPr>
              <a:t>设备有一个灰度</a:t>
            </a:r>
            <a:r>
              <a:rPr lang="en-US" altLang="zh-CN" sz="1600" dirty="0">
                <a:cs typeface="Times New Roman" panose="02020603050405020304" charset="0"/>
              </a:rPr>
              <a:t>-</a:t>
            </a:r>
            <a:r>
              <a:rPr lang="zh-CN" altLang="en-US" sz="1600" dirty="0">
                <a:cs typeface="Times New Roman" panose="02020603050405020304" charset="0"/>
              </a:rPr>
              <a:t>电压响应，是一个指数变化范围约为</a:t>
            </a:r>
            <a:r>
              <a:rPr lang="en-US" altLang="zh-CN" sz="1600" dirty="0">
                <a:cs typeface="Times New Roman" panose="02020603050405020304" charset="0"/>
              </a:rPr>
              <a:t>1.8~2.5</a:t>
            </a:r>
            <a:r>
              <a:rPr lang="zh-CN" altLang="en-US" sz="1600" dirty="0">
                <a:cs typeface="Times New Roman" panose="02020603050405020304" charset="0"/>
              </a:rPr>
              <a:t>的幂函数</a:t>
            </a:r>
            <a:endParaRPr lang="zh-CN" altLang="en-US" sz="16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灯片编号占位符 5"/>
          <p:cNvSpPr txBox="1">
            <a:spLocks noGrp="1"/>
          </p:cNvSpPr>
          <p:nvPr>
            <p:ph type="sldNum" sz="quarter" idx="4"/>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F458176C-EDE3-4261-9D0C-E6EE65763F05}"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11</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18435" name="Picture 4"/>
          <p:cNvPicPr>
            <a:picLocks noChangeAspect="1"/>
          </p:cNvPicPr>
          <p:nvPr/>
        </p:nvPicPr>
        <p:blipFill>
          <a:blip r:embed="rId2"/>
          <a:stretch>
            <a:fillRect/>
          </a:stretch>
        </p:blipFill>
        <p:spPr>
          <a:xfrm>
            <a:off x="1170940" y="289560"/>
            <a:ext cx="6017260" cy="6271895"/>
          </a:xfrm>
          <a:prstGeom prst="rect">
            <a:avLst/>
          </a:prstGeom>
          <a:noFill/>
          <a:ln w="9525">
            <a:noFill/>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灯片编号占位符 3"/>
          <p:cNvSpPr txBox="1">
            <a:spLocks noGrp="1"/>
          </p:cNvSpPr>
          <p:nvPr>
            <p:ph type="sldNum" sz="quarter" idx="4"/>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71B53D06-33E6-4895-959C-20BB56F45E8A}"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12</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19459" name="Picture 4"/>
          <p:cNvPicPr>
            <a:picLocks noChangeAspect="1"/>
          </p:cNvPicPr>
          <p:nvPr/>
        </p:nvPicPr>
        <p:blipFill>
          <a:blip r:embed="rId2"/>
          <a:stretch>
            <a:fillRect/>
          </a:stretch>
        </p:blipFill>
        <p:spPr>
          <a:xfrm>
            <a:off x="645160" y="400050"/>
            <a:ext cx="7522845" cy="6031230"/>
          </a:xfrm>
          <a:prstGeom prst="rect">
            <a:avLst/>
          </a:prstGeom>
          <a:noFill/>
          <a:ln w="9525">
            <a:noFill/>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Arial" panose="020B0604020202020204" pitchFamily="34" charset="0"/>
                <a:ea typeface="+mj-ea"/>
                <a:cs typeface="Arial" panose="020B0604020202020204" pitchFamily="34" charset="0"/>
              </a:rPr>
              <a:t>分段线性变换函数－对比度拉伸</a:t>
            </a:r>
          </a:p>
        </p:txBody>
      </p:sp>
      <p:sp>
        <p:nvSpPr>
          <p:cNvPr id="14339" name="灯片编号占位符 5"/>
          <p:cNvSpPr txBox="1">
            <a:spLocks noGrp="1"/>
          </p:cNvSpPr>
          <p:nvPr>
            <p:ph type="sldNum" sz="quarter" idx="4"/>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FBBA06E2-3348-4519-AAA6-555BAD53860B}"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13</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20484" name="Picture 4"/>
          <p:cNvPicPr>
            <a:picLocks noChangeAspect="1"/>
          </p:cNvPicPr>
          <p:nvPr/>
        </p:nvPicPr>
        <p:blipFill>
          <a:blip r:embed="rId2"/>
          <a:stretch>
            <a:fillRect/>
          </a:stretch>
        </p:blipFill>
        <p:spPr>
          <a:xfrm>
            <a:off x="1187450" y="1341438"/>
            <a:ext cx="6624638" cy="5334000"/>
          </a:xfrm>
          <a:prstGeom prst="rect">
            <a:avLst/>
          </a:prstGeom>
          <a:noFill/>
          <a:ln w="9525">
            <a:noFill/>
          </a:ln>
        </p:spPr>
      </p:pic>
      <p:cxnSp>
        <p:nvCxnSpPr>
          <p:cNvPr id="5" name="直接连接符 4"/>
          <p:cNvCxnSpPr/>
          <p:nvPr/>
        </p:nvCxnSpPr>
        <p:spPr bwMode="auto">
          <a:xfrm flipH="1">
            <a:off x="1765562" y="1617978"/>
            <a:ext cx="1922571" cy="1915556"/>
          </a:xfrm>
          <a:prstGeom prst="line">
            <a:avLst/>
          </a:prstGeom>
          <a:noFill/>
          <a:ln>
            <a:solidFill>
              <a:schemeClr val="bg1">
                <a:lumMod val="85000"/>
              </a:schemeClr>
            </a:solidFill>
          </a:ln>
        </p:spPr>
      </p:cxn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mj-lt"/>
                <a:ea typeface="+mj-ea"/>
                <a:cs typeface="+mj-cs"/>
              </a:rPr>
              <a:t>分段线性变换函数－灰度级切分</a:t>
            </a:r>
          </a:p>
        </p:txBody>
      </p:sp>
      <p:sp>
        <p:nvSpPr>
          <p:cNvPr id="15363" name="灯片编号占位符 5"/>
          <p:cNvSpPr txBox="1">
            <a:spLocks noGrp="1"/>
          </p:cNvSpPr>
          <p:nvPr>
            <p:ph type="sldNum" sz="quarter" idx="4"/>
          </p:nvPr>
        </p:nvSpPr>
        <p:spPr bwMode="auto">
          <a:xfrm>
            <a:off x="8575675" y="6309320"/>
            <a:ext cx="429816"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D8810BC4-7C27-48DB-B36C-DF8CE587B0A1}"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14</a:t>
            </a:fld>
            <a:endParaRPr kumimoji="0" lang="en-US" altLang="zh-CN" sz="14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21508" name="Picture 4"/>
          <p:cNvPicPr>
            <a:picLocks noChangeAspect="1"/>
          </p:cNvPicPr>
          <p:nvPr/>
        </p:nvPicPr>
        <p:blipFill rotWithShape="1">
          <a:blip r:embed="rId3"/>
          <a:srcRect r="19954" b="48277"/>
          <a:stretch/>
        </p:blipFill>
        <p:spPr>
          <a:xfrm>
            <a:off x="2411760" y="1349705"/>
            <a:ext cx="5406022" cy="2556284"/>
          </a:xfrm>
          <a:prstGeom prst="rect">
            <a:avLst/>
          </a:prstGeom>
          <a:noFill/>
          <a:ln w="9525">
            <a:noFill/>
          </a:ln>
        </p:spPr>
      </p:pic>
      <p:pic>
        <p:nvPicPr>
          <p:cNvPr id="2" name="图片 1"/>
          <p:cNvPicPr>
            <a:picLocks noChangeAspect="1"/>
          </p:cNvPicPr>
          <p:nvPr/>
        </p:nvPicPr>
        <p:blipFill>
          <a:blip r:embed="rId4"/>
          <a:stretch>
            <a:fillRect/>
          </a:stretch>
        </p:blipFill>
        <p:spPr>
          <a:xfrm>
            <a:off x="1691680" y="4005064"/>
            <a:ext cx="6987263" cy="2670900"/>
          </a:xfrm>
          <a:prstGeom prst="rect">
            <a:avLst/>
          </a:prstGeom>
        </p:spPr>
      </p:pic>
      <p:sp>
        <p:nvSpPr>
          <p:cNvPr id="9" name="文本框 8">
            <a:extLst>
              <a:ext uri="{FF2B5EF4-FFF2-40B4-BE49-F238E27FC236}">
                <a16:creationId xmlns:a16="http://schemas.microsoft.com/office/drawing/2014/main" id="{3608874D-E0AD-4C03-874D-A6958E46E465}"/>
              </a:ext>
            </a:extLst>
          </p:cNvPr>
          <p:cNvSpPr txBox="1"/>
          <p:nvPr/>
        </p:nvSpPr>
        <p:spPr>
          <a:xfrm>
            <a:off x="323528" y="4941168"/>
            <a:ext cx="1368152" cy="646331"/>
          </a:xfrm>
          <a:prstGeom prst="rect">
            <a:avLst/>
          </a:prstGeom>
          <a:noFill/>
        </p:spPr>
        <p:txBody>
          <a:bodyPr wrap="square">
            <a:spAutoFit/>
          </a:bodyPr>
          <a:lstStyle/>
          <a:p>
            <a:pPr algn="ctr">
              <a:buNone/>
            </a:pPr>
            <a:r>
              <a:rPr lang="zh-CN" altLang="en-US" dirty="0"/>
              <a:t>大动脉血管造影照片</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mj-lt"/>
                <a:ea typeface="+mj-ea"/>
                <a:cs typeface="+mj-cs"/>
              </a:rPr>
              <a:t>比特面分割</a:t>
            </a:r>
          </a:p>
        </p:txBody>
      </p:sp>
      <p:sp>
        <p:nvSpPr>
          <p:cNvPr id="2" name="内容占位符 1"/>
          <p:cNvSpPr>
            <a:spLocks noGrp="1"/>
          </p:cNvSpPr>
          <p:nvPr>
            <p:ph idx="1"/>
          </p:nvPr>
        </p:nvSpPr>
        <p:spPr/>
        <p:txBody>
          <a:bodyPr/>
          <a:lstStyle/>
          <a:p>
            <a:r>
              <a:rPr lang="zh-CN" altLang="en-US" dirty="0"/>
              <a:t>在</a:t>
            </a:r>
            <a:r>
              <a:rPr lang="en-US" altLang="zh-CN" dirty="0"/>
              <a:t>256</a:t>
            </a:r>
            <a:r>
              <a:rPr lang="zh-CN" altLang="en-US" dirty="0"/>
              <a:t>级灰度图象中，每个像素灰度由</a:t>
            </a:r>
            <a:r>
              <a:rPr lang="en-US" altLang="zh-CN" dirty="0"/>
              <a:t>8</a:t>
            </a:r>
            <a:r>
              <a:rPr lang="zh-CN" altLang="en-US" dirty="0"/>
              <a:t>比特组成</a:t>
            </a:r>
            <a:endParaRPr lang="en-US" altLang="zh-CN" dirty="0"/>
          </a:p>
          <a:p>
            <a:pPr lvl="1"/>
            <a:r>
              <a:rPr lang="zh-CN" altLang="en-US" dirty="0"/>
              <a:t>如何快速计算比特面？</a:t>
            </a:r>
          </a:p>
        </p:txBody>
      </p:sp>
      <p:sp>
        <p:nvSpPr>
          <p:cNvPr id="16387" name="灯片编号占位符 5"/>
          <p:cNvSpPr txBox="1">
            <a:spLocks noGrp="1"/>
          </p:cNvSpPr>
          <p:nvPr>
            <p:ph type="sldNum" sz="quarter" idx="4294967295"/>
          </p:nvPr>
        </p:nvSpPr>
        <p:spPr bwMode="auto">
          <a:xfrm>
            <a:off x="72390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7A546429-64D4-4C01-853A-B4E4AEA408DB}"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15</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22532" name="Picture 4"/>
          <p:cNvPicPr>
            <a:picLocks noChangeAspect="1"/>
          </p:cNvPicPr>
          <p:nvPr/>
        </p:nvPicPr>
        <p:blipFill>
          <a:blip r:embed="rId2"/>
          <a:stretch>
            <a:fillRect/>
          </a:stretch>
        </p:blipFill>
        <p:spPr>
          <a:xfrm>
            <a:off x="554264" y="2600908"/>
            <a:ext cx="8155586" cy="2488034"/>
          </a:xfrm>
          <a:prstGeom prst="rect">
            <a:avLst/>
          </a:prstGeom>
          <a:noFill/>
          <a:ln w="9525">
            <a:noFill/>
          </a:ln>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mj-lt"/>
                <a:ea typeface="+mj-ea"/>
                <a:cs typeface="+mj-cs"/>
              </a:rPr>
              <a:t>比特面分割</a:t>
            </a:r>
          </a:p>
        </p:txBody>
      </p:sp>
      <p:sp>
        <p:nvSpPr>
          <p:cNvPr id="2" name="内容占位符 1"/>
          <p:cNvSpPr>
            <a:spLocks noGrp="1"/>
          </p:cNvSpPr>
          <p:nvPr>
            <p:ph idx="1"/>
          </p:nvPr>
        </p:nvSpPr>
        <p:spPr/>
        <p:txBody>
          <a:bodyPr/>
          <a:lstStyle/>
          <a:p>
            <a:r>
              <a:rPr lang="zh-CN" altLang="en-US" dirty="0"/>
              <a:t>给定一副灰度图象，不同的比特面等价于何种灰度变换？</a:t>
            </a:r>
          </a:p>
        </p:txBody>
      </p:sp>
      <p:sp>
        <p:nvSpPr>
          <p:cNvPr id="17410" name="灯片编号占位符 5"/>
          <p:cNvSpPr txBox="1">
            <a:spLocks noGrp="1"/>
          </p:cNvSpPr>
          <p:nvPr>
            <p:ph type="sldNum" sz="quarter" idx="4294967295"/>
          </p:nvPr>
        </p:nvSpPr>
        <p:spPr bwMode="auto">
          <a:xfrm>
            <a:off x="72390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47E83FB3-B459-412C-AFCD-2D74E1AAC05D}"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16</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569" y="1988840"/>
            <a:ext cx="7988300" cy="481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zh-CN" altLang="en-US" sz="3600" dirty="0">
                <a:latin typeface="+mj-ea"/>
              </a:rPr>
              <a:t>第</a:t>
            </a:r>
            <a:r>
              <a:rPr lang="en-US" altLang="zh-CN" sz="3600" dirty="0">
                <a:latin typeface="+mj-ea"/>
              </a:rPr>
              <a:t>3</a:t>
            </a:r>
            <a:r>
              <a:rPr lang="zh-CN" altLang="en-US" sz="3600" dirty="0">
                <a:latin typeface="+mj-ea"/>
              </a:rPr>
              <a:t>章  灰度变换与空域滤波</a:t>
            </a:r>
            <a:endParaRPr lang="en-US" altLang="zh-CN" sz="3600" dirty="0">
              <a:latin typeface="+mj-ea"/>
            </a:endParaRPr>
          </a:p>
        </p:txBody>
      </p:sp>
      <p:sp>
        <p:nvSpPr>
          <p:cNvPr id="198659" name="Text Box 3"/>
          <p:cNvSpPr txBox="1">
            <a:spLocks noChangeArrowheads="1"/>
          </p:cNvSpPr>
          <p:nvPr/>
        </p:nvSpPr>
        <p:spPr bwMode="auto">
          <a:xfrm>
            <a:off x="575556" y="1464945"/>
            <a:ext cx="7990205" cy="4592347"/>
          </a:xfrm>
          <a:prstGeom prst="rect">
            <a:avLst/>
          </a:prstGeom>
          <a:noFill/>
          <a:ln w="9525">
            <a:noFill/>
            <a:miter lim="800000"/>
          </a:ln>
          <a:effectLst/>
        </p:spPr>
        <p:txBody>
          <a:bodyPr/>
          <a:lstStyle/>
          <a:p>
            <a:pPr>
              <a:spcBef>
                <a:spcPct val="50000"/>
              </a:spcBef>
              <a:buClr>
                <a:schemeClr val="tx1"/>
              </a:buClr>
              <a:buNone/>
              <a:defRPr/>
            </a:pPr>
            <a:r>
              <a:rPr lang="en-US" altLang="zh-CN" sz="3200" dirty="0">
                <a:sym typeface="Wingdings" panose="05000000000000000000" pitchFamily="2" charset="2"/>
              </a:rPr>
              <a:t>3.1	</a:t>
            </a:r>
            <a:r>
              <a:rPr lang="zh-CN" altLang="en-US" sz="3200" dirty="0">
                <a:sym typeface="Wingdings" panose="05000000000000000000" pitchFamily="2" charset="2"/>
              </a:rPr>
              <a:t>背景知识</a:t>
            </a:r>
          </a:p>
          <a:p>
            <a:pPr>
              <a:spcBef>
                <a:spcPct val="50000"/>
              </a:spcBef>
              <a:buClr>
                <a:schemeClr val="tx1"/>
              </a:buClr>
              <a:buNone/>
              <a:defRPr/>
            </a:pPr>
            <a:r>
              <a:rPr lang="en-US" altLang="zh-CN" sz="3200" dirty="0">
                <a:sym typeface="Wingdings" panose="05000000000000000000" pitchFamily="2" charset="2"/>
              </a:rPr>
              <a:t>3.2	</a:t>
            </a:r>
            <a:r>
              <a:rPr lang="zh-CN" altLang="en-US" sz="3200" dirty="0">
                <a:sym typeface="Wingdings" panose="05000000000000000000" pitchFamily="2" charset="2"/>
              </a:rPr>
              <a:t>基本灰度变换</a:t>
            </a:r>
          </a:p>
          <a:p>
            <a:pPr>
              <a:spcBef>
                <a:spcPct val="50000"/>
              </a:spcBef>
              <a:buClr>
                <a:schemeClr val="tx1"/>
              </a:buClr>
              <a:buNone/>
              <a:defRPr/>
            </a:pPr>
            <a:r>
              <a:rPr lang="en-US" altLang="zh-CN" sz="3200" dirty="0">
                <a:solidFill>
                  <a:srgbClr val="FF0000"/>
                </a:solidFill>
                <a:sym typeface="Wingdings" panose="05000000000000000000" pitchFamily="2" charset="2"/>
              </a:rPr>
              <a:t>3.3	</a:t>
            </a:r>
            <a:r>
              <a:rPr lang="zh-CN" altLang="en-US" sz="3200" dirty="0">
                <a:solidFill>
                  <a:srgbClr val="FF0000"/>
                </a:solidFill>
                <a:sym typeface="Wingdings" panose="05000000000000000000" pitchFamily="2" charset="2"/>
              </a:rPr>
              <a:t>直方图处理</a:t>
            </a:r>
            <a:endParaRPr lang="en-US" altLang="zh-CN" sz="3200" dirty="0">
              <a:solidFill>
                <a:srgbClr val="FF0000"/>
              </a:solidFill>
              <a:sym typeface="Wingdings" panose="05000000000000000000" pitchFamily="2" charset="2"/>
            </a:endParaRPr>
          </a:p>
          <a:p>
            <a:pPr>
              <a:spcBef>
                <a:spcPct val="50000"/>
              </a:spcBef>
              <a:buClr>
                <a:schemeClr val="tx1"/>
              </a:buClr>
              <a:buNone/>
              <a:defRPr/>
            </a:pPr>
            <a:r>
              <a:rPr lang="en-US" altLang="zh-CN" sz="3200" dirty="0">
                <a:sym typeface="Wingdings" panose="05000000000000000000" pitchFamily="2" charset="2"/>
              </a:rPr>
              <a:t>3.4    </a:t>
            </a:r>
            <a:r>
              <a:rPr lang="zh-CN" altLang="en-US" sz="3200" dirty="0">
                <a:sym typeface="Wingdings" panose="05000000000000000000" pitchFamily="2" charset="2"/>
              </a:rPr>
              <a:t>空间滤波基础</a:t>
            </a:r>
          </a:p>
          <a:p>
            <a:pPr>
              <a:spcBef>
                <a:spcPct val="50000"/>
              </a:spcBef>
              <a:buClr>
                <a:schemeClr val="tx1"/>
              </a:buClr>
              <a:buNone/>
              <a:defRPr/>
            </a:pPr>
            <a:r>
              <a:rPr lang="en-US" altLang="zh-CN" sz="3200" dirty="0">
                <a:sym typeface="Wingdings" panose="05000000000000000000" pitchFamily="2" charset="2"/>
              </a:rPr>
              <a:t>3.5	</a:t>
            </a:r>
            <a:r>
              <a:rPr lang="zh-CN" altLang="en-US" sz="3200" dirty="0">
                <a:sym typeface="Wingdings" panose="05000000000000000000" pitchFamily="2" charset="2"/>
              </a:rPr>
              <a:t>空域平滑</a:t>
            </a:r>
          </a:p>
          <a:p>
            <a:pPr>
              <a:spcBef>
                <a:spcPct val="50000"/>
              </a:spcBef>
              <a:buClr>
                <a:schemeClr val="tx1"/>
              </a:buClr>
              <a:buNone/>
              <a:defRPr/>
            </a:pPr>
            <a:r>
              <a:rPr lang="en-US" altLang="zh-CN" sz="3200" dirty="0">
                <a:sym typeface="Wingdings" panose="05000000000000000000" pitchFamily="2" charset="2"/>
              </a:rPr>
              <a:t>3.6    </a:t>
            </a:r>
            <a:r>
              <a:rPr lang="zh-CN" altLang="en-US" sz="3200" dirty="0">
                <a:sym typeface="Wingdings" panose="05000000000000000000" pitchFamily="2" charset="2"/>
              </a:rPr>
              <a:t>空域锐化</a:t>
            </a:r>
          </a:p>
          <a:p>
            <a:pPr>
              <a:spcBef>
                <a:spcPct val="50000"/>
              </a:spcBef>
              <a:buClr>
                <a:schemeClr val="tx1"/>
              </a:buClr>
              <a:buNone/>
              <a:defRPr/>
            </a:pPr>
            <a:endParaRPr lang="zh-CN" altLang="en-US" sz="2800" dirty="0">
              <a:latin typeface="+mn-lt"/>
              <a:ea typeface="+mn-ea"/>
              <a:sym typeface="Wingdings" panose="05000000000000000000" pitchFamily="2" charset="2"/>
            </a:endParaRPr>
          </a:p>
          <a:p>
            <a:pPr>
              <a:spcBef>
                <a:spcPct val="50000"/>
              </a:spcBef>
              <a:buClr>
                <a:schemeClr val="tx1"/>
              </a:buClr>
              <a:buNone/>
              <a:defRPr/>
            </a:pPr>
            <a:endParaRPr kumimoji="1" lang="zh-CN" altLang="en-US" sz="2800" b="0" i="0" u="none" strike="noStrike" kern="0" cap="none" spc="0" normalizeH="0" baseline="0" noProof="0" dirty="0">
              <a:ln>
                <a:noFill/>
              </a:ln>
              <a:solidFill>
                <a:schemeClr val="tx1"/>
              </a:solidFill>
              <a:effectLst/>
              <a:uLnTx/>
              <a:uFillTx/>
              <a:latin typeface="+mn-ea"/>
              <a:ea typeface="+mn-ea"/>
              <a:cs typeface="+mn-cs"/>
              <a:sym typeface="+mn-ea"/>
            </a:endParaRPr>
          </a:p>
          <a:p>
            <a:pPr>
              <a:spcBef>
                <a:spcPct val="50000"/>
              </a:spcBef>
              <a:buClr>
                <a:schemeClr val="tx1"/>
              </a:buClr>
              <a:buNone/>
              <a:defRPr/>
            </a:pPr>
            <a:endParaRPr lang="en-US" altLang="zh-CN" sz="3200" dirty="0">
              <a:latin typeface="+mn-lt"/>
              <a:ea typeface="+mn-ea"/>
              <a:sym typeface="Wingdings" panose="05000000000000000000" pitchFamily="2" charset="2"/>
            </a:endParaRPr>
          </a:p>
        </p:txBody>
      </p:sp>
      <p:sp>
        <p:nvSpPr>
          <p:cNvPr id="2" name="灯片编号占位符 1">
            <a:extLst>
              <a:ext uri="{FF2B5EF4-FFF2-40B4-BE49-F238E27FC236}">
                <a16:creationId xmlns:a16="http://schemas.microsoft.com/office/drawing/2014/main" id="{1C4C08B1-CB3C-4CB3-B014-BF1A4A8E6CE0}"/>
              </a:ext>
            </a:extLst>
          </p:cNvPr>
          <p:cNvSpPr>
            <a:spLocks noGrp="1"/>
          </p:cNvSpPr>
          <p:nvPr>
            <p:ph type="sldNum" sz="quarter" idx="12"/>
          </p:nvPr>
        </p:nvSpPr>
        <p:spPr/>
        <p:txBody>
          <a:bodyPr/>
          <a:lstStyle/>
          <a:p>
            <a:pPr>
              <a:defRPr/>
            </a:pPr>
            <a:fld id="{BE59E6E9-16BB-4D46-A8D6-97CC594B8C57}" type="slidenum">
              <a:rPr lang="en-US" altLang="zh-CN" smtClean="0"/>
              <a:pPr>
                <a:defRPr/>
              </a:pPr>
              <a:t>17</a:t>
            </a:fld>
            <a:endParaRPr lang="en-US" altLang="zh-CN"/>
          </a:p>
        </p:txBody>
      </p:sp>
    </p:spTree>
    <p:extLst>
      <p:ext uri="{BB962C8B-B14F-4D97-AF65-F5344CB8AC3E}">
        <p14:creationId xmlns:p14="http://schemas.microsoft.com/office/powerpoint/2010/main" val="276856513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Arial" panose="020B0604020202020204" pitchFamily="34" charset="0"/>
                <a:ea typeface="+mj-ea"/>
                <a:cs typeface="Arial" panose="020B0604020202020204" pitchFamily="34" charset="0"/>
              </a:rPr>
              <a:t>灰度直方图</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566738" y="1341438"/>
                <a:ext cx="8289738" cy="4967287"/>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灰度直方图</a:t>
                </a:r>
              </a:p>
              <a:p>
                <a:pPr marL="781050" marR="0" lvl="1" indent="-342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n"/>
                  <a:defRPr/>
                </a:pPr>
                <a:r>
                  <a:rPr kumimoji="1" lang="zh-CN" altLang="en-US" sz="2000" b="0" i="0" u="none" strike="noStrike" kern="0" cap="none" spc="0" normalizeH="0" baseline="0" noProof="0" dirty="0">
                    <a:ln>
                      <a:noFill/>
                    </a:ln>
                    <a:solidFill>
                      <a:schemeClr val="tx1"/>
                    </a:solidFill>
                    <a:effectLst/>
                    <a:uLnTx/>
                    <a:uFillTx/>
                    <a:latin typeface="+mn-lt"/>
                    <a:ea typeface="+mn-ea"/>
                    <a:cs typeface="+mn-cs"/>
                  </a:rPr>
                  <a:t>一种</a:t>
                </a:r>
                <a:r>
                  <a:rPr kumimoji="1" lang="zh-CN" altLang="en-US" sz="2000" b="0" i="0" u="none" strike="noStrike" kern="0" cap="none" spc="0" normalizeH="0" baseline="0" noProof="0" dirty="0">
                    <a:ln>
                      <a:noFill/>
                    </a:ln>
                    <a:solidFill>
                      <a:schemeClr val="accent1"/>
                    </a:solidFill>
                    <a:effectLst/>
                    <a:uLnTx/>
                    <a:uFillTx/>
                    <a:latin typeface="+mn-lt"/>
                    <a:ea typeface="+mn-ea"/>
                    <a:cs typeface="+mn-cs"/>
                  </a:rPr>
                  <a:t>灰度级</a:t>
                </a:r>
                <a:r>
                  <a:rPr kumimoji="1" lang="zh-CN" altLang="en-US" sz="2000" b="0" i="0" u="none" strike="noStrike" kern="0" cap="none" spc="0" normalizeH="0" baseline="0" noProof="0" dirty="0">
                    <a:ln>
                      <a:noFill/>
                    </a:ln>
                    <a:solidFill>
                      <a:schemeClr val="tx1"/>
                    </a:solidFill>
                    <a:effectLst/>
                    <a:uLnTx/>
                    <a:uFillTx/>
                    <a:latin typeface="+mn-lt"/>
                    <a:ea typeface="+mn-ea"/>
                    <a:cs typeface="+mn-cs"/>
                  </a:rPr>
                  <a:t>的函数，表示数字图象中</a:t>
                </a:r>
                <a:r>
                  <a:rPr kumimoji="1" lang="zh-CN" altLang="en-US" sz="2000" b="0" i="0" u="none" strike="noStrike" kern="0" cap="none" spc="0" normalizeH="0" baseline="0" noProof="0" dirty="0">
                    <a:ln>
                      <a:noFill/>
                    </a:ln>
                    <a:solidFill>
                      <a:schemeClr val="accent1"/>
                    </a:solidFill>
                    <a:effectLst/>
                    <a:uLnTx/>
                    <a:uFillTx/>
                    <a:latin typeface="+mn-lt"/>
                    <a:ea typeface="+mn-ea"/>
                    <a:cs typeface="+mn-cs"/>
                  </a:rPr>
                  <a:t>每一灰度级</a:t>
                </a:r>
                <a:r>
                  <a:rPr kumimoji="1" lang="zh-CN" altLang="en-US" sz="2000" b="0" i="0" u="none" strike="noStrike" kern="0" cap="none" spc="0" normalizeH="0" baseline="0" noProof="0" dirty="0">
                    <a:ln>
                      <a:noFill/>
                    </a:ln>
                    <a:solidFill>
                      <a:schemeClr val="tx1"/>
                    </a:solidFill>
                    <a:effectLst/>
                    <a:uLnTx/>
                    <a:uFillTx/>
                    <a:latin typeface="+mn-lt"/>
                    <a:ea typeface="+mn-ea"/>
                    <a:cs typeface="+mn-cs"/>
                  </a:rPr>
                  <a:t>与</a:t>
                </a:r>
                <a:r>
                  <a:rPr kumimoji="1" lang="zh-CN" altLang="en-US" sz="2000" b="0" i="0" u="none" strike="noStrike" kern="0" cap="none" spc="0" normalizeH="0" baseline="0" noProof="0" dirty="0">
                    <a:ln>
                      <a:noFill/>
                    </a:ln>
                    <a:solidFill>
                      <a:schemeClr val="accent1"/>
                    </a:solidFill>
                    <a:effectLst/>
                    <a:uLnTx/>
                    <a:uFillTx/>
                    <a:latin typeface="+mn-lt"/>
                    <a:ea typeface="+mn-ea"/>
                    <a:cs typeface="+mn-cs"/>
                  </a:rPr>
                  <a:t>该灰度出现的频数</a:t>
                </a:r>
                <a:r>
                  <a:rPr kumimoji="1" lang="zh-CN" altLang="en-US" sz="2000" b="0" i="0" u="none" strike="noStrike" kern="0" cap="none" spc="0" normalizeH="0" baseline="0" noProof="0" dirty="0">
                    <a:ln>
                      <a:noFill/>
                    </a:ln>
                    <a:solidFill>
                      <a:schemeClr val="tx1"/>
                    </a:solidFill>
                    <a:effectLst/>
                    <a:uLnTx/>
                    <a:uFillTx/>
                    <a:latin typeface="+mn-lt"/>
                    <a:ea typeface="+mn-ea"/>
                    <a:cs typeface="+mn-cs"/>
                  </a:rPr>
                  <a:t>之间的对应关系</a:t>
                </a:r>
                <a:endParaRPr kumimoji="1" lang="en-US" altLang="zh-CN" sz="2000" b="0" i="0" u="none" strike="noStrike" kern="0" cap="none" spc="0" normalizeH="0" baseline="0" noProof="0" dirty="0">
                  <a:ln>
                    <a:noFill/>
                  </a:ln>
                  <a:solidFill>
                    <a:schemeClr val="tx1"/>
                  </a:solidFill>
                  <a:effectLst/>
                  <a:uLnTx/>
                  <a:uFillTx/>
                  <a:latin typeface="+mn-lt"/>
                  <a:ea typeface="+mn-ea"/>
                  <a:cs typeface="+mn-cs"/>
                </a:endParaRPr>
              </a:p>
              <a:p>
                <a:pPr marL="781050" lvl="1" indent="-342900">
                  <a:buFont typeface="Wingdings" panose="05000000000000000000" pitchFamily="2" charset="2"/>
                  <a:buChar char="n"/>
                  <a:defRPr/>
                </a:pPr>
                <a:r>
                  <a:rPr lang="zh-CN" altLang="en-US" noProof="0" dirty="0"/>
                  <a:t>给定一副分辨率为</a:t>
                </a:r>
                <a14:m>
                  <m:oMath xmlns:m="http://schemas.openxmlformats.org/officeDocument/2006/math">
                    <m:r>
                      <a:rPr lang="en-US" altLang="zh-CN" i="1">
                        <a:latin typeface="Cambria Math" panose="02040503050406030204" pitchFamily="18" charset="0"/>
                      </a:rPr>
                      <m:t>𝑀</m:t>
                    </m:r>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𝑁</m:t>
                    </m:r>
                    <m:r>
                      <a:rPr lang="zh-CN" altLang="en-US" i="1" smtClean="0">
                        <a:latin typeface="Cambria Math" panose="02040503050406030204" pitchFamily="18" charset="0"/>
                      </a:rPr>
                      <m:t>的</m:t>
                    </m:r>
                  </m:oMath>
                </a14:m>
                <a:r>
                  <a:rPr kumimoji="1" lang="zh-CN" altLang="en-US" sz="2000" b="0" i="0" u="none" strike="noStrike" kern="0" cap="none" spc="0" normalizeH="0" baseline="0" noProof="0" dirty="0">
                    <a:ln>
                      <a:noFill/>
                    </a:ln>
                    <a:solidFill>
                      <a:schemeClr val="tx1"/>
                    </a:solidFill>
                    <a:effectLst/>
                    <a:uLnTx/>
                    <a:uFillTx/>
                    <a:latin typeface="+mn-lt"/>
                    <a:ea typeface="+mn-ea"/>
                    <a:cs typeface="+mn-cs"/>
                  </a:rPr>
                  <a:t>灰度图象，灰度级为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𝑘</m:t>
                        </m:r>
                      </m:sub>
                    </m:sSub>
                  </m:oMath>
                </a14:m>
                <a:r>
                  <a:rPr kumimoji="1" lang="zh-CN" altLang="en-US" sz="2000" b="0" i="0" u="none" strike="noStrike" kern="0" cap="none" spc="0" normalizeH="0" baseline="0" noProof="0" dirty="0">
                    <a:ln>
                      <a:noFill/>
                    </a:ln>
                    <a:solidFill>
                      <a:schemeClr val="tx1"/>
                    </a:solidFill>
                    <a:effectLst/>
                    <a:uLnTx/>
                    <a:uFillTx/>
                    <a:latin typeface="+mn-lt"/>
                    <a:ea typeface="+mn-ea"/>
                    <a:cs typeface="+mn-cs"/>
                  </a:rPr>
                  <a:t>的像素数为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𝑘</m:t>
                        </m:r>
                      </m:sub>
                    </m:sSub>
                  </m:oMath>
                </a14:m>
                <a:r>
                  <a:rPr kumimoji="1" lang="zh-CN" altLang="en-US" sz="2000" b="0" i="0" u="none" strike="noStrike" kern="0" cap="none" spc="0" normalizeH="0" baseline="0" noProof="0" dirty="0">
                    <a:ln>
                      <a:noFill/>
                    </a:ln>
                    <a:solidFill>
                      <a:schemeClr val="tx1"/>
                    </a:solidFill>
                    <a:effectLst/>
                    <a:uLnTx/>
                    <a:uFillTx/>
                    <a:latin typeface="+mn-lt"/>
                    <a:ea typeface="+mn-ea"/>
                    <a:cs typeface="+mn-cs"/>
                  </a:rPr>
                  <a:t>，该图像的归一化直方图：</a:t>
                </a:r>
                <a:endParaRPr kumimoji="1" lang="en-US" altLang="zh-CN" sz="2000" b="0" i="0" u="none" strike="noStrike" kern="0" cap="none" spc="0" normalizeH="0" baseline="0" noProof="0" dirty="0">
                  <a:ln>
                    <a:noFill/>
                  </a:ln>
                  <a:solidFill>
                    <a:schemeClr val="tx1"/>
                  </a:solidFill>
                  <a:effectLst/>
                  <a:uLnTx/>
                  <a:uFillTx/>
                  <a:latin typeface="+mn-lt"/>
                  <a:ea typeface="+mn-ea"/>
                  <a:cs typeface="+mn-cs"/>
                </a:endParaRPr>
              </a:p>
              <a:p>
                <a:pPr marL="438150" marR="0" lvl="1" indent="0" algn="ctr" defTabSz="914400" rtl="0" eaLnBrk="1" fontAlgn="base" latinLnBrk="0" hangingPunct="1">
                  <a:lnSpc>
                    <a:spcPct val="100000"/>
                  </a:lnSpc>
                  <a:spcBef>
                    <a:spcPct val="20000"/>
                  </a:spcBef>
                  <a:spcAft>
                    <a:spcPct val="0"/>
                  </a:spcAft>
                  <a:buClr>
                    <a:srgbClr val="3399FF"/>
                  </a:buClr>
                  <a:buSzTx/>
                  <a:buNone/>
                  <a:defRPr/>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𝑘</m:t>
                              </m:r>
                            </m:sub>
                          </m:sSub>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𝑘</m:t>
                              </m:r>
                            </m:sub>
                          </m:sSub>
                        </m:num>
                        <m:den>
                          <m:r>
                            <a:rPr lang="en-US" altLang="zh-CN" b="0" i="1" smtClean="0">
                              <a:latin typeface="Cambria Math" panose="02040503050406030204" pitchFamily="18" charset="0"/>
                            </a:rPr>
                            <m:t>𝑀𝑁</m:t>
                          </m:r>
                        </m:den>
                      </m:f>
                    </m:oMath>
                  </m:oMathPara>
                </a14:m>
                <a:endParaRPr lang="en-US" altLang="zh-CN" dirty="0"/>
              </a:p>
              <a:p>
                <a:pPr marL="1177925" lvl="2" indent="-342900" algn="just">
                  <a:defRPr/>
                </a:pPr>
                <a:r>
                  <a:rPr lang="zh-CN" altLang="en-US" dirty="0"/>
                  <a:t>可将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𝑘</m:t>
                        </m:r>
                      </m:sub>
                    </m:sSub>
                    <m:r>
                      <a:rPr lang="zh-CN" altLang="en-US" i="1">
                        <a:latin typeface="Cambria Math" panose="02040503050406030204" pitchFamily="18" charset="0"/>
                      </a:rPr>
                      <m:t>视为随机变量，</m:t>
                    </m:r>
                    <m:r>
                      <a:rPr lang="en-US" altLang="zh-CN" i="1">
                        <a:latin typeface="Cambria Math" panose="02040503050406030204" pitchFamily="18" charset="0"/>
                      </a:rPr>
                      <m:t>𝑝</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𝑘</m:t>
                            </m:r>
                          </m:sub>
                        </m:sSub>
                      </m:e>
                    </m:d>
                    <m:r>
                      <a:rPr lang="zh-CN" altLang="en-US" i="1" smtClean="0">
                        <a:latin typeface="Cambria Math" panose="02040503050406030204" pitchFamily="18" charset="0"/>
                      </a:rPr>
                      <m:t>反映</m:t>
                    </m:r>
                    <m:r>
                      <a:rPr lang="zh-CN" altLang="en-US" i="1">
                        <a:latin typeface="Cambria Math" panose="02040503050406030204" pitchFamily="18" charset="0"/>
                      </a:rPr>
                      <m:t>随机变量</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𝑘</m:t>
                        </m:r>
                      </m:sub>
                    </m:sSub>
                  </m:oMath>
                </a14:m>
                <a:r>
                  <a:rPr lang="zh-CN" altLang="en-US" dirty="0"/>
                  <a:t>在图象中出现的概率</a:t>
                </a:r>
                <a:endParaRPr lang="en-US" altLang="zh-CN" dirty="0"/>
              </a:p>
              <a:p>
                <a:pPr marL="1177925" lvl="2" indent="-342900" algn="just">
                  <a:defRPr/>
                </a:pPr>
                <a:endParaRPr lang="en-US" altLang="zh-CN" dirty="0"/>
              </a:p>
              <a:p>
                <a:pPr indent="-436880">
                  <a:buFont typeface="Wingdings" panose="05000000000000000000" pitchFamily="2" charset="2"/>
                  <a:buChar char="n"/>
                  <a:defRPr/>
                </a:pPr>
                <a:r>
                  <a:rPr kumimoji="1" lang="zh-CN" altLang="en-US" b="0" i="0" u="none" strike="noStrike" kern="0" cap="none" spc="0" normalizeH="0" baseline="0" noProof="0" dirty="0">
                    <a:ln>
                      <a:noFill/>
                    </a:ln>
                    <a:solidFill>
                      <a:schemeClr val="tx1"/>
                    </a:solidFill>
                    <a:effectLst/>
                    <a:uLnTx/>
                    <a:uFillTx/>
                    <a:latin typeface="+mn-lt"/>
                    <a:ea typeface="+mn-ea"/>
                    <a:cs typeface="+mn-cs"/>
                  </a:rPr>
                  <a:t>直方图特点</a:t>
                </a:r>
                <a:endParaRPr kumimoji="1" lang="en-US" altLang="zh-CN" b="0" i="0" u="none" strike="noStrike" kern="0" cap="none" spc="0" normalizeH="0" baseline="0" noProof="0" dirty="0">
                  <a:ln>
                    <a:noFill/>
                  </a:ln>
                  <a:solidFill>
                    <a:schemeClr val="tx1"/>
                  </a:solidFill>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n"/>
                  <a:defRPr/>
                </a:pPr>
                <a:r>
                  <a:rPr kumimoji="1" lang="zh-CN" altLang="en-US" sz="2000" b="0" i="0" u="none" strike="noStrike" kern="0" cap="none" spc="0" normalizeH="0" baseline="0" noProof="0" dirty="0">
                    <a:ln>
                      <a:noFill/>
                    </a:ln>
                    <a:solidFill>
                      <a:schemeClr val="tx1"/>
                    </a:solidFill>
                    <a:effectLst/>
                    <a:uLnTx/>
                    <a:uFillTx/>
                    <a:latin typeface="+mn-lt"/>
                    <a:ea typeface="+mn-ea"/>
                    <a:cs typeface="+mn-cs"/>
                  </a:rPr>
                  <a:t>一幅特定的图有唯一的直方图，但反之不成立</a:t>
                </a:r>
                <a:endParaRPr kumimoji="1" lang="en-US" altLang="zh-CN" sz="2000" b="0" i="0" u="none" strike="noStrike" kern="0" cap="none" spc="0" normalizeH="0" baseline="0" noProof="0" dirty="0">
                  <a:ln>
                    <a:noFill/>
                  </a:ln>
                  <a:solidFill>
                    <a:schemeClr val="tx1"/>
                  </a:solidFill>
                  <a:effectLst/>
                  <a:uLnTx/>
                  <a:uFillTx/>
                  <a:latin typeface="+mn-lt"/>
                  <a:ea typeface="+mn-ea"/>
                  <a:cs typeface="+mn-cs"/>
                </a:endParaRPr>
              </a:p>
              <a:p>
                <a:pPr lvl="2" indent="-436880">
                  <a:buFont typeface="Wingdings" panose="05000000000000000000" pitchFamily="2" charset="2"/>
                  <a:buChar char="n"/>
                  <a:defRPr/>
                </a:pPr>
                <a:r>
                  <a:rPr kumimoji="1" lang="zh-CN" altLang="en-US" b="0" i="0" u="none" strike="noStrike" kern="0" cap="none" spc="0" normalizeH="0" baseline="0" noProof="0" dirty="0">
                    <a:ln>
                      <a:noFill/>
                    </a:ln>
                    <a:solidFill>
                      <a:schemeClr val="tx1"/>
                    </a:solidFill>
                    <a:effectLst/>
                    <a:uLnTx/>
                    <a:uFillTx/>
                    <a:latin typeface="+mn-lt"/>
                    <a:ea typeface="+mn-ea"/>
                    <a:cs typeface="+mn-cs"/>
                  </a:rPr>
                  <a:t>直方图忽略了像素灰度在图象平面上的空间分布</a:t>
                </a:r>
              </a:p>
              <a:p>
                <a:pPr marL="908050" marR="0" lvl="1" indent="-43688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n"/>
                  <a:defRPr/>
                </a:pPr>
                <a:r>
                  <a:rPr kumimoji="1" lang="zh-CN" altLang="en-US" sz="2000" b="0" i="0" u="none" strike="noStrike" kern="0" cap="none" spc="0" normalizeH="0" baseline="0" noProof="0" dirty="0">
                    <a:ln>
                      <a:noFill/>
                    </a:ln>
                    <a:solidFill>
                      <a:schemeClr val="tx1"/>
                    </a:solidFill>
                    <a:effectLst/>
                    <a:uLnTx/>
                    <a:uFillTx/>
                    <a:latin typeface="+mn-lt"/>
                    <a:ea typeface="+mn-ea"/>
                    <a:cs typeface="+mn-cs"/>
                  </a:rPr>
                  <a:t>直方图在一定程度上可以反映图像的状况</a:t>
                </a:r>
                <a:endParaRPr kumimoji="1" lang="en-US" altLang="zh-CN" sz="2000" b="0" i="0" u="none" strike="noStrike" kern="0" cap="none" spc="0" normalizeH="0" baseline="0" noProof="0" dirty="0">
                  <a:ln>
                    <a:noFill/>
                  </a:ln>
                  <a:solidFill>
                    <a:schemeClr val="tx1"/>
                  </a:solidFill>
                  <a:effectLst/>
                  <a:uLnTx/>
                  <a:uFillTx/>
                  <a:latin typeface="+mn-lt"/>
                  <a:ea typeface="+mn-ea"/>
                  <a:cs typeface="+mn-cs"/>
                </a:endParaRPr>
              </a:p>
              <a:p>
                <a:pPr lvl="2" indent="-436880">
                  <a:buFont typeface="Wingdings" panose="05000000000000000000" pitchFamily="2" charset="2"/>
                  <a:buChar char="n"/>
                  <a:defRPr/>
                </a:pPr>
                <a:r>
                  <a:rPr kumimoji="1" lang="zh-CN" altLang="en-US" b="0" i="0" u="none" strike="noStrike" kern="0" cap="none" spc="0" normalizeH="0" baseline="0" noProof="0" dirty="0">
                    <a:ln>
                      <a:noFill/>
                    </a:ln>
                    <a:solidFill>
                      <a:schemeClr val="tx1"/>
                    </a:solidFill>
                    <a:effectLst/>
                    <a:uLnTx/>
                    <a:uFillTx/>
                    <a:latin typeface="+mn-lt"/>
                    <a:ea typeface="+mn-ea"/>
                    <a:cs typeface="+mn-cs"/>
                  </a:rPr>
                  <a:t>例如</a:t>
                </a:r>
                <a:r>
                  <a:rPr kumimoji="1" lang="en-US" altLang="zh-CN" b="0" i="0" u="none" strike="noStrike" kern="0" cap="none" spc="0" normalizeH="0" baseline="0" noProof="0" dirty="0">
                    <a:ln>
                      <a:noFill/>
                    </a:ln>
                    <a:solidFill>
                      <a:schemeClr val="tx1"/>
                    </a:solidFill>
                    <a:effectLst/>
                    <a:uLnTx/>
                    <a:uFillTx/>
                    <a:latin typeface="+mn-lt"/>
                    <a:ea typeface="+mn-ea"/>
                    <a:cs typeface="+mn-cs"/>
                  </a:rPr>
                  <a:t>: </a:t>
                </a:r>
                <a:r>
                  <a:rPr kumimoji="1" lang="zh-CN" altLang="en-US" b="0" i="0" u="none" strike="noStrike" kern="0" cap="none" spc="0" normalizeH="0" baseline="0" noProof="0" dirty="0">
                    <a:ln>
                      <a:noFill/>
                    </a:ln>
                    <a:solidFill>
                      <a:schemeClr val="tx1"/>
                    </a:solidFill>
                    <a:effectLst/>
                    <a:uLnTx/>
                    <a:uFillTx/>
                    <a:latin typeface="+mn-lt"/>
                    <a:ea typeface="+mn-ea"/>
                    <a:cs typeface="+mn-cs"/>
                  </a:rPr>
                  <a:t>有时可以根据直方图确定分割物体和背景的边界</a:t>
                </a:r>
              </a:p>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endParaRPr kumimoji="1" lang="zh-CN" altLang="en-US" sz="2400" b="0" i="0" u="none" strike="noStrike" kern="0" cap="none" spc="0" normalizeH="0" baseline="0" noProof="0" dirty="0">
                  <a:ln>
                    <a:noFill/>
                  </a:ln>
                  <a:solidFill>
                    <a:schemeClr val="tx1"/>
                  </a:solidFill>
                  <a:effectLst/>
                  <a:uLnTx/>
                  <a:uFillTx/>
                  <a:latin typeface="+mn-lt"/>
                  <a:ea typeface="+mn-ea"/>
                  <a:cs typeface="+mn-cs"/>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566738" y="1341438"/>
                <a:ext cx="8289738" cy="4967287"/>
              </a:xfrm>
              <a:blipFill>
                <a:blip r:embed="rId2"/>
                <a:stretch>
                  <a:fillRect l="-1029" t="-1350" r="-294"/>
                </a:stretch>
              </a:blipFill>
            </p:spPr>
            <p:txBody>
              <a:bodyPr/>
              <a:lstStyle/>
              <a:p>
                <a:r>
                  <a:rPr lang="zh-CN" altLang="en-US">
                    <a:noFill/>
                  </a:rPr>
                  <a:t> </a:t>
                </a:r>
              </a:p>
            </p:txBody>
          </p:sp>
        </mc:Fallback>
      </mc:AlternateContent>
      <p:sp>
        <p:nvSpPr>
          <p:cNvPr id="19458" name="灯片编号占位符 5"/>
          <p:cNvSpPr txBox="1">
            <a:spLocks noGrp="1"/>
          </p:cNvSpPr>
          <p:nvPr>
            <p:ph type="sldNum" sz="quarter" idx="4"/>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7FE7DE2E-4822-46F8-9F0F-02B2A1237CB7}"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18</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Arial" panose="020B0604020202020204" pitchFamily="34" charset="0"/>
                <a:ea typeface="+mj-ea"/>
                <a:cs typeface="Arial" panose="020B0604020202020204" pitchFamily="34" charset="0"/>
              </a:rPr>
              <a:t>灰度直方图</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66738" y="1341438"/>
                <a:ext cx="8289738" cy="4967287"/>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灰度直方图</a:t>
                </a:r>
              </a:p>
              <a:p>
                <a:pPr marL="781050" marR="0" lvl="1" indent="-342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n"/>
                  <a:defRPr/>
                </a:pPr>
                <a:r>
                  <a:rPr kumimoji="1" lang="zh-CN" altLang="en-US" sz="2000" b="0" i="0" u="none" strike="noStrike" kern="0" cap="none" spc="0" normalizeH="0" baseline="0" noProof="0" dirty="0">
                    <a:ln>
                      <a:noFill/>
                    </a:ln>
                    <a:solidFill>
                      <a:schemeClr val="tx1"/>
                    </a:solidFill>
                    <a:effectLst/>
                    <a:uLnTx/>
                    <a:uFillTx/>
                    <a:latin typeface="+mn-lt"/>
                    <a:ea typeface="+mn-ea"/>
                    <a:cs typeface="+mn-cs"/>
                  </a:rPr>
                  <a:t>一种灰度级的函数，表示数字图象中每一灰度级与该灰度出现的频数之间的对应关系</a:t>
                </a:r>
                <a:endParaRPr kumimoji="1" lang="en-US" altLang="zh-CN" sz="2000" b="0" i="0" u="none" strike="noStrike" kern="0" cap="none" spc="0" normalizeH="0" baseline="0" noProof="0" dirty="0">
                  <a:ln>
                    <a:noFill/>
                  </a:ln>
                  <a:solidFill>
                    <a:schemeClr val="tx1"/>
                  </a:solidFill>
                  <a:effectLst/>
                  <a:uLnTx/>
                  <a:uFillTx/>
                  <a:latin typeface="+mn-lt"/>
                  <a:ea typeface="+mn-ea"/>
                  <a:cs typeface="+mn-cs"/>
                </a:endParaRPr>
              </a:p>
              <a:p>
                <a:pPr marL="781050" lvl="1" indent="-342900">
                  <a:buFont typeface="Wingdings" panose="05000000000000000000" pitchFamily="2" charset="2"/>
                  <a:buChar char="n"/>
                  <a:defRPr/>
                </a:pPr>
                <a:r>
                  <a:rPr lang="zh-CN" altLang="en-US" noProof="0" dirty="0"/>
                  <a:t>给定一副分辨率为</a:t>
                </a:r>
                <a14:m>
                  <m:oMath xmlns:m="http://schemas.openxmlformats.org/officeDocument/2006/math">
                    <m:r>
                      <a:rPr lang="en-US" altLang="zh-CN" i="1">
                        <a:latin typeface="Cambria Math" panose="02040503050406030204" pitchFamily="18" charset="0"/>
                      </a:rPr>
                      <m:t>𝑀</m:t>
                    </m:r>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𝑁</m:t>
                    </m:r>
                    <m:r>
                      <a:rPr lang="zh-CN" altLang="en-US" i="1" smtClean="0">
                        <a:latin typeface="Cambria Math" panose="02040503050406030204" pitchFamily="18" charset="0"/>
                      </a:rPr>
                      <m:t>的</m:t>
                    </m:r>
                  </m:oMath>
                </a14:m>
                <a:r>
                  <a:rPr kumimoji="1" lang="zh-CN" altLang="en-US" sz="2000" b="0" i="0" u="none" strike="noStrike" kern="0" cap="none" spc="0" normalizeH="0" baseline="0" noProof="0" dirty="0">
                    <a:ln>
                      <a:noFill/>
                    </a:ln>
                    <a:solidFill>
                      <a:schemeClr val="tx1"/>
                    </a:solidFill>
                    <a:effectLst/>
                    <a:uLnTx/>
                    <a:uFillTx/>
                    <a:latin typeface="+mn-lt"/>
                    <a:ea typeface="+mn-ea"/>
                    <a:cs typeface="+mn-cs"/>
                  </a:rPr>
                  <a:t>灰度图象，灰度级为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𝑘</m:t>
                        </m:r>
                      </m:sub>
                    </m:sSub>
                  </m:oMath>
                </a14:m>
                <a:r>
                  <a:rPr kumimoji="1" lang="zh-CN" altLang="en-US" sz="2000" b="0" i="0" u="none" strike="noStrike" kern="0" cap="none" spc="0" normalizeH="0" baseline="0" noProof="0" dirty="0">
                    <a:ln>
                      <a:noFill/>
                    </a:ln>
                    <a:solidFill>
                      <a:schemeClr val="tx1"/>
                    </a:solidFill>
                    <a:effectLst/>
                    <a:uLnTx/>
                    <a:uFillTx/>
                    <a:latin typeface="+mn-lt"/>
                    <a:ea typeface="+mn-ea"/>
                    <a:cs typeface="+mn-cs"/>
                  </a:rPr>
                  <a:t>的像素数为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𝑘</m:t>
                        </m:r>
                      </m:sub>
                    </m:sSub>
                  </m:oMath>
                </a14:m>
                <a:r>
                  <a:rPr kumimoji="1" lang="zh-CN" altLang="en-US" sz="2000" b="0" i="0" u="none" strike="noStrike" kern="0" cap="none" spc="0" normalizeH="0" baseline="0" noProof="0" dirty="0">
                    <a:ln>
                      <a:noFill/>
                    </a:ln>
                    <a:solidFill>
                      <a:schemeClr val="tx1"/>
                    </a:solidFill>
                    <a:effectLst/>
                    <a:uLnTx/>
                    <a:uFillTx/>
                    <a:latin typeface="+mn-lt"/>
                    <a:ea typeface="+mn-ea"/>
                    <a:cs typeface="+mn-cs"/>
                  </a:rPr>
                  <a:t>，该图像的归一化直方图：</a:t>
                </a:r>
                <a:endParaRPr kumimoji="1" lang="en-US" altLang="zh-CN" sz="2000" b="0" i="0" u="none" strike="noStrike" kern="0" cap="none" spc="0" normalizeH="0" baseline="0" noProof="0" dirty="0">
                  <a:ln>
                    <a:noFill/>
                  </a:ln>
                  <a:solidFill>
                    <a:schemeClr val="tx1"/>
                  </a:solidFill>
                  <a:effectLst/>
                  <a:uLnTx/>
                  <a:uFillTx/>
                  <a:latin typeface="+mn-lt"/>
                  <a:ea typeface="+mn-ea"/>
                  <a:cs typeface="+mn-cs"/>
                </a:endParaRPr>
              </a:p>
              <a:p>
                <a:pPr marL="438150" marR="0" lvl="1" indent="0" algn="ctr" defTabSz="914400" rtl="0" eaLnBrk="1" fontAlgn="base" latinLnBrk="0" hangingPunct="1">
                  <a:lnSpc>
                    <a:spcPct val="100000"/>
                  </a:lnSpc>
                  <a:spcBef>
                    <a:spcPct val="20000"/>
                  </a:spcBef>
                  <a:spcAft>
                    <a:spcPct val="0"/>
                  </a:spcAft>
                  <a:buClr>
                    <a:srgbClr val="3399FF"/>
                  </a:buClr>
                  <a:buSzTx/>
                  <a:buNone/>
                  <a:defRPr/>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𝑘</m:t>
                              </m:r>
                            </m:sub>
                          </m:sSub>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𝑘</m:t>
                              </m:r>
                            </m:sub>
                          </m:sSub>
                        </m:num>
                        <m:den>
                          <m:r>
                            <a:rPr lang="en-US" altLang="zh-CN" b="0" i="1" smtClean="0">
                              <a:latin typeface="Cambria Math" panose="02040503050406030204" pitchFamily="18" charset="0"/>
                            </a:rPr>
                            <m:t>𝑀𝑁</m:t>
                          </m:r>
                        </m:den>
                      </m:f>
                    </m:oMath>
                  </m:oMathPara>
                </a14:m>
                <a:endParaRPr lang="en-US" altLang="zh-CN" dirty="0"/>
              </a:p>
              <a:p>
                <a:pPr marL="1177925" lvl="2" indent="-342900" algn="just">
                  <a:defRPr/>
                </a:pPr>
                <a:r>
                  <a:rPr lang="zh-CN" altLang="en-US" dirty="0"/>
                  <a:t>可将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𝑘</m:t>
                        </m:r>
                      </m:sub>
                    </m:sSub>
                    <m:r>
                      <a:rPr lang="zh-CN" altLang="en-US" i="1">
                        <a:latin typeface="Cambria Math" panose="02040503050406030204" pitchFamily="18" charset="0"/>
                      </a:rPr>
                      <m:t>视为随机变量，</m:t>
                    </m:r>
                    <m:r>
                      <a:rPr lang="en-US" altLang="zh-CN" i="1">
                        <a:latin typeface="Cambria Math" panose="02040503050406030204" pitchFamily="18" charset="0"/>
                      </a:rPr>
                      <m:t>𝑝</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𝑘</m:t>
                            </m:r>
                          </m:sub>
                        </m:sSub>
                      </m:e>
                    </m:d>
                    <m:r>
                      <a:rPr lang="zh-CN" altLang="en-US" i="1" smtClean="0">
                        <a:latin typeface="Cambria Math" panose="02040503050406030204" pitchFamily="18" charset="0"/>
                      </a:rPr>
                      <m:t>反映</m:t>
                    </m:r>
                    <m:r>
                      <a:rPr lang="zh-CN" altLang="en-US" i="1">
                        <a:latin typeface="Cambria Math" panose="02040503050406030204" pitchFamily="18" charset="0"/>
                      </a:rPr>
                      <m:t>随机变量</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𝑘</m:t>
                        </m:r>
                      </m:sub>
                    </m:sSub>
                  </m:oMath>
                </a14:m>
                <a:r>
                  <a:rPr lang="zh-CN" altLang="en-US" dirty="0"/>
                  <a:t>在图象中出现的概率</a:t>
                </a:r>
                <a:endParaRPr lang="en-US" altLang="zh-CN" dirty="0"/>
              </a:p>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endParaRPr kumimoji="1" lang="zh-CN" altLang="en-US" sz="2400" b="0" i="0" u="none" strike="noStrike" kern="0" cap="none" spc="0" normalizeH="0" baseline="0" noProof="0" dirty="0">
                  <a:ln>
                    <a:noFill/>
                  </a:ln>
                  <a:solidFill>
                    <a:schemeClr val="tx1"/>
                  </a:solidFill>
                  <a:effectLst/>
                  <a:uLnTx/>
                  <a:uFillTx/>
                  <a:latin typeface="+mn-lt"/>
                  <a:ea typeface="+mn-ea"/>
                  <a:cs typeface="+mn-cs"/>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66738" y="1341438"/>
                <a:ext cx="8289738" cy="4967287"/>
              </a:xfrm>
              <a:blipFill>
                <a:blip r:embed="rId2"/>
                <a:stretch>
                  <a:fillRect l="-1029" t="-1350" r="-294"/>
                </a:stretch>
              </a:blipFill>
            </p:spPr>
            <p:txBody>
              <a:bodyPr/>
              <a:lstStyle/>
              <a:p>
                <a:r>
                  <a:rPr lang="zh-CN" altLang="en-US">
                    <a:noFill/>
                  </a:rPr>
                  <a:t> </a:t>
                </a:r>
              </a:p>
            </p:txBody>
          </p:sp>
        </mc:Fallback>
      </mc:AlternateContent>
      <p:sp>
        <p:nvSpPr>
          <p:cNvPr id="19458" name="灯片编号占位符 5"/>
          <p:cNvSpPr txBox="1">
            <a:spLocks noGrp="1"/>
          </p:cNvSpPr>
          <p:nvPr>
            <p:ph type="sldNum" sz="quarter" idx="4294967295"/>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7FE7DE2E-4822-46F8-9F0F-02B2A1237CB7}"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19</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grpSp>
        <p:nvGrpSpPr>
          <p:cNvPr id="5" name="组合 4"/>
          <p:cNvGrpSpPr/>
          <p:nvPr/>
        </p:nvGrpSpPr>
        <p:grpSpPr>
          <a:xfrm>
            <a:off x="2387808" y="4152504"/>
            <a:ext cx="6539970" cy="2624868"/>
            <a:chOff x="1567885" y="3565580"/>
            <a:chExt cx="7471139" cy="3150818"/>
          </a:xfrm>
        </p:grpSpPr>
        <p:pic>
          <p:nvPicPr>
            <p:cNvPr id="6" name="Picture 4"/>
            <p:cNvPicPr>
              <a:picLocks noChangeAspect="1"/>
            </p:cNvPicPr>
            <p:nvPr/>
          </p:nvPicPr>
          <p:blipFill rotWithShape="1">
            <a:blip r:embed="rId3"/>
            <a:srcRect t="49902"/>
            <a:stretch/>
          </p:blipFill>
          <p:spPr>
            <a:xfrm>
              <a:off x="5328084" y="3571771"/>
              <a:ext cx="3710940" cy="3144627"/>
            </a:xfrm>
            <a:prstGeom prst="rect">
              <a:avLst/>
            </a:prstGeom>
            <a:noFill/>
            <a:ln w="9525">
              <a:noFill/>
            </a:ln>
          </p:spPr>
        </p:pic>
        <p:pic>
          <p:nvPicPr>
            <p:cNvPr id="7" name="Picture 4"/>
            <p:cNvPicPr>
              <a:picLocks noChangeAspect="1"/>
            </p:cNvPicPr>
            <p:nvPr/>
          </p:nvPicPr>
          <p:blipFill rotWithShape="1">
            <a:blip r:embed="rId3"/>
            <a:srcRect b="50098"/>
            <a:stretch/>
          </p:blipFill>
          <p:spPr>
            <a:xfrm>
              <a:off x="1567885" y="3565580"/>
              <a:ext cx="3710940" cy="3132348"/>
            </a:xfrm>
            <a:prstGeom prst="rect">
              <a:avLst/>
            </a:prstGeom>
            <a:noFill/>
            <a:ln w="9525">
              <a:noFill/>
            </a:ln>
          </p:spPr>
        </p:pic>
      </p:grpSp>
      <p:sp>
        <p:nvSpPr>
          <p:cNvPr id="8" name="文本框 7"/>
          <p:cNvSpPr txBox="1"/>
          <p:nvPr/>
        </p:nvSpPr>
        <p:spPr>
          <a:xfrm>
            <a:off x="143508" y="4451543"/>
            <a:ext cx="2244300" cy="2142125"/>
          </a:xfrm>
          <a:prstGeom prst="rect">
            <a:avLst/>
          </a:prstGeom>
          <a:noFill/>
        </p:spPr>
        <p:txBody>
          <a:bodyPr wrap="square" rtlCol="0">
            <a:spAutoFit/>
          </a:bodyPr>
          <a:lstStyle/>
          <a:p>
            <a:pPr marL="285750" indent="-285750">
              <a:buClr>
                <a:srgbClr val="3399FF"/>
              </a:buClr>
              <a:buFont typeface="Wingdings" panose="05000000000000000000" pitchFamily="2" charset="2"/>
              <a:buChar char="l"/>
            </a:pPr>
            <a:r>
              <a:rPr lang="zh-CN" altLang="en-US" dirty="0"/>
              <a:t>低对比度图像的灰度级较窄</a:t>
            </a:r>
            <a:endParaRPr lang="en-US" altLang="zh-CN" dirty="0"/>
          </a:p>
          <a:p>
            <a:pPr marL="285750" indent="-285750">
              <a:buClr>
                <a:srgbClr val="3399FF"/>
              </a:buClr>
              <a:buFont typeface="Wingdings" panose="05000000000000000000" pitchFamily="2" charset="2"/>
              <a:buChar char="l"/>
            </a:pPr>
            <a:endParaRPr lang="en-US" altLang="zh-CN" dirty="0"/>
          </a:p>
          <a:p>
            <a:pPr marL="285750" indent="-285750">
              <a:buClr>
                <a:srgbClr val="3399FF"/>
              </a:buClr>
              <a:buFont typeface="Wingdings" panose="05000000000000000000" pitchFamily="2" charset="2"/>
              <a:buChar char="l"/>
            </a:pPr>
            <a:r>
              <a:rPr lang="zh-CN" altLang="en-US" dirty="0"/>
              <a:t>高对比度图像中直方图分量覆盖了很宽的灰度级范围</a:t>
            </a:r>
          </a:p>
        </p:txBody>
      </p:sp>
    </p:spTree>
    <p:extLst>
      <p:ext uri="{BB962C8B-B14F-4D97-AF65-F5344CB8AC3E}">
        <p14:creationId xmlns:p14="http://schemas.microsoft.com/office/powerpoint/2010/main" val="236083872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直方图的灰度变换</a:t>
            </a:r>
          </a:p>
        </p:txBody>
      </p:sp>
      <p:sp>
        <p:nvSpPr>
          <p:cNvPr id="3" name="内容占位符 2"/>
          <p:cNvSpPr>
            <a:spLocks noGrp="1"/>
          </p:cNvSpPr>
          <p:nvPr>
            <p:ph idx="1"/>
          </p:nvPr>
        </p:nvSpPr>
        <p:spPr/>
        <p:txBody>
          <a:bodyPr/>
          <a:lstStyle/>
          <a:p>
            <a:pPr lvl="0">
              <a:buFont typeface="Wingdings" panose="05000000000000000000" pitchFamily="2" charset="2"/>
              <a:buChar char="o"/>
              <a:defRPr/>
            </a:pPr>
            <a:r>
              <a:rPr lang="zh-CN" altLang="en-US" dirty="0"/>
              <a:t>基于直方图的灰度变换</a:t>
            </a:r>
          </a:p>
          <a:p>
            <a:pPr lvl="1">
              <a:buFont typeface="Wingdings" panose="05000000000000000000" pitchFamily="2" charset="2"/>
              <a:buChar char="n"/>
              <a:defRPr/>
            </a:pPr>
            <a:r>
              <a:rPr lang="zh-CN" altLang="en-US" dirty="0"/>
              <a:t>不改变像素的位置，只改变像素的灰度值</a:t>
            </a:r>
          </a:p>
          <a:p>
            <a:pPr lvl="0">
              <a:buFont typeface="Wingdings" panose="05000000000000000000" pitchFamily="2" charset="2"/>
              <a:buChar char="o"/>
              <a:defRPr/>
            </a:pPr>
            <a:r>
              <a:rPr lang="zh-CN" altLang="en-US" dirty="0"/>
              <a:t>通过修改直方图可以达到增强图象的对比度、使感兴趣的部分看得更清楚</a:t>
            </a:r>
            <a:endParaRPr lang="en-US" altLang="zh-CN" dirty="0"/>
          </a:p>
          <a:p>
            <a:pPr lvl="1">
              <a:buFont typeface="Wingdings" panose="05000000000000000000" pitchFamily="2" charset="2"/>
              <a:buChar char="n"/>
              <a:defRPr/>
            </a:pPr>
            <a:r>
              <a:rPr lang="zh-CN" altLang="en-US" dirty="0"/>
              <a:t>整体改善图象质量，避免“管中窥豹”式处理</a:t>
            </a:r>
          </a:p>
          <a:p>
            <a:endParaRPr lang="zh-CN" altLang="en-US" dirty="0"/>
          </a:p>
        </p:txBody>
      </p:sp>
      <p:pic>
        <p:nvPicPr>
          <p:cNvPr id="10" name="Picture 9"/>
          <p:cNvPicPr>
            <a:picLocks noChangeAspect="1"/>
          </p:cNvPicPr>
          <p:nvPr/>
        </p:nvPicPr>
        <p:blipFill>
          <a:blip r:embed="rId2"/>
          <a:stretch>
            <a:fillRect/>
          </a:stretch>
        </p:blipFill>
        <p:spPr>
          <a:xfrm>
            <a:off x="1647268" y="3392996"/>
            <a:ext cx="3962513" cy="3350753"/>
          </a:xfrm>
          <a:prstGeom prst="rect">
            <a:avLst/>
          </a:prstGeom>
          <a:noFill/>
          <a:ln w="9525">
            <a:noFill/>
          </a:ln>
        </p:spPr>
      </p:pic>
      <p:sp>
        <p:nvSpPr>
          <p:cNvPr id="11" name="Text Box 10"/>
          <p:cNvSpPr txBox="1"/>
          <p:nvPr/>
        </p:nvSpPr>
        <p:spPr>
          <a:xfrm>
            <a:off x="5627403" y="4005064"/>
            <a:ext cx="2303462" cy="400110"/>
          </a:xfrm>
          <a:prstGeom prst="rect">
            <a:avLst/>
          </a:prstGeom>
          <a:noFill/>
          <a:ln w="9525">
            <a:noFill/>
          </a:ln>
        </p:spPr>
        <p:txBody>
          <a:bodyPr>
            <a:spAutoFit/>
          </a:bodyPr>
          <a:lstStyle/>
          <a:p>
            <a:pPr indent="0" eaLnBrk="1" hangingPunct="1">
              <a:spcBef>
                <a:spcPct val="50000"/>
              </a:spcBef>
              <a:buNone/>
            </a:pPr>
            <a:r>
              <a:rPr lang="zh-CN" altLang="en-US" sz="2000" dirty="0">
                <a:latin typeface="Times New Roman" panose="02020603050405020304" charset="0"/>
              </a:rPr>
              <a:t>低对比度</a:t>
            </a:r>
          </a:p>
        </p:txBody>
      </p:sp>
      <p:sp>
        <p:nvSpPr>
          <p:cNvPr id="12" name="Text Box 11"/>
          <p:cNvSpPr txBox="1"/>
          <p:nvPr/>
        </p:nvSpPr>
        <p:spPr>
          <a:xfrm>
            <a:off x="5627403" y="5625244"/>
            <a:ext cx="2303463" cy="400110"/>
          </a:xfrm>
          <a:prstGeom prst="rect">
            <a:avLst/>
          </a:prstGeom>
          <a:noFill/>
          <a:ln w="9525">
            <a:noFill/>
          </a:ln>
        </p:spPr>
        <p:txBody>
          <a:bodyPr>
            <a:spAutoFit/>
          </a:bodyPr>
          <a:lstStyle/>
          <a:p>
            <a:pPr indent="0" eaLnBrk="1" hangingPunct="1">
              <a:spcBef>
                <a:spcPct val="50000"/>
              </a:spcBef>
              <a:buNone/>
            </a:pPr>
            <a:r>
              <a:rPr lang="zh-CN" altLang="en-US" sz="2000" dirty="0">
                <a:latin typeface="Times New Roman" panose="02020603050405020304" charset="0"/>
              </a:rPr>
              <a:t>高对比度</a:t>
            </a:r>
          </a:p>
        </p:txBody>
      </p:sp>
      <p:sp>
        <p:nvSpPr>
          <p:cNvPr id="4" name="灯片编号占位符 3">
            <a:extLst>
              <a:ext uri="{FF2B5EF4-FFF2-40B4-BE49-F238E27FC236}">
                <a16:creationId xmlns:a16="http://schemas.microsoft.com/office/drawing/2014/main" id="{0235DCA0-5104-4266-907D-B125CFC7526F}"/>
              </a:ext>
            </a:extLst>
          </p:cNvPr>
          <p:cNvSpPr>
            <a:spLocks noGrp="1"/>
          </p:cNvSpPr>
          <p:nvPr>
            <p:ph type="sldNum" sz="quarter" idx="12"/>
          </p:nvPr>
        </p:nvSpPr>
        <p:spPr/>
        <p:txBody>
          <a:bodyPr/>
          <a:lstStyle/>
          <a:p>
            <a:pPr>
              <a:defRPr/>
            </a:pPr>
            <a:fld id="{BE59E6E9-16BB-4D46-A8D6-97CC594B8C57}" type="slidenum">
              <a:rPr lang="en-US" altLang="zh-CN" smtClean="0"/>
              <a:pPr>
                <a:defRPr/>
              </a:pPr>
              <a:t>20</a:t>
            </a:fld>
            <a:endParaRPr lang="en-US" altLang="zh-CN"/>
          </a:p>
        </p:txBody>
      </p:sp>
    </p:spTree>
    <p:extLst>
      <p:ext uri="{BB962C8B-B14F-4D97-AF65-F5344CB8AC3E}">
        <p14:creationId xmlns:p14="http://schemas.microsoft.com/office/powerpoint/2010/main" val="285287583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直方图均衡</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a:spcAft>
                    <a:spcPts val="300"/>
                  </a:spcAft>
                </a:pPr>
                <a:r>
                  <a:rPr lang="zh-CN" altLang="en-US" dirty="0">
                    <a:latin typeface="+mn-ea"/>
                  </a:rPr>
                  <a:t>给定一副灰度图象，其灰度级用</a:t>
                </a:r>
                <a14:m>
                  <m:oMath xmlns:m="http://schemas.openxmlformats.org/officeDocument/2006/math">
                    <m:r>
                      <a:rPr lang="en-US" altLang="zh-CN" b="0" i="1" smtClean="0">
                        <a:latin typeface="Cambria Math" panose="02040503050406030204" pitchFamily="18" charset="0"/>
                      </a:rPr>
                      <m:t>𝑟</m:t>
                    </m:r>
                  </m:oMath>
                </a14:m>
                <a:r>
                  <a:rPr lang="zh-CN" altLang="en-US" dirty="0">
                    <a:latin typeface="+mn-ea"/>
                  </a:rPr>
                  <a:t>表示，</a:t>
                </a:r>
                <a:r>
                  <a:rPr lang="en-US" altLang="zh-CN" dirty="0">
                    <a:latin typeface="+mn-ea"/>
                  </a:rPr>
                  <a:t> </a:t>
                </a:r>
                <a14:m>
                  <m:oMath xmlns:m="http://schemas.openxmlformats.org/officeDocument/2006/math">
                    <m:r>
                      <a:rPr lang="en-US" altLang="zh-CN" i="1" dirty="0" smtClean="0">
                        <a:latin typeface="Cambria Math" panose="02040503050406030204" pitchFamily="18" charset="0"/>
                      </a:rPr>
                      <m:t>0≤</m:t>
                    </m:r>
                    <m:r>
                      <a:rPr lang="en-US" altLang="zh-CN" i="1">
                        <a:latin typeface="Cambria Math" panose="02040503050406030204" pitchFamily="18" charset="0"/>
                      </a:rPr>
                      <m:t>𝑟</m:t>
                    </m:r>
                    <m:r>
                      <a:rPr lang="en-US" altLang="zh-CN" i="1" smtClean="0">
                        <a:latin typeface="Cambria Math" panose="02040503050406030204" pitchFamily="18" charset="0"/>
                      </a:rPr>
                      <m:t>≤</m:t>
                    </m:r>
                    <m:r>
                      <a:rPr lang="en-US" altLang="zh-CN" b="0" i="1" smtClean="0">
                        <a:latin typeface="Cambria Math" panose="02040503050406030204" pitchFamily="18" charset="0"/>
                      </a:rPr>
                      <m:t>𝐿</m:t>
                    </m:r>
                    <m:r>
                      <a:rPr lang="en-US" altLang="zh-CN" i="1">
                        <a:latin typeface="Cambria Math" panose="02040503050406030204" pitchFamily="18" charset="0"/>
                      </a:rPr>
                      <m:t>−</m:t>
                    </m:r>
                    <m:r>
                      <a:rPr lang="en-US" altLang="zh-CN" i="1" smtClean="0">
                        <a:latin typeface="Cambria Math" panose="02040503050406030204" pitchFamily="18" charset="0"/>
                      </a:rPr>
                      <m:t>1</m:t>
                    </m:r>
                  </m:oMath>
                </a14:m>
                <a:endParaRPr lang="en-US" altLang="zh-CN" dirty="0">
                  <a:latin typeface="+mn-ea"/>
                </a:endParaRPr>
              </a:p>
              <a:p>
                <a:pPr lvl="1">
                  <a:spcAft>
                    <a:spcPts val="300"/>
                  </a:spcAft>
                </a:pPr>
                <a:r>
                  <a:rPr lang="zh-CN" altLang="en-US" dirty="0">
                    <a:latin typeface="+mn-ea"/>
                  </a:rPr>
                  <a:t>该图的灰度级分布为</a:t>
                </a:r>
                <a14:m>
                  <m:oMath xmlns:m="http://schemas.openxmlformats.org/officeDocument/2006/math">
                    <m:r>
                      <a:rPr lang="en-US" altLang="zh-CN" i="1">
                        <a:latin typeface="Cambria Math" panose="02040503050406030204" pitchFamily="18" charset="0"/>
                      </a:rPr>
                      <m:t>𝑝</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𝑟</m:t>
                        </m:r>
                      </m:e>
                    </m:d>
                  </m:oMath>
                </a14:m>
                <a:endParaRPr lang="en-US" altLang="zh-CN" dirty="0">
                  <a:latin typeface="+mn-ea"/>
                </a:endParaRPr>
              </a:p>
              <a:p>
                <a:pPr>
                  <a:spcAft>
                    <a:spcPts val="300"/>
                  </a:spcAft>
                </a:pPr>
                <a:r>
                  <a:rPr lang="zh-CN" altLang="en-US" dirty="0">
                    <a:latin typeface="+mn-ea"/>
                  </a:rPr>
                  <a:t>对该图的灰度</a:t>
                </a:r>
                <a14:m>
                  <m:oMath xmlns:m="http://schemas.openxmlformats.org/officeDocument/2006/math">
                    <m:r>
                      <a:rPr lang="en-US" altLang="zh-CN" i="1">
                        <a:latin typeface="Cambria Math" panose="02040503050406030204" pitchFamily="18" charset="0"/>
                      </a:rPr>
                      <m:t>𝑟</m:t>
                    </m:r>
                  </m:oMath>
                </a14:m>
                <a:r>
                  <a:rPr lang="zh-CN" altLang="en-US" dirty="0">
                    <a:latin typeface="+mn-ea"/>
                  </a:rPr>
                  <a:t>做变换，产生新的灰度级</a:t>
                </a:r>
                <a14:m>
                  <m:oMath xmlns:m="http://schemas.openxmlformats.org/officeDocument/2006/math">
                    <m:r>
                      <a:rPr lang="en-US" altLang="zh-CN" b="0" i="1" smtClean="0">
                        <a:latin typeface="Cambria Math" panose="02040503050406030204" pitchFamily="18" charset="0"/>
                      </a:rPr>
                      <m:t>𝑠</m:t>
                    </m:r>
                  </m:oMath>
                </a14:m>
                <a:endParaRPr lang="en-US" altLang="zh-CN" dirty="0">
                  <a:latin typeface="+mn-ea"/>
                </a:endParaRPr>
              </a:p>
              <a:p>
                <a:pPr marL="0" indent="0" algn="ctr">
                  <a:spcAft>
                    <a:spcPts val="300"/>
                  </a:spcAft>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en-US" altLang="zh-CN" i="1">
                          <a:latin typeface="Cambria Math" panose="02040503050406030204" pitchFamily="18" charset="0"/>
                        </a:rPr>
                        <m:t>𝑟</m:t>
                      </m:r>
                      <m:r>
                        <a:rPr lang="en-US" altLang="zh-CN" b="0" i="1" smtClean="0">
                          <a:latin typeface="Cambria Math" panose="02040503050406030204" pitchFamily="18" charset="0"/>
                        </a:rPr>
                        <m:t>)</m:t>
                      </m:r>
                    </m:oMath>
                  </m:oMathPara>
                </a14:m>
                <a:endParaRPr lang="en-US" altLang="zh-CN" dirty="0">
                  <a:latin typeface="+mn-ea"/>
                </a:endParaRPr>
              </a:p>
              <a:p>
                <a:pPr lvl="1" algn="just">
                  <a:spcAft>
                    <a:spcPts val="300"/>
                  </a:spcAft>
                </a:pPr>
                <a14:m>
                  <m:oMath xmlns:m="http://schemas.openxmlformats.org/officeDocument/2006/math">
                    <m:r>
                      <a:rPr lang="en-US" altLang="zh-CN" i="1">
                        <a:latin typeface="Cambria Math" panose="02040503050406030204" pitchFamily="18" charset="0"/>
                      </a:rPr>
                      <m:t>𝑇</m:t>
                    </m:r>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 </m:t>
                    </m:r>
                  </m:oMath>
                </a14:m>
                <a:r>
                  <a:rPr lang="zh-CN" altLang="en-US" dirty="0">
                    <a:latin typeface="+mn-ea"/>
                  </a:rPr>
                  <a:t>为单调递增函数</a:t>
                </a:r>
                <a:endParaRPr lang="en-US" altLang="zh-CN" dirty="0">
                  <a:latin typeface="+mn-ea"/>
                </a:endParaRPr>
              </a:p>
              <a:p>
                <a:pPr lvl="1" algn="just">
                  <a:spcAft>
                    <a:spcPts val="300"/>
                  </a:spcAft>
                </a:pPr>
                <a:r>
                  <a:rPr lang="zh-CN" altLang="en-US" dirty="0">
                    <a:latin typeface="+mn-ea"/>
                  </a:rPr>
                  <a:t>当</a:t>
                </a:r>
                <a14:m>
                  <m:oMath xmlns:m="http://schemas.openxmlformats.org/officeDocument/2006/math">
                    <m:r>
                      <a:rPr lang="en-US" altLang="zh-CN" i="1" dirty="0">
                        <a:latin typeface="Cambria Math" panose="02040503050406030204" pitchFamily="18" charset="0"/>
                      </a:rPr>
                      <m:t>0≤</m:t>
                    </m:r>
                    <m:r>
                      <a:rPr lang="en-US" altLang="zh-CN" i="1">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𝐿</m:t>
                    </m:r>
                    <m:r>
                      <a:rPr lang="en-US" altLang="zh-CN" i="1">
                        <a:latin typeface="Cambria Math" panose="02040503050406030204" pitchFamily="18" charset="0"/>
                      </a:rPr>
                      <m:t>−1</m:t>
                    </m:r>
                  </m:oMath>
                </a14:m>
                <a:r>
                  <a:rPr lang="zh-CN" altLang="en-US" dirty="0">
                    <a:latin typeface="+mn-ea"/>
                  </a:rPr>
                  <a:t>，有</a:t>
                </a:r>
                <a14:m>
                  <m:oMath xmlns:m="http://schemas.openxmlformats.org/officeDocument/2006/math">
                    <m:r>
                      <a:rPr lang="en-US" altLang="zh-CN" i="1" dirty="0">
                        <a:latin typeface="Cambria Math" panose="02040503050406030204" pitchFamily="18" charset="0"/>
                      </a:rPr>
                      <m:t>0≤</m:t>
                    </m:r>
                    <m:r>
                      <a:rPr lang="en-US" altLang="zh-CN" i="1">
                        <a:latin typeface="Cambria Math" panose="02040503050406030204" pitchFamily="18" charset="0"/>
                      </a:rPr>
                      <m:t>𝑇</m:t>
                    </m:r>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𝐿</m:t>
                    </m:r>
                    <m:r>
                      <a:rPr lang="en-US" altLang="zh-CN" i="1">
                        <a:latin typeface="Cambria Math" panose="02040503050406030204" pitchFamily="18" charset="0"/>
                      </a:rPr>
                      <m:t>−1</m:t>
                    </m:r>
                  </m:oMath>
                </a14:m>
                <a:endParaRPr lang="en-US" altLang="zh-CN" dirty="0">
                  <a:latin typeface="+mn-ea"/>
                </a:endParaRPr>
              </a:p>
              <a:p>
                <a:pPr algn="just">
                  <a:spcAft>
                    <a:spcPts val="300"/>
                  </a:spcAft>
                </a:pPr>
                <a:endParaRPr lang="en-US" altLang="zh-CN" b="1" dirty="0">
                  <a:solidFill>
                    <a:srgbClr val="0070C0"/>
                  </a:solidFill>
                  <a:latin typeface="+mn-ea"/>
                </a:endParaRPr>
              </a:p>
              <a:p>
                <a:pPr algn="just">
                  <a:spcAft>
                    <a:spcPts val="300"/>
                  </a:spcAft>
                </a:pPr>
                <a:r>
                  <a:rPr lang="zh-CN" altLang="en-US" b="1" dirty="0">
                    <a:solidFill>
                      <a:srgbClr val="0070C0"/>
                    </a:solidFill>
                    <a:latin typeface="+mn-ea"/>
                  </a:rPr>
                  <a:t>目标</a:t>
                </a:r>
                <a:r>
                  <a:rPr lang="zh-CN" altLang="en-US" dirty="0">
                    <a:solidFill>
                      <a:srgbClr val="0070C0"/>
                    </a:solidFill>
                    <a:latin typeface="+mn-ea"/>
                  </a:rPr>
                  <a:t>：对于任意的灰度分布</a:t>
                </a:r>
                <a14:m>
                  <m:oMath xmlns:m="http://schemas.openxmlformats.org/officeDocument/2006/math">
                    <m:r>
                      <a:rPr lang="en-US" altLang="zh-CN" i="1">
                        <a:solidFill>
                          <a:srgbClr val="0070C0"/>
                        </a:solidFill>
                        <a:latin typeface="Cambria Math" panose="02040503050406030204" pitchFamily="18" charset="0"/>
                      </a:rPr>
                      <m:t>𝑝</m:t>
                    </m:r>
                    <m:d>
                      <m:dPr>
                        <m:ctrlPr>
                          <a:rPr lang="en-US" altLang="zh-CN" i="1">
                            <a:solidFill>
                              <a:srgbClr val="0070C0"/>
                            </a:solidFill>
                            <a:latin typeface="Cambria Math" panose="02040503050406030204" pitchFamily="18" charset="0"/>
                          </a:rPr>
                        </m:ctrlPr>
                      </m:dPr>
                      <m:e>
                        <m:r>
                          <a:rPr lang="en-US" altLang="zh-CN" i="1">
                            <a:solidFill>
                              <a:srgbClr val="0070C0"/>
                            </a:solidFill>
                            <a:latin typeface="Cambria Math" panose="02040503050406030204" pitchFamily="18" charset="0"/>
                          </a:rPr>
                          <m:t>𝑟</m:t>
                        </m:r>
                      </m:e>
                    </m:d>
                  </m:oMath>
                </a14:m>
                <a:r>
                  <a:rPr lang="zh-CN" altLang="en-US" dirty="0">
                    <a:solidFill>
                      <a:srgbClr val="0070C0"/>
                    </a:solidFill>
                    <a:latin typeface="+mn-ea"/>
                  </a:rPr>
                  <a:t>，选择函数</a:t>
                </a:r>
                <a14:m>
                  <m:oMath xmlns:m="http://schemas.openxmlformats.org/officeDocument/2006/math">
                    <m:r>
                      <a:rPr lang="en-US" altLang="zh-CN" i="1">
                        <a:solidFill>
                          <a:srgbClr val="0070C0"/>
                        </a:solidFill>
                        <a:latin typeface="Cambria Math" panose="02040503050406030204" pitchFamily="18" charset="0"/>
                      </a:rPr>
                      <m:t>𝑇</m:t>
                    </m:r>
                    <m:r>
                      <a:rPr lang="en-US" altLang="zh-CN" b="0" i="1" smtClean="0">
                        <a:solidFill>
                          <a:srgbClr val="0070C0"/>
                        </a:solidFill>
                        <a:latin typeface="Cambria Math" panose="02040503050406030204" pitchFamily="18" charset="0"/>
                      </a:rPr>
                      <m:t>(∙)</m:t>
                    </m:r>
                  </m:oMath>
                </a14:m>
                <a:r>
                  <a:rPr lang="zh-CN" altLang="en-US" dirty="0">
                    <a:solidFill>
                      <a:srgbClr val="0070C0"/>
                    </a:solidFill>
                    <a:latin typeface="+mn-ea"/>
                  </a:rPr>
                  <a:t>，使得</a:t>
                </a:r>
                <a14:m>
                  <m:oMath xmlns:m="http://schemas.openxmlformats.org/officeDocument/2006/math">
                    <m:r>
                      <a:rPr lang="en-US" altLang="zh-CN" i="1">
                        <a:solidFill>
                          <a:srgbClr val="0070C0"/>
                        </a:solidFill>
                        <a:latin typeface="Cambria Math" panose="02040503050406030204" pitchFamily="18" charset="0"/>
                      </a:rPr>
                      <m:t>𝑠</m:t>
                    </m:r>
                    <m:r>
                      <a:rPr lang="en-US" altLang="zh-CN" i="1">
                        <a:solidFill>
                          <a:srgbClr val="0070C0"/>
                        </a:solidFill>
                        <a:latin typeface="Cambria Math" panose="02040503050406030204" pitchFamily="18" charset="0"/>
                      </a:rPr>
                      <m:t>=</m:t>
                    </m:r>
                    <m:r>
                      <a:rPr lang="en-US" altLang="zh-CN" i="1">
                        <a:solidFill>
                          <a:srgbClr val="0070C0"/>
                        </a:solidFill>
                        <a:latin typeface="Cambria Math" panose="02040503050406030204" pitchFamily="18" charset="0"/>
                      </a:rPr>
                      <m:t>𝑇</m:t>
                    </m:r>
                    <m:r>
                      <a:rPr lang="en-US" altLang="zh-CN" i="1">
                        <a:solidFill>
                          <a:srgbClr val="0070C0"/>
                        </a:solidFill>
                        <a:latin typeface="Cambria Math" panose="02040503050406030204" pitchFamily="18" charset="0"/>
                      </a:rPr>
                      <m:t>(</m:t>
                    </m:r>
                    <m:r>
                      <a:rPr lang="en-US" altLang="zh-CN" i="1">
                        <a:solidFill>
                          <a:srgbClr val="0070C0"/>
                        </a:solidFill>
                        <a:latin typeface="Cambria Math" panose="02040503050406030204" pitchFamily="18" charset="0"/>
                      </a:rPr>
                      <m:t>𝑟</m:t>
                    </m:r>
                    <m:r>
                      <a:rPr lang="en-US" altLang="zh-CN" i="1">
                        <a:solidFill>
                          <a:srgbClr val="0070C0"/>
                        </a:solidFill>
                        <a:latin typeface="Cambria Math" panose="02040503050406030204" pitchFamily="18" charset="0"/>
                      </a:rPr>
                      <m:t>)</m:t>
                    </m:r>
                  </m:oMath>
                </a14:m>
                <a:r>
                  <a:rPr lang="zh-CN" altLang="en-US" dirty="0">
                    <a:solidFill>
                      <a:srgbClr val="0070C0"/>
                    </a:solidFill>
                    <a:latin typeface="+mn-ea"/>
                  </a:rPr>
                  <a:t>的分布</a:t>
                </a:r>
                <a14:m>
                  <m:oMath xmlns:m="http://schemas.openxmlformats.org/officeDocument/2006/math">
                    <m:r>
                      <a:rPr lang="en-US" altLang="zh-CN" i="1">
                        <a:solidFill>
                          <a:srgbClr val="0070C0"/>
                        </a:solidFill>
                        <a:latin typeface="Cambria Math" panose="02040503050406030204" pitchFamily="18" charset="0"/>
                      </a:rPr>
                      <m:t>𝑝</m:t>
                    </m:r>
                    <m:d>
                      <m:dPr>
                        <m:ctrlPr>
                          <a:rPr lang="en-US" altLang="zh-CN" i="1">
                            <a:solidFill>
                              <a:srgbClr val="0070C0"/>
                            </a:solidFill>
                            <a:latin typeface="Cambria Math" panose="02040503050406030204" pitchFamily="18" charset="0"/>
                          </a:rPr>
                        </m:ctrlPr>
                      </m:dPr>
                      <m:e>
                        <m:r>
                          <a:rPr lang="en-US" altLang="zh-CN" b="0" i="1" smtClean="0">
                            <a:solidFill>
                              <a:srgbClr val="0070C0"/>
                            </a:solidFill>
                            <a:latin typeface="Cambria Math" panose="02040503050406030204" pitchFamily="18" charset="0"/>
                          </a:rPr>
                          <m:t>𝑠</m:t>
                        </m:r>
                      </m:e>
                    </m:d>
                  </m:oMath>
                </a14:m>
                <a:r>
                  <a:rPr lang="zh-CN" altLang="en-US" dirty="0">
                    <a:solidFill>
                      <a:srgbClr val="0070C0"/>
                    </a:solidFill>
                    <a:latin typeface="+mn-ea"/>
                  </a:rPr>
                  <a:t>为均匀分布</a:t>
                </a:r>
                <a:endParaRPr lang="en-US" altLang="zh-CN" dirty="0">
                  <a:solidFill>
                    <a:srgbClr val="0070C0"/>
                  </a:solidFill>
                  <a:latin typeface="+mn-ea"/>
                </a:endParaRPr>
              </a:p>
              <a:p>
                <a:pPr lvl="1" algn="just">
                  <a:spcAft>
                    <a:spcPts val="300"/>
                  </a:spcAft>
                </a:pPr>
                <a:r>
                  <a:rPr lang="zh-CN" altLang="en-US" dirty="0">
                    <a:solidFill>
                      <a:srgbClr val="C00000"/>
                    </a:solidFill>
                    <a:latin typeface="+mn-ea"/>
                  </a:rPr>
                  <a:t>如何定义函数</a:t>
                </a:r>
                <a14:m>
                  <m:oMath xmlns:m="http://schemas.openxmlformats.org/officeDocument/2006/math">
                    <m:r>
                      <a:rPr lang="en-US" altLang="zh-CN" i="1">
                        <a:solidFill>
                          <a:srgbClr val="C00000"/>
                        </a:solidFill>
                        <a:latin typeface="Cambria Math" panose="02040503050406030204" pitchFamily="18" charset="0"/>
                      </a:rPr>
                      <m:t>𝑇</m:t>
                    </m:r>
                    <m:r>
                      <a:rPr lang="en-US" altLang="zh-CN" i="1">
                        <a:solidFill>
                          <a:srgbClr val="C00000"/>
                        </a:solidFill>
                        <a:latin typeface="Cambria Math" panose="02040503050406030204" pitchFamily="18" charset="0"/>
                      </a:rPr>
                      <m:t>(∙)</m:t>
                    </m:r>
                  </m:oMath>
                </a14:m>
                <a:r>
                  <a:rPr lang="zh-CN" altLang="en-US" dirty="0">
                    <a:solidFill>
                      <a:srgbClr val="C00000"/>
                    </a:solidFill>
                    <a:latin typeface="+mn-ea"/>
                  </a:rPr>
                  <a:t>？</a:t>
                </a:r>
                <a:endParaRPr lang="en-US" altLang="zh-CN" dirty="0">
                  <a:solidFill>
                    <a:srgbClr val="C00000"/>
                  </a:solidFill>
                  <a:latin typeface="+mn-ea"/>
                </a:endParaRPr>
              </a:p>
              <a:p>
                <a:pPr lvl="1" algn="just"/>
                <a:endParaRPr lang="en-US" altLang="zh-CN" dirty="0">
                  <a:ea typeface="Cambria Math" panose="02040503050406030204" pitchFamily="18" charset="0"/>
                </a:endParaRPr>
              </a:p>
              <a:p>
                <a:pPr lvl="1" algn="just"/>
                <a:endParaRPr lang="en-US" altLang="zh-CN" dirty="0">
                  <a:ea typeface="Cambria Math" panose="02040503050406030204" pitchFamily="18" charset="0"/>
                </a:endParaRPr>
              </a:p>
              <a:p>
                <a:pPr lvl="1" algn="just"/>
                <a:endParaRPr lang="en-US" altLang="zh-CN" dirty="0">
                  <a:ea typeface="Cambria Math" panose="02040503050406030204" pitchFamily="18" charset="0"/>
                </a:endParaRP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067" t="-1350" r="-1143"/>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E59E6E9-16BB-4D46-A8D6-97CC594B8C57}" type="slidenum">
              <a:rPr lang="en-US" altLang="zh-CN" smtClean="0"/>
              <a:pPr>
                <a:defRPr/>
              </a:pPr>
              <a:t>21</a:t>
            </a:fld>
            <a:endParaRPr lang="en-US" altLang="zh-CN"/>
          </a:p>
        </p:txBody>
      </p:sp>
      <mc:AlternateContent xmlns:mc="http://schemas.openxmlformats.org/markup-compatibility/2006">
        <mc:Choice xmlns:a14="http://schemas.microsoft.com/office/drawing/2010/main" Requires="a14">
          <p:sp>
            <p:nvSpPr>
              <p:cNvPr id="5" name="文本框 4"/>
              <p:cNvSpPr txBox="1"/>
              <p:nvPr/>
            </p:nvSpPr>
            <p:spPr>
              <a:xfrm>
                <a:off x="2771800" y="5607631"/>
                <a:ext cx="3218510" cy="600229"/>
              </a:xfrm>
              <a:prstGeom prst="rect">
                <a:avLst/>
              </a:prstGeom>
              <a:noFill/>
            </p:spPr>
            <p:txBody>
              <a:bodyPr wrap="none" lIns="0" tIns="0" rIns="0" bIns="0" rtlCol="0">
                <a:spAutoFit/>
              </a:bodyPr>
              <a:lstStyle/>
              <a:p>
                <a:pPr>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m:t>
                      </m:r>
                      <m:r>
                        <a:rPr lang="en-GB" altLang="zh-CN" i="1" smtClean="0">
                          <a:latin typeface="Cambria Math" panose="02040503050406030204" pitchFamily="18" charset="0"/>
                        </a:rPr>
                        <m:t>=</m:t>
                      </m:r>
                      <m:r>
                        <a:rPr lang="en-US" altLang="zh-CN" b="0" i="1" smtClean="0">
                          <a:latin typeface="Cambria Math" panose="02040503050406030204" pitchFamily="18" charset="0"/>
                        </a:rPr>
                        <m:t>𝑇</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𝐿</m:t>
                      </m:r>
                      <m:r>
                        <a:rPr lang="en-US" altLang="zh-CN" b="0" i="1" smtClean="0">
                          <a:latin typeface="Cambria Math" panose="02040503050406030204" pitchFamily="18" charset="0"/>
                        </a:rPr>
                        <m:t>−1)</m:t>
                      </m:r>
                      <m:nary>
                        <m:naryPr>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0</m:t>
                          </m:r>
                        </m:sub>
                        <m:sup>
                          <m:r>
                            <a:rPr lang="en-US" altLang="zh-CN" b="0" i="1" smtClean="0">
                              <a:latin typeface="Cambria Math" panose="02040503050406030204" pitchFamily="18" charset="0"/>
                            </a:rPr>
                            <m:t>𝑟</m:t>
                          </m:r>
                        </m:sup>
                        <m:e>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𝑟</m:t>
                              </m:r>
                            </m:sub>
                          </m:sSub>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𝑤</m:t>
                              </m:r>
                            </m:e>
                          </m:d>
                          <m:r>
                            <a:rPr lang="en-US" altLang="zh-CN" b="0" i="1" smtClean="0">
                              <a:latin typeface="Cambria Math" panose="02040503050406030204" pitchFamily="18" charset="0"/>
                            </a:rPr>
                            <m:t>𝑑𝑤</m:t>
                          </m:r>
                        </m:e>
                      </m:nary>
                    </m:oMath>
                  </m:oMathPara>
                </a14:m>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2771800" y="5607631"/>
                <a:ext cx="3218510" cy="600229"/>
              </a:xfrm>
              <a:prstGeom prst="rect">
                <a:avLst/>
              </a:prstGeom>
              <a:blipFill>
                <a:blip r:embed="rId3"/>
                <a:stretch>
                  <a:fillRect b="-10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3403082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直方图均衡</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30631"/>
          <a:stretch/>
        </p:blipFill>
        <p:spPr bwMode="auto">
          <a:xfrm>
            <a:off x="1763688" y="3601140"/>
            <a:ext cx="5817474" cy="2004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7" name="文本框 6"/>
              <p:cNvSpPr txBox="1"/>
              <p:nvPr/>
            </p:nvSpPr>
            <p:spPr>
              <a:xfrm>
                <a:off x="1151620" y="1372933"/>
                <a:ext cx="3573158" cy="667042"/>
              </a:xfrm>
              <a:prstGeom prst="rect">
                <a:avLst/>
              </a:prstGeom>
              <a:noFill/>
            </p:spPr>
            <p:txBody>
              <a:bodyPr wrap="none" lIns="0" tIns="0" rIns="0" bIns="0" rtlCol="0">
                <a:spAutoFit/>
              </a:bodyPr>
              <a:lstStyle/>
              <a:p>
                <a:pPr>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𝑠</m:t>
                      </m:r>
                      <m:r>
                        <a:rPr lang="en-GB" altLang="zh-CN" sz="2000" i="1" smtClean="0">
                          <a:latin typeface="Cambria Math" panose="02040503050406030204" pitchFamily="18" charset="0"/>
                        </a:rPr>
                        <m:t>=</m:t>
                      </m:r>
                      <m:r>
                        <a:rPr lang="en-US" altLang="zh-CN" sz="2000" b="0" i="1" smtClean="0">
                          <a:latin typeface="Cambria Math" panose="02040503050406030204" pitchFamily="18" charset="0"/>
                        </a:rPr>
                        <m:t>𝑇</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𝑟</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𝐿</m:t>
                      </m:r>
                      <m:r>
                        <a:rPr lang="en-US" altLang="zh-CN" sz="2000" b="0" i="1" smtClean="0">
                          <a:latin typeface="Cambria Math" panose="02040503050406030204" pitchFamily="18" charset="0"/>
                        </a:rPr>
                        <m:t>−1)</m:t>
                      </m:r>
                      <m:nary>
                        <m:naryPr>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0</m:t>
                          </m:r>
                        </m:sub>
                        <m:sup>
                          <m:r>
                            <a:rPr lang="en-US" altLang="zh-CN" sz="2000" b="0" i="1" smtClean="0">
                              <a:latin typeface="Cambria Math" panose="02040503050406030204" pitchFamily="18" charset="0"/>
                            </a:rPr>
                            <m:t>𝑟</m:t>
                          </m:r>
                        </m:sup>
                        <m:e>
                          <m:sSub>
                            <m:sSubPr>
                              <m:ctrlPr>
                                <a:rPr lang="en-US" altLang="zh-CN" sz="2000" b="0" i="1" smtClean="0">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b="0" i="1" smtClean="0">
                                  <a:latin typeface="Cambria Math" panose="02040503050406030204" pitchFamily="18" charset="0"/>
                                </a:rPr>
                                <m:t>𝑟</m:t>
                              </m:r>
                            </m:sub>
                          </m:sSub>
                          <m:r>
                            <a:rPr lang="en-US" altLang="zh-CN" sz="2000" b="0" i="1" smtClean="0">
                              <a:latin typeface="Cambria Math" panose="02040503050406030204" pitchFamily="18" charset="0"/>
                            </a:rPr>
                            <m:t> </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𝑤</m:t>
                              </m:r>
                            </m:e>
                          </m:d>
                          <m:r>
                            <a:rPr lang="en-US" altLang="zh-CN" sz="2000" b="0" i="1" smtClean="0">
                              <a:latin typeface="Cambria Math" panose="02040503050406030204" pitchFamily="18" charset="0"/>
                            </a:rPr>
                            <m:t>𝑑𝑤</m:t>
                          </m:r>
                        </m:e>
                      </m:nary>
                    </m:oMath>
                  </m:oMathPara>
                </a14:m>
                <a:endParaRPr lang="zh-CN" altLang="en-US" sz="2000" dirty="0"/>
              </a:p>
            </p:txBody>
          </p:sp>
        </mc:Choice>
        <mc:Fallback xmlns="">
          <p:sp>
            <p:nvSpPr>
              <p:cNvPr id="7" name="文本框 6"/>
              <p:cNvSpPr txBox="1">
                <a:spLocks noRot="1" noChangeAspect="1" noMove="1" noResize="1" noEditPoints="1" noAdjustHandles="1" noChangeArrowheads="1" noChangeShapeType="1" noTextEdit="1"/>
              </p:cNvSpPr>
              <p:nvPr/>
            </p:nvSpPr>
            <p:spPr>
              <a:xfrm>
                <a:off x="1151620" y="1372933"/>
                <a:ext cx="3573158" cy="66704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5508104" y="1438624"/>
                <a:ext cx="2199064" cy="535659"/>
              </a:xfrm>
              <a:prstGeom prst="rect">
                <a:avLst/>
              </a:prstGeom>
            </p:spPr>
            <p:txBody>
              <a:bodyPr wrap="none">
                <a:spAutoFit/>
              </a:bodyPr>
              <a:lstStyle/>
              <a:p>
                <a:pPr>
                  <a:buNone/>
                </a:pPr>
                <a14:m>
                  <m:oMath xmlns:m="http://schemas.openxmlformats.org/officeDocument/2006/math">
                    <m:f>
                      <m:fPr>
                        <m:ctrlPr>
                          <a:rPr lang="en-US" altLang="zh-CN" sz="2000" i="1" smtClean="0">
                            <a:latin typeface="Cambria Math" panose="02040503050406030204" pitchFamily="18" charset="0"/>
                          </a:rPr>
                        </m:ctrlPr>
                      </m:fPr>
                      <m:num>
                        <m:r>
                          <a:rPr lang="en-US" altLang="zh-CN" sz="2000" b="0" i="1" smtClean="0">
                            <a:latin typeface="Cambria Math" panose="02040503050406030204" pitchFamily="18" charset="0"/>
                          </a:rPr>
                          <m:t>𝑑𝑠</m:t>
                        </m:r>
                      </m:num>
                      <m:den>
                        <m:r>
                          <a:rPr lang="en-US" altLang="zh-CN" sz="2000" b="0" i="1" smtClean="0">
                            <a:latin typeface="Cambria Math" panose="02040503050406030204" pitchFamily="18" charset="0"/>
                          </a:rPr>
                          <m:t>𝑑𝑟</m:t>
                        </m:r>
                      </m:den>
                    </m:f>
                    <m:r>
                      <a:rPr lang="en-US" altLang="zh-CN" sz="2000" b="0" i="1" smtClean="0">
                        <a:latin typeface="Cambria Math" panose="02040503050406030204" pitchFamily="18" charset="0"/>
                      </a:rPr>
                      <m:t>=</m:t>
                    </m:r>
                    <m:r>
                      <a:rPr lang="en-US" altLang="zh-CN" sz="2000" i="1">
                        <a:latin typeface="Cambria Math" panose="02040503050406030204" pitchFamily="18" charset="0"/>
                      </a:rPr>
                      <m:t>(</m:t>
                    </m:r>
                    <m:r>
                      <a:rPr lang="en-US" altLang="zh-CN" sz="2000" i="1">
                        <a:latin typeface="Cambria Math" panose="02040503050406030204" pitchFamily="18" charset="0"/>
                      </a:rPr>
                      <m:t>𝐿</m:t>
                    </m:r>
                    <m:r>
                      <a:rPr lang="en-US" altLang="zh-CN" sz="2000" i="1">
                        <a:latin typeface="Cambria Math" panose="02040503050406030204" pitchFamily="18" charset="0"/>
                      </a:rPr>
                      <m:t>−1)</m:t>
                    </m:r>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i="1">
                            <a:latin typeface="Cambria Math" panose="02040503050406030204" pitchFamily="18" charset="0"/>
                          </a:rPr>
                          <m:t>𝑟</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𝑟</m:t>
                    </m:r>
                    <m:r>
                      <a:rPr lang="en-US" altLang="zh-CN" sz="2000" b="0" i="1" smtClean="0">
                        <a:latin typeface="Cambria Math" panose="02040503050406030204" pitchFamily="18" charset="0"/>
                      </a:rPr>
                      <m:t>)</m:t>
                    </m:r>
                  </m:oMath>
                </a14:m>
                <a:endParaRPr lang="zh-CN" altLang="en-US" sz="2000" dirty="0"/>
              </a:p>
            </p:txBody>
          </p:sp>
        </mc:Choice>
        <mc:Fallback xmlns="">
          <p:sp>
            <p:nvSpPr>
              <p:cNvPr id="2" name="矩形 1"/>
              <p:cNvSpPr>
                <a:spLocks noRot="1" noChangeAspect="1" noMove="1" noResize="1" noEditPoints="1" noAdjustHandles="1" noChangeArrowheads="1" noChangeShapeType="1" noTextEdit="1"/>
              </p:cNvSpPr>
              <p:nvPr/>
            </p:nvSpPr>
            <p:spPr>
              <a:xfrm>
                <a:off x="5508104" y="1438624"/>
                <a:ext cx="2199064" cy="535659"/>
              </a:xfrm>
              <a:prstGeom prst="rect">
                <a:avLst/>
              </a:prstGeom>
              <a:blipFill>
                <a:blip r:embed="rId4"/>
                <a:stretch>
                  <a:fillRect/>
                </a:stretch>
              </a:blipFill>
            </p:spPr>
            <p:txBody>
              <a:bodyPr/>
              <a:lstStyle/>
              <a:p>
                <a:r>
                  <a:rPr lang="zh-CN" altLang="en-US">
                    <a:noFill/>
                  </a:rPr>
                  <a:t> </a:t>
                </a:r>
              </a:p>
            </p:txBody>
          </p:sp>
        </mc:Fallback>
      </mc:AlternateContent>
      <p:sp>
        <p:nvSpPr>
          <p:cNvPr id="3" name="右箭头 2"/>
          <p:cNvSpPr/>
          <p:nvPr/>
        </p:nvSpPr>
        <p:spPr bwMode="auto">
          <a:xfrm>
            <a:off x="5004048" y="1562437"/>
            <a:ext cx="360040" cy="288032"/>
          </a:xfrm>
          <a:prstGeom prst="rightArrow">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20000"/>
              </a:spcBef>
              <a:spcAft>
                <a:spcPct val="0"/>
              </a:spcAft>
              <a:buClr>
                <a:schemeClr val="accent2"/>
              </a:buClr>
              <a:buSzTx/>
              <a:buFont typeface="Wingdings" panose="05000000000000000000" charset="0"/>
              <a:buChar char="•"/>
            </a:pPr>
            <a:endParaRPr kumimoji="0" lang="zh-CN" altLang="en-US" sz="1800" b="0" i="0" u="none" strike="noStrike" cap="none" normalizeH="0" baseline="0">
              <a:ln>
                <a:noFill/>
              </a:ln>
              <a:solidFill>
                <a:schemeClr val="tx1"/>
              </a:solidFill>
              <a:effectLst/>
              <a:latin typeface="Times New Roman" panose="02020603050405020304" charset="0"/>
              <a:ea typeface="黑体" panose="02010609060101010101" charset="-122"/>
              <a:cs typeface="黑体" panose="02010609060101010101" charset="-122"/>
            </a:endParaRPr>
          </a:p>
        </p:txBody>
      </p:sp>
      <mc:AlternateContent xmlns:mc="http://schemas.openxmlformats.org/markup-compatibility/2006" xmlns:a14="http://schemas.microsoft.com/office/drawing/2010/main">
        <mc:Choice Requires="a14">
          <p:sp>
            <p:nvSpPr>
              <p:cNvPr id="4" name="矩形 3"/>
              <p:cNvSpPr/>
              <p:nvPr/>
            </p:nvSpPr>
            <p:spPr>
              <a:xfrm>
                <a:off x="968780" y="2556652"/>
                <a:ext cx="5436232" cy="708592"/>
              </a:xfrm>
              <a:prstGeom prst="rect">
                <a:avLst/>
              </a:prstGeom>
            </p:spPr>
            <p:txBody>
              <a:bodyPr wrap="none">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𝑠</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𝑟</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m:t>
                          </m:r>
                        </m:e>
                      </m:d>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𝑑𝑟</m:t>
                              </m:r>
                            </m:num>
                            <m:den>
                              <m:r>
                                <a:rPr lang="en-US" altLang="zh-CN" b="0" i="1" smtClean="0">
                                  <a:latin typeface="Cambria Math" panose="02040503050406030204" pitchFamily="18" charset="0"/>
                                </a:rPr>
                                <m:t>𝑑𝑠</m:t>
                              </m:r>
                            </m:den>
                          </m:f>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𝑟</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𝑟</m:t>
                          </m:r>
                        </m:e>
                      </m:d>
                      <m:d>
                        <m:dPr>
                          <m:begChr m:val="|"/>
                          <m:endChr m:val="|"/>
                          <m:ctrlPr>
                            <a:rPr lang="en-US" altLang="zh-CN" i="1" smtClean="0">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m:t>
                              </m:r>
                              <m:r>
                                <a:rPr lang="en-US" altLang="zh-CN" i="1">
                                  <a:latin typeface="Cambria Math" panose="02040503050406030204" pitchFamily="18" charset="0"/>
                                </a:rPr>
                                <m:t>𝐿</m:t>
                              </m:r>
                              <m:r>
                                <a:rPr lang="en-US" altLang="zh-CN" i="1">
                                  <a:latin typeface="Cambria Math" panose="02040503050406030204" pitchFamily="18" charset="0"/>
                                </a:rPr>
                                <m:t>−1)</m:t>
                              </m:r>
                              <m:r>
                                <m:rPr>
                                  <m:nor/>
                                </m:rPr>
                                <a:rPr lang="en-US" altLang="zh-CN" dirty="0"/>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𝑟</m:t>
                                  </m:r>
                                </m:sub>
                              </m:sSub>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r>
                                <m:rPr>
                                  <m:nor/>
                                </m:rPr>
                                <a:rPr lang="zh-CN" altLang="en-US" dirty="0"/>
                                <m:t> </m:t>
                              </m:r>
                            </m:den>
                          </m:f>
                          <m:r>
                            <m:rPr>
                              <m:nor/>
                            </m:rPr>
                            <a:rPr lang="zh-CN" altLang="en-US" dirty="0"/>
                            <m:t> </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𝐿</m:t>
                          </m:r>
                          <m:r>
                            <a:rPr lang="en-US" altLang="zh-CN" b="0" i="1" smtClean="0">
                              <a:latin typeface="Cambria Math" panose="02040503050406030204" pitchFamily="18" charset="0"/>
                            </a:rPr>
                            <m:t>−1</m:t>
                          </m:r>
                        </m:den>
                      </m:f>
                      <m:r>
                        <a:rPr lang="en-US" altLang="zh-CN" b="0" i="1" smtClean="0">
                          <a:latin typeface="Cambria Math" panose="02040503050406030204" pitchFamily="18" charset="0"/>
                        </a:rPr>
                        <m:t>,</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968780" y="2556652"/>
                <a:ext cx="5436232" cy="708592"/>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6585404" y="2726282"/>
                <a:ext cx="1617622" cy="369332"/>
              </a:xfrm>
              <a:prstGeom prst="rect">
                <a:avLst/>
              </a:prstGeom>
            </p:spPr>
            <p:txBody>
              <a:bodyPr wrap="none">
                <a:spAutoFit/>
              </a:bodyPr>
              <a:lstStyle/>
              <a:p>
                <a:pPr>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𝐿</m:t>
                      </m:r>
                      <m:r>
                        <a:rPr lang="en-US" altLang="zh-CN" i="1">
                          <a:latin typeface="Cambria Math" panose="02040503050406030204" pitchFamily="18" charset="0"/>
                        </a:rPr>
                        <m:t>−1</m:t>
                      </m:r>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6585404" y="2726282"/>
                <a:ext cx="1617622" cy="369332"/>
              </a:xfrm>
              <a:prstGeom prst="rect">
                <a:avLst/>
              </a:prstGeom>
              <a:blipFill rotWithShape="0">
                <a:blip r:embed="rId6"/>
                <a:stretch>
                  <a:fillRect/>
                </a:stretch>
              </a:blipFill>
            </p:spPr>
            <p:txBody>
              <a:bodyPr/>
              <a:lstStyle/>
              <a:p>
                <a:r>
                  <a:rPr lang="zh-CN" altLang="en-US">
                    <a:noFill/>
                  </a:rPr>
                  <a:t> </a:t>
                </a:r>
              </a:p>
            </p:txBody>
          </p:sp>
        </mc:Fallback>
      </mc:AlternateContent>
      <p:sp>
        <p:nvSpPr>
          <p:cNvPr id="10" name="文本框 9"/>
          <p:cNvSpPr txBox="1"/>
          <p:nvPr/>
        </p:nvSpPr>
        <p:spPr>
          <a:xfrm>
            <a:off x="576743" y="2164794"/>
            <a:ext cx="2236510" cy="400110"/>
          </a:xfrm>
          <a:prstGeom prst="rect">
            <a:avLst/>
          </a:prstGeom>
          <a:noFill/>
        </p:spPr>
        <p:txBody>
          <a:bodyPr wrap="none" rtlCol="0">
            <a:spAutoFit/>
          </a:bodyPr>
          <a:lstStyle/>
          <a:p>
            <a:pPr>
              <a:buNone/>
            </a:pPr>
            <a:r>
              <a:rPr lang="zh-CN" altLang="en-US" sz="2000" dirty="0"/>
              <a:t>由莱布尼茨准则，</a:t>
            </a:r>
          </a:p>
        </p:txBody>
      </p:sp>
      <p:pic>
        <p:nvPicPr>
          <p:cNvPr id="9" name="图片 8"/>
          <p:cNvPicPr>
            <a:picLocks noChangeAspect="1"/>
          </p:cNvPicPr>
          <p:nvPr/>
        </p:nvPicPr>
        <p:blipFill>
          <a:blip r:embed="rId7"/>
          <a:stretch>
            <a:fillRect/>
          </a:stretch>
        </p:blipFill>
        <p:spPr>
          <a:xfrm>
            <a:off x="3059832" y="5805264"/>
            <a:ext cx="5666431" cy="792000"/>
          </a:xfrm>
          <a:prstGeom prst="rect">
            <a:avLst/>
          </a:prstGeom>
        </p:spPr>
      </p:pic>
      <p:sp>
        <p:nvSpPr>
          <p:cNvPr id="11" name="文本框 10"/>
          <p:cNvSpPr txBox="1"/>
          <p:nvPr/>
        </p:nvSpPr>
        <p:spPr>
          <a:xfrm>
            <a:off x="713113" y="5975992"/>
            <a:ext cx="2557165" cy="369332"/>
          </a:xfrm>
          <a:prstGeom prst="rect">
            <a:avLst/>
          </a:prstGeom>
          <a:noFill/>
        </p:spPr>
        <p:txBody>
          <a:bodyPr wrap="square" rtlCol="0">
            <a:spAutoFit/>
          </a:bodyPr>
          <a:lstStyle/>
          <a:p>
            <a:pPr>
              <a:buNone/>
            </a:pPr>
            <a:r>
              <a:rPr lang="zh-CN" altLang="en-US" b="1" dirty="0">
                <a:solidFill>
                  <a:srgbClr val="0070C0"/>
                </a:solidFill>
              </a:rPr>
              <a:t>直方图均衡离散化形式：</a:t>
            </a:r>
          </a:p>
        </p:txBody>
      </p:sp>
      <p:sp>
        <p:nvSpPr>
          <p:cNvPr id="12" name="灯片编号占位符 11">
            <a:extLst>
              <a:ext uri="{FF2B5EF4-FFF2-40B4-BE49-F238E27FC236}">
                <a16:creationId xmlns:a16="http://schemas.microsoft.com/office/drawing/2014/main" id="{235A68DD-5EB9-498F-8503-BBA8B90849C6}"/>
              </a:ext>
            </a:extLst>
          </p:cNvPr>
          <p:cNvSpPr>
            <a:spLocks noGrp="1"/>
          </p:cNvSpPr>
          <p:nvPr>
            <p:ph type="sldNum" sz="quarter" idx="12"/>
          </p:nvPr>
        </p:nvSpPr>
        <p:spPr/>
        <p:txBody>
          <a:bodyPr/>
          <a:lstStyle/>
          <a:p>
            <a:pPr>
              <a:defRPr/>
            </a:pPr>
            <a:fld id="{BE59E6E9-16BB-4D46-A8D6-97CC594B8C57}" type="slidenum">
              <a:rPr lang="en-US" altLang="zh-CN" smtClean="0"/>
              <a:pPr>
                <a:defRPr/>
              </a:pPr>
              <a:t>22</a:t>
            </a:fld>
            <a:endParaRPr lang="en-US" altLang="zh-CN"/>
          </a:p>
        </p:txBody>
      </p:sp>
    </p:spTree>
    <p:extLst>
      <p:ext uri="{BB962C8B-B14F-4D97-AF65-F5344CB8AC3E}">
        <p14:creationId xmlns:p14="http://schemas.microsoft.com/office/powerpoint/2010/main" val="302707768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直方图均衡</a:t>
            </a:r>
          </a:p>
        </p:txBody>
      </p:sp>
      <p:sp>
        <p:nvSpPr>
          <p:cNvPr id="5" name="内容占位符 4"/>
          <p:cNvSpPr>
            <a:spLocks noGrp="1"/>
          </p:cNvSpPr>
          <p:nvPr>
            <p:ph idx="1"/>
          </p:nvPr>
        </p:nvSpPr>
        <p:spPr/>
        <p:txBody>
          <a:bodyPr/>
          <a:lstStyle/>
          <a:p>
            <a:r>
              <a:rPr lang="zh-CN" altLang="en-US" dirty="0"/>
              <a:t>数字图象直方图计算实例</a:t>
            </a:r>
            <a:endParaRPr lang="en-US" altLang="zh-CN" dirty="0"/>
          </a:p>
          <a:p>
            <a:pPr lvl="1"/>
            <a:r>
              <a:rPr lang="zh-CN" altLang="en-US" dirty="0"/>
              <a:t>离散直方图均衡后的结果</a:t>
            </a:r>
            <a:r>
              <a:rPr lang="zh-CN" altLang="en-US" dirty="0">
                <a:solidFill>
                  <a:srgbClr val="0070C0"/>
                </a:solidFill>
              </a:rPr>
              <a:t>往往不是理想的均匀分布</a:t>
            </a:r>
          </a:p>
        </p:txBody>
      </p:sp>
      <p:sp>
        <p:nvSpPr>
          <p:cNvPr id="3" name="灯片编号占位符 2"/>
          <p:cNvSpPr>
            <a:spLocks noGrp="1"/>
          </p:cNvSpPr>
          <p:nvPr>
            <p:ph type="sldNum" sz="quarter" idx="12"/>
          </p:nvPr>
        </p:nvSpPr>
        <p:spPr/>
        <p:txBody>
          <a:bodyPr/>
          <a:lstStyle/>
          <a:p>
            <a:pPr>
              <a:defRPr/>
            </a:pPr>
            <a:fld id="{BE59E6E9-16BB-4D46-A8D6-97CC594B8C57}" type="slidenum">
              <a:rPr lang="en-US" altLang="zh-CN" smtClean="0"/>
              <a:pPr>
                <a:defRPr/>
              </a:pPr>
              <a:t>23</a:t>
            </a:fld>
            <a:endParaRPr lang="en-US" altLang="zh-CN"/>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2204864"/>
            <a:ext cx="2655887" cy="189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2463" y="2276872"/>
            <a:ext cx="946150" cy="1055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7644" y="4275046"/>
            <a:ext cx="6624736" cy="2483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24186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lvl="0"/>
            <a:r>
              <a:rPr lang="zh-CN" altLang="en-US" noProof="0" dirty="0"/>
              <a:t>直方图均衡</a:t>
            </a:r>
          </a:p>
        </p:txBody>
      </p:sp>
      <p:sp>
        <p:nvSpPr>
          <p:cNvPr id="2" name="内容占位符 1"/>
          <p:cNvSpPr>
            <a:spLocks noGrp="1"/>
          </p:cNvSpPr>
          <p:nvPr>
            <p:ph idx="1"/>
          </p:nvPr>
        </p:nvSpPr>
        <p:spPr>
          <a:xfrm>
            <a:off x="566738" y="1341438"/>
            <a:ext cx="4077270" cy="4967287"/>
          </a:xfrm>
        </p:spPr>
        <p:txBody>
          <a:bodyPr/>
          <a:lstStyle/>
          <a:p>
            <a:pPr lvl="0"/>
            <a:r>
              <a:rPr lang="zh-CN" altLang="en-US" dirty="0"/>
              <a:t>直方图均衡：直方图拉伸</a:t>
            </a:r>
            <a:endParaRPr lang="en-US" altLang="zh-CN" dirty="0"/>
          </a:p>
          <a:p>
            <a:pPr lvl="1"/>
            <a:r>
              <a:rPr lang="zh-CN" altLang="en-US" noProof="0" dirty="0"/>
              <a:t>增加图象灰度跨越范围，从而增强对比度</a:t>
            </a:r>
          </a:p>
        </p:txBody>
      </p:sp>
      <mc:AlternateContent xmlns:mc="http://schemas.openxmlformats.org/markup-compatibility/2006" xmlns:a14="http://schemas.microsoft.com/office/drawing/2010/main">
        <mc:Choice Requires="a14">
          <p:sp>
            <p:nvSpPr>
              <p:cNvPr id="3" name="文本框 2"/>
              <p:cNvSpPr txBox="1"/>
              <p:nvPr/>
            </p:nvSpPr>
            <p:spPr>
              <a:xfrm>
                <a:off x="899592" y="2528900"/>
                <a:ext cx="3218510" cy="600229"/>
              </a:xfrm>
              <a:prstGeom prst="rect">
                <a:avLst/>
              </a:prstGeom>
              <a:noFill/>
            </p:spPr>
            <p:txBody>
              <a:bodyPr wrap="none" lIns="0" tIns="0" rIns="0" bIns="0" rtlCol="0">
                <a:spAutoFit/>
              </a:bodyPr>
              <a:lstStyle/>
              <a:p>
                <a:pPr>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m:t>
                      </m:r>
                      <m:r>
                        <a:rPr lang="en-GB" altLang="zh-CN" i="1" smtClean="0">
                          <a:latin typeface="Cambria Math" panose="02040503050406030204" pitchFamily="18" charset="0"/>
                        </a:rPr>
                        <m:t>=</m:t>
                      </m:r>
                      <m:r>
                        <a:rPr lang="en-US" altLang="zh-CN" b="0" i="1" smtClean="0">
                          <a:latin typeface="Cambria Math" panose="02040503050406030204" pitchFamily="18" charset="0"/>
                        </a:rPr>
                        <m:t>𝑇</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𝐿</m:t>
                      </m:r>
                      <m:r>
                        <a:rPr lang="en-US" altLang="zh-CN" b="0" i="1" smtClean="0">
                          <a:latin typeface="Cambria Math" panose="02040503050406030204" pitchFamily="18" charset="0"/>
                        </a:rPr>
                        <m:t>−1)</m:t>
                      </m:r>
                      <m:nary>
                        <m:naryPr>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0</m:t>
                          </m:r>
                        </m:sub>
                        <m:sup>
                          <m:r>
                            <a:rPr lang="en-US" altLang="zh-CN" b="0" i="1" smtClean="0">
                              <a:latin typeface="Cambria Math" panose="02040503050406030204" pitchFamily="18" charset="0"/>
                            </a:rPr>
                            <m:t>𝑟</m:t>
                          </m:r>
                        </m:sup>
                        <m:e>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𝑟</m:t>
                              </m:r>
                            </m:sub>
                          </m:sSub>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𝑤</m:t>
                              </m:r>
                            </m:e>
                          </m:d>
                          <m:r>
                            <a:rPr lang="en-US" altLang="zh-CN" b="0" i="1" smtClean="0">
                              <a:latin typeface="Cambria Math" panose="02040503050406030204" pitchFamily="18" charset="0"/>
                            </a:rPr>
                            <m:t>𝑑𝑤</m:t>
                          </m:r>
                        </m:e>
                      </m:nary>
                    </m:oMath>
                  </m:oMathPara>
                </a14:m>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899592" y="2528900"/>
                <a:ext cx="3218510" cy="600229"/>
              </a:xfrm>
              <a:prstGeom prst="rect">
                <a:avLst/>
              </a:prstGeom>
              <a:blipFill>
                <a:blip r:embed="rId2"/>
                <a:stretch>
                  <a:fillRect b="-1020"/>
                </a:stretch>
              </a:blipFill>
            </p:spPr>
            <p:txBody>
              <a:bodyPr/>
              <a:lstStyle/>
              <a:p>
                <a:r>
                  <a:rPr lang="zh-CN" altLang="en-US">
                    <a:noFill/>
                  </a:rPr>
                  <a:t> </a:t>
                </a:r>
              </a:p>
            </p:txBody>
          </p:sp>
        </mc:Fallback>
      </mc:AlternateContent>
      <p:pic>
        <p:nvPicPr>
          <p:cNvPr id="1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50910"/>
          <a:stretch/>
        </p:blipFill>
        <p:spPr bwMode="auto">
          <a:xfrm>
            <a:off x="4797363" y="1053467"/>
            <a:ext cx="4239133" cy="27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49662"/>
          <a:stretch/>
        </p:blipFill>
        <p:spPr bwMode="auto">
          <a:xfrm>
            <a:off x="4797363" y="3904108"/>
            <a:ext cx="4231351" cy="2837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3939928"/>
            <a:ext cx="3633308" cy="2801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a:extLst>
              <a:ext uri="{FF2B5EF4-FFF2-40B4-BE49-F238E27FC236}">
                <a16:creationId xmlns:a16="http://schemas.microsoft.com/office/drawing/2014/main" id="{8EAAA111-3178-482E-ADC6-4436D231F257}"/>
              </a:ext>
            </a:extLst>
          </p:cNvPr>
          <p:cNvSpPr>
            <a:spLocks noGrp="1"/>
          </p:cNvSpPr>
          <p:nvPr>
            <p:ph type="sldNum" sz="quarter" idx="12"/>
          </p:nvPr>
        </p:nvSpPr>
        <p:spPr/>
        <p:txBody>
          <a:bodyPr/>
          <a:lstStyle/>
          <a:p>
            <a:pPr>
              <a:defRPr/>
            </a:pPr>
            <a:fld id="{BE59E6E9-16BB-4D46-A8D6-97CC594B8C57}" type="slidenum">
              <a:rPr lang="en-US" altLang="zh-CN" smtClean="0"/>
              <a:pPr>
                <a:defRPr/>
              </a:pPr>
              <a:t>24</a:t>
            </a:fld>
            <a:endParaRPr lang="en-US" altLang="zh-CN"/>
          </a:p>
        </p:txBody>
      </p:sp>
      <p:sp>
        <p:nvSpPr>
          <p:cNvPr id="13" name="文本框 12">
            <a:extLst>
              <a:ext uri="{FF2B5EF4-FFF2-40B4-BE49-F238E27FC236}">
                <a16:creationId xmlns:a16="http://schemas.microsoft.com/office/drawing/2014/main" id="{90CAC368-1853-4E6E-BD40-533C2F5995BC}"/>
              </a:ext>
            </a:extLst>
          </p:cNvPr>
          <p:cNvSpPr txBox="1"/>
          <p:nvPr/>
        </p:nvSpPr>
        <p:spPr>
          <a:xfrm>
            <a:off x="1681258" y="3570596"/>
            <a:ext cx="2069976" cy="369332"/>
          </a:xfrm>
          <a:prstGeom prst="rect">
            <a:avLst/>
          </a:prstGeom>
          <a:noFill/>
        </p:spPr>
        <p:txBody>
          <a:bodyPr wrap="square">
            <a:spAutoFit/>
          </a:bodyPr>
          <a:lstStyle/>
          <a:p>
            <a:pPr>
              <a:buNone/>
            </a:pPr>
            <a:r>
              <a:rPr lang="zh-CN" altLang="en-US" dirty="0"/>
              <a:t>灰度均衡变换函数</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lvl="0"/>
            <a:r>
              <a:rPr lang="zh-CN" altLang="en-US" noProof="0"/>
              <a:t>直方图匹配（直方图规定化）</a:t>
            </a:r>
            <a:endParaRPr lang="zh-CN" altLang="en-US" noProof="0" dirty="0"/>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pPr lvl="0"/>
                <a:r>
                  <a:rPr lang="zh-CN" altLang="en-US" noProof="0" dirty="0"/>
                  <a:t>借助直方图变换实现规定</a:t>
                </a:r>
                <a:r>
                  <a:rPr lang="en-US" altLang="zh-CN" noProof="0" dirty="0"/>
                  <a:t>/</a:t>
                </a:r>
                <a:r>
                  <a:rPr lang="zh-CN" altLang="en-US" noProof="0" dirty="0"/>
                  <a:t>特定的灰度映射</a:t>
                </a:r>
                <a:endParaRPr lang="en-US" altLang="zh-CN" noProof="0" dirty="0"/>
              </a:p>
              <a:p>
                <a:pPr marL="0" lvl="0" indent="0">
                  <a:spcAft>
                    <a:spcPts val="1200"/>
                  </a:spcAft>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𝑟</m:t>
                          </m:r>
                        </m:sub>
                      </m:sSub>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𝑧</m:t>
                          </m:r>
                        </m:sub>
                      </m:sSub>
                      <m:r>
                        <a:rPr lang="en-US" altLang="zh-CN" i="1">
                          <a:latin typeface="Cambria Math" panose="02040503050406030204" pitchFamily="18" charset="0"/>
                        </a:rPr>
                        <m:t>(</m:t>
                      </m:r>
                      <m:r>
                        <a:rPr lang="en-US" altLang="zh-CN" b="0" i="1" smtClean="0">
                          <a:latin typeface="Cambria Math" panose="02040503050406030204" pitchFamily="18" charset="0"/>
                        </a:rPr>
                        <m:t>𝑧</m:t>
                      </m:r>
                      <m:r>
                        <a:rPr lang="en-US" altLang="zh-CN" i="1">
                          <a:latin typeface="Cambria Math" panose="02040503050406030204" pitchFamily="18" charset="0"/>
                        </a:rPr>
                        <m:t>)</m:t>
                      </m:r>
                    </m:oMath>
                  </m:oMathPara>
                </a14:m>
                <a:endParaRPr lang="zh-CN" altLang="en-US" noProof="0" dirty="0"/>
              </a:p>
              <a:p>
                <a:pPr lvl="0"/>
                <a:r>
                  <a:rPr lang="zh-CN" altLang="en-US" noProof="0" dirty="0"/>
                  <a:t>三个步骤</a:t>
                </a:r>
              </a:p>
              <a:p>
                <a:pPr lvl="1"/>
                <a:r>
                  <a:rPr lang="zh-CN" altLang="en-US" noProof="0" dirty="0"/>
                  <a:t>对原始直方图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𝑟</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noProof="0" dirty="0"/>
                  <a:t>进行灰度均衡化</a:t>
                </a:r>
                <a:endParaRPr lang="en-US" altLang="zh-CN" noProof="0" dirty="0"/>
              </a:p>
              <a:p>
                <a:pPr marL="471170" lvl="1"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𝑇</m:t>
                      </m:r>
                      <m:d>
                        <m:dPr>
                          <m:ctrlPr>
                            <a:rPr lang="en-US" altLang="zh-CN" i="1">
                              <a:latin typeface="Cambria Math" panose="02040503050406030204" pitchFamily="18" charset="0"/>
                            </a:rPr>
                          </m:ctrlPr>
                        </m:dPr>
                        <m:e>
                          <m:r>
                            <a:rPr lang="en-US" altLang="zh-CN" i="1">
                              <a:latin typeface="Cambria Math" panose="02040503050406030204" pitchFamily="18" charset="0"/>
                            </a:rPr>
                            <m:t>𝑟</m:t>
                          </m:r>
                        </m:e>
                      </m:d>
                      <m:r>
                        <a:rPr lang="en-US" altLang="zh-CN" i="1">
                          <a:latin typeface="Cambria Math" panose="02040503050406030204" pitchFamily="18" charset="0"/>
                        </a:rPr>
                        <m:t>=(</m:t>
                      </m:r>
                      <m:r>
                        <a:rPr lang="en-US" altLang="zh-CN" i="1">
                          <a:latin typeface="Cambria Math" panose="02040503050406030204" pitchFamily="18" charset="0"/>
                        </a:rPr>
                        <m:t>𝐿</m:t>
                      </m:r>
                      <m:r>
                        <a:rPr lang="en-US" altLang="zh-CN" i="1">
                          <a:latin typeface="Cambria Math" panose="02040503050406030204" pitchFamily="18" charset="0"/>
                        </a:rPr>
                        <m:t>−1)</m:t>
                      </m:r>
                      <m:nary>
                        <m:naryPr>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0</m:t>
                          </m:r>
                        </m:sub>
                        <m:sup>
                          <m:r>
                            <a:rPr lang="en-US" altLang="zh-CN" i="1">
                              <a:latin typeface="Cambria Math" panose="02040503050406030204" pitchFamily="18" charset="0"/>
                            </a:rPr>
                            <m:t>𝑟</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𝑟</m:t>
                              </m:r>
                            </m:sub>
                          </m:sSub>
                          <m:r>
                            <a:rPr lang="en-US" altLang="zh-CN" i="1">
                              <a:latin typeface="Cambria Math" panose="02040503050406030204" pitchFamily="18" charset="0"/>
                            </a:rPr>
                            <m:t> </m:t>
                          </m:r>
                          <m:d>
                            <m:dPr>
                              <m:ctrlPr>
                                <a:rPr lang="en-US" altLang="zh-CN" i="1">
                                  <a:latin typeface="Cambria Math" panose="02040503050406030204" pitchFamily="18" charset="0"/>
                                </a:rPr>
                              </m:ctrlPr>
                            </m:dPr>
                            <m:e>
                              <m:r>
                                <a:rPr lang="en-US" altLang="zh-CN" i="1">
                                  <a:latin typeface="Cambria Math" panose="02040503050406030204" pitchFamily="18" charset="0"/>
                                </a:rPr>
                                <m:t>𝑤</m:t>
                              </m:r>
                            </m:e>
                          </m:d>
                          <m:r>
                            <a:rPr lang="en-US" altLang="zh-CN" i="1">
                              <a:latin typeface="Cambria Math" panose="02040503050406030204" pitchFamily="18" charset="0"/>
                            </a:rPr>
                            <m:t>𝑑𝑤</m:t>
                          </m:r>
                        </m:e>
                      </m:nary>
                    </m:oMath>
                  </m:oMathPara>
                </a14:m>
                <a:endParaRPr lang="zh-CN" altLang="en-US" dirty="0"/>
              </a:p>
              <a:p>
                <a:pPr lvl="1"/>
                <a:r>
                  <a:rPr lang="zh-CN" altLang="en-US" noProof="0" dirty="0"/>
                  <a:t>规定目标直方图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𝑧</m:t>
                        </m:r>
                      </m:sub>
                    </m:sSub>
                    <m:r>
                      <a:rPr lang="en-US" altLang="zh-CN" i="1">
                        <a:latin typeface="Cambria Math" panose="02040503050406030204" pitchFamily="18" charset="0"/>
                      </a:rPr>
                      <m:t>(</m:t>
                    </m:r>
                    <m:r>
                      <a:rPr lang="en-US" altLang="zh-CN" b="0" i="1" smtClean="0">
                        <a:latin typeface="Cambria Math" panose="02040503050406030204" pitchFamily="18" charset="0"/>
                      </a:rPr>
                      <m:t>𝑧</m:t>
                    </m:r>
                    <m:r>
                      <a:rPr lang="en-US" altLang="zh-CN" i="1">
                        <a:latin typeface="Cambria Math" panose="02040503050406030204" pitchFamily="18" charset="0"/>
                      </a:rPr>
                      <m:t>)</m:t>
                    </m:r>
                  </m:oMath>
                </a14:m>
                <a:r>
                  <a:rPr lang="zh-CN" altLang="en-US" noProof="0" dirty="0"/>
                  <a:t>，计算能使规定直方图均衡化的变换</a:t>
                </a:r>
                <a:endParaRPr lang="en-US" altLang="zh-CN" noProof="0" dirty="0"/>
              </a:p>
              <a:p>
                <a:pPr marL="471170" lvl="1"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𝐺</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𝑧</m:t>
                          </m:r>
                        </m:e>
                      </m:d>
                      <m:r>
                        <a:rPr lang="en-US" altLang="zh-CN" i="1">
                          <a:latin typeface="Cambria Math" panose="02040503050406030204" pitchFamily="18" charset="0"/>
                        </a:rPr>
                        <m:t>=(</m:t>
                      </m:r>
                      <m:r>
                        <a:rPr lang="en-US" altLang="zh-CN" i="1">
                          <a:latin typeface="Cambria Math" panose="02040503050406030204" pitchFamily="18" charset="0"/>
                        </a:rPr>
                        <m:t>𝐿</m:t>
                      </m:r>
                      <m:r>
                        <a:rPr lang="en-US" altLang="zh-CN" i="1">
                          <a:latin typeface="Cambria Math" panose="02040503050406030204" pitchFamily="18" charset="0"/>
                        </a:rPr>
                        <m:t>−1)</m:t>
                      </m:r>
                      <m:nary>
                        <m:naryPr>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0</m:t>
                          </m:r>
                        </m:sub>
                        <m:sup>
                          <m:r>
                            <a:rPr lang="en-US" altLang="zh-CN" b="0" i="1" smtClean="0">
                              <a:latin typeface="Cambria Math" panose="02040503050406030204" pitchFamily="18" charset="0"/>
                            </a:rPr>
                            <m:t>𝑧</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𝑧</m:t>
                              </m:r>
                            </m:sub>
                          </m:sSub>
                          <m:r>
                            <a:rPr lang="en-US" altLang="zh-CN" i="1">
                              <a:latin typeface="Cambria Math" panose="02040503050406030204" pitchFamily="18" charset="0"/>
                            </a:rPr>
                            <m:t> </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𝑣</m:t>
                              </m:r>
                            </m:e>
                          </m:d>
                          <m:r>
                            <a:rPr lang="en-US" altLang="zh-CN" i="1">
                              <a:latin typeface="Cambria Math" panose="02040503050406030204" pitchFamily="18" charset="0"/>
                            </a:rPr>
                            <m:t>𝑑</m:t>
                          </m:r>
                          <m:r>
                            <a:rPr lang="en-US" altLang="zh-CN" b="0" i="1" smtClean="0">
                              <a:latin typeface="Cambria Math" panose="02040503050406030204" pitchFamily="18" charset="0"/>
                            </a:rPr>
                            <m:t>𝑣</m:t>
                          </m:r>
                        </m:e>
                      </m:nary>
                    </m:oMath>
                  </m:oMathPara>
                </a14:m>
                <a:endParaRPr lang="en-US" altLang="zh-CN" noProof="0" dirty="0"/>
              </a:p>
              <a:p>
                <a:pPr lvl="1">
                  <a:spcAft>
                    <a:spcPts val="300"/>
                  </a:spcAft>
                </a:pPr>
                <a:r>
                  <a:rPr lang="zh-CN" altLang="en-US" noProof="0" dirty="0"/>
                  <a:t>将原始直方图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𝑟</m:t>
                        </m:r>
                      </m:sub>
                    </m:sSub>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oMath>
                </a14:m>
                <a:r>
                  <a:rPr lang="zh-CN" altLang="en-US" noProof="0" dirty="0"/>
                  <a:t>对应映射到规定直方图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𝑧</m:t>
                        </m:r>
                      </m:sub>
                    </m:sSub>
                    <m:r>
                      <a:rPr lang="en-US" altLang="zh-CN" i="1">
                        <a:latin typeface="Cambria Math" panose="02040503050406030204" pitchFamily="18" charset="0"/>
                      </a:rPr>
                      <m:t>(</m:t>
                    </m:r>
                    <m:r>
                      <a:rPr lang="en-US" altLang="zh-CN" i="1">
                        <a:latin typeface="Cambria Math" panose="02040503050406030204" pitchFamily="18" charset="0"/>
                      </a:rPr>
                      <m:t>𝑧</m:t>
                    </m:r>
                    <m:r>
                      <a:rPr lang="en-US" altLang="zh-CN" i="1">
                        <a:latin typeface="Cambria Math" panose="02040503050406030204" pitchFamily="18" charset="0"/>
                      </a:rPr>
                      <m:t>)</m:t>
                    </m:r>
                  </m:oMath>
                </a14:m>
                <a:endParaRPr lang="en-US" altLang="zh-CN" noProof="0" dirty="0"/>
              </a:p>
              <a:p>
                <a:pPr lvl="2">
                  <a:spcAft>
                    <a:spcPts val="300"/>
                  </a:spcAft>
                </a:pPr>
                <a:r>
                  <a:rPr lang="zh-CN" altLang="en-US" noProof="0" dirty="0"/>
                  <a:t>令</a:t>
                </a:r>
                <a14:m>
                  <m:oMath xmlns:m="http://schemas.openxmlformats.org/officeDocument/2006/math">
                    <m:r>
                      <a:rPr lang="en-US" altLang="zh-CN" i="1">
                        <a:latin typeface="Cambria Math" panose="02040503050406030204" pitchFamily="18" charset="0"/>
                      </a:rPr>
                      <m:t>𝑇</m:t>
                    </m:r>
                    <m:d>
                      <m:dPr>
                        <m:ctrlPr>
                          <a:rPr lang="en-US" altLang="zh-CN" i="1">
                            <a:latin typeface="Cambria Math" panose="02040503050406030204" pitchFamily="18" charset="0"/>
                          </a:rPr>
                        </m:ctrlPr>
                      </m:dPr>
                      <m:e>
                        <m:r>
                          <a:rPr lang="en-US" altLang="zh-CN" i="1">
                            <a:latin typeface="Cambria Math" panose="02040503050406030204" pitchFamily="18" charset="0"/>
                          </a:rPr>
                          <m:t>𝑟</m:t>
                        </m:r>
                      </m:e>
                    </m:d>
                    <m:r>
                      <a:rPr lang="en-US" altLang="zh-CN" i="1">
                        <a:latin typeface="Cambria Math" panose="02040503050406030204" pitchFamily="18" charset="0"/>
                      </a:rPr>
                      <m:t>=</m:t>
                    </m:r>
                    <m:r>
                      <a:rPr lang="en-US" altLang="zh-CN" i="1">
                        <a:latin typeface="Cambria Math" panose="02040503050406030204" pitchFamily="18" charset="0"/>
                      </a:rPr>
                      <m:t>𝐺</m:t>
                    </m:r>
                    <m:d>
                      <m:dPr>
                        <m:ctrlPr>
                          <a:rPr lang="en-US" altLang="zh-CN" i="1">
                            <a:latin typeface="Cambria Math" panose="02040503050406030204" pitchFamily="18" charset="0"/>
                          </a:rPr>
                        </m:ctrlPr>
                      </m:dPr>
                      <m:e>
                        <m:r>
                          <a:rPr lang="en-US" altLang="zh-CN" i="1">
                            <a:latin typeface="Cambria Math" panose="02040503050406030204" pitchFamily="18" charset="0"/>
                          </a:rPr>
                          <m:t>𝑧</m:t>
                        </m:r>
                      </m:e>
                    </m:d>
                  </m:oMath>
                </a14:m>
                <a:r>
                  <a:rPr lang="zh-CN" altLang="en-US" noProof="0" dirty="0"/>
                  <a:t>，即可将 </a:t>
                </a:r>
                <a14:m>
                  <m:oMath xmlns:m="http://schemas.openxmlformats.org/officeDocument/2006/math">
                    <m:r>
                      <a:rPr lang="en-US" altLang="zh-CN" i="1">
                        <a:latin typeface="Cambria Math" panose="02040503050406030204" pitchFamily="18" charset="0"/>
                      </a:rPr>
                      <m:t>𝑟</m:t>
                    </m:r>
                  </m:oMath>
                </a14:m>
                <a:r>
                  <a:rPr lang="zh-CN" altLang="en-US" noProof="0" dirty="0"/>
                  <a:t> 映射到 </a:t>
                </a:r>
                <a14:m>
                  <m:oMath xmlns:m="http://schemas.openxmlformats.org/officeDocument/2006/math">
                    <m:r>
                      <a:rPr lang="en-US" altLang="zh-CN" b="0" i="1" smtClean="0">
                        <a:latin typeface="Cambria Math" panose="02040503050406030204" pitchFamily="18" charset="0"/>
                      </a:rPr>
                      <m:t>𝑧</m:t>
                    </m:r>
                  </m:oMath>
                </a14:m>
                <a:r>
                  <a:rPr lang="zh-CN" altLang="en-US" noProof="0" dirty="0"/>
                  <a:t>：</a:t>
                </a:r>
                <a:endParaRPr lang="en-US" altLang="zh-CN" noProof="0" dirty="0"/>
              </a:p>
              <a:p>
                <a:pPr marL="909320" lvl="2" indent="0">
                  <a:spcAft>
                    <a:spcPts val="300"/>
                  </a:spcAft>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𝑧</m:t>
                      </m:r>
                      <m:r>
                        <a:rPr lang="en-US" altLang="zh-CN" i="1">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𝐺</m:t>
                          </m:r>
                        </m:e>
                        <m:sup>
                          <m:r>
                            <a:rPr lang="en-US" altLang="zh-CN" b="0" i="1" smtClean="0">
                              <a:latin typeface="Cambria Math" panose="02040503050406030204" pitchFamily="18" charset="0"/>
                            </a:rPr>
                            <m:t>−1</m:t>
                          </m:r>
                        </m:sup>
                      </m:sSup>
                      <m:d>
                        <m:dPr>
                          <m:ctrlPr>
                            <a:rPr lang="en-US" altLang="zh-CN" i="1">
                              <a:latin typeface="Cambria Math" panose="02040503050406030204" pitchFamily="18" charset="0"/>
                            </a:rPr>
                          </m:ctrlPr>
                        </m:dPr>
                        <m:e>
                          <m:r>
                            <a:rPr lang="en-US" altLang="zh-CN" b="0" i="1" smtClean="0">
                              <a:latin typeface="Cambria Math" panose="02040503050406030204" pitchFamily="18" charset="0"/>
                            </a:rPr>
                            <m:t>𝑠</m:t>
                          </m:r>
                        </m:e>
                      </m:d>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𝐺</m:t>
                          </m:r>
                        </m:e>
                        <m:sup>
                          <m:r>
                            <a:rPr lang="en-US" altLang="zh-CN" i="1">
                              <a:latin typeface="Cambria Math" panose="02040503050406030204" pitchFamily="18" charset="0"/>
                            </a:rPr>
                            <m:t>−1</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𝑠</m:t>
                          </m:r>
                        </m:e>
                      </m:d>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𝐺</m:t>
                          </m:r>
                        </m:e>
                        <m:sup>
                          <m:r>
                            <a:rPr lang="en-US" altLang="zh-CN" i="1">
                              <a:latin typeface="Cambria Math" panose="02040503050406030204" pitchFamily="18" charset="0"/>
                            </a:rPr>
                            <m:t>−1</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𝑇</m:t>
                          </m:r>
                          <m:d>
                            <m:dPr>
                              <m:ctrlPr>
                                <a:rPr lang="en-US" altLang="zh-CN" i="1">
                                  <a:latin typeface="Cambria Math" panose="02040503050406030204" pitchFamily="18" charset="0"/>
                                </a:rPr>
                              </m:ctrlPr>
                            </m:dPr>
                            <m:e>
                              <m:r>
                                <a:rPr lang="en-US" altLang="zh-CN" i="1">
                                  <a:latin typeface="Cambria Math" panose="02040503050406030204" pitchFamily="18" charset="0"/>
                                </a:rPr>
                                <m:t>𝑟</m:t>
                              </m:r>
                            </m:e>
                          </m:d>
                        </m:e>
                      </m:d>
                    </m:oMath>
                  </m:oMathPara>
                </a14:m>
                <a:endParaRPr lang="zh-CN" altLang="en-US" noProof="0" dirty="0"/>
              </a:p>
              <a:p>
                <a:pPr lvl="0"/>
                <a:endParaRPr lang="zh-CN" altLang="en-US" noProof="0"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a:blip r:embed="rId2"/>
                <a:stretch>
                  <a:fillRect l="-1067" t="-1350"/>
                </a:stretch>
              </a:blipFill>
            </p:spPr>
            <p:txBody>
              <a:bodyPr/>
              <a:lstStyle/>
              <a:p>
                <a:r>
                  <a:rPr lang="zh-CN" altLang="en-US">
                    <a:noFill/>
                  </a:rPr>
                  <a:t> </a:t>
                </a:r>
              </a:p>
            </p:txBody>
          </p:sp>
        </mc:Fallback>
      </mc:AlternateContent>
      <p:sp>
        <p:nvSpPr>
          <p:cNvPr id="23556" name="灯片编号占位符 5"/>
          <p:cNvSpPr txBox="1">
            <a:spLocks noGrp="1"/>
          </p:cNvSpPr>
          <p:nvPr>
            <p:ph type="sldNum" sz="quarter" idx="4294967295"/>
          </p:nvPr>
        </p:nvSpPr>
        <p:spPr bwMode="auto">
          <a:xfrm>
            <a:off x="72390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38FC1C83-23A5-4580-8FAA-C01D3BBF73BC}"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25</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lvl="0"/>
            <a:r>
              <a:rPr lang="zh-CN" altLang="en-US" noProof="0"/>
              <a:t>直方图匹配（直方图规定化）</a:t>
            </a:r>
            <a:endParaRPr lang="zh-CN" altLang="en-US" noProof="0" dirty="0"/>
          </a:p>
        </p:txBody>
      </p:sp>
      <p:sp>
        <p:nvSpPr>
          <p:cNvPr id="24579" name="灯片编号占位符 5"/>
          <p:cNvSpPr txBox="1">
            <a:spLocks noGrp="1"/>
          </p:cNvSpPr>
          <p:nvPr>
            <p:ph type="sldNum" sz="quarter" idx="4294967295"/>
          </p:nvPr>
        </p:nvSpPr>
        <p:spPr bwMode="auto">
          <a:xfrm>
            <a:off x="72390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5C6DA4E5-592F-4A24-B587-486A39229F30}"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26</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30724" name="Picture 3"/>
          <p:cNvPicPr>
            <a:picLocks noChangeAspect="1"/>
          </p:cNvPicPr>
          <p:nvPr/>
        </p:nvPicPr>
        <p:blipFill>
          <a:blip r:embed="rId2"/>
          <a:stretch>
            <a:fillRect/>
          </a:stretch>
        </p:blipFill>
        <p:spPr>
          <a:xfrm>
            <a:off x="574675" y="1268413"/>
            <a:ext cx="7721600" cy="5311775"/>
          </a:xfrm>
          <a:prstGeom prst="rect">
            <a:avLst/>
          </a:prstGeom>
          <a:noFill/>
          <a:ln w="9525">
            <a:noFill/>
          </a:ln>
        </p:spPr>
      </p:pic>
      <mc:AlternateContent xmlns:mc="http://schemas.openxmlformats.org/markup-compatibility/2006" xmlns:a14="http://schemas.microsoft.com/office/drawing/2010/main">
        <mc:Choice Requires="a14">
          <p:sp>
            <p:nvSpPr>
              <p:cNvPr id="2" name="文本框 1"/>
              <p:cNvSpPr txBox="1"/>
              <p:nvPr/>
            </p:nvSpPr>
            <p:spPr>
              <a:xfrm>
                <a:off x="1619672" y="4977172"/>
                <a:ext cx="1408527" cy="307777"/>
              </a:xfrm>
              <a:prstGeom prst="rect">
                <a:avLst/>
              </a:prstGeom>
              <a:noFill/>
            </p:spPr>
            <p:txBody>
              <a:bodyPr wrap="none" lIns="0" tIns="0" rIns="0" bIns="0" rtlCol="0">
                <a:spAutoFit/>
              </a:bodyPr>
              <a:lstStyle/>
              <a:p>
                <a:pPr>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𝐺</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𝑧</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𝑟</m:t>
                      </m:r>
                      <m:r>
                        <a:rPr lang="en-US" altLang="zh-CN" sz="2000" b="0" i="1" smtClean="0">
                          <a:latin typeface="Cambria Math" panose="02040503050406030204" pitchFamily="18" charset="0"/>
                        </a:rPr>
                        <m:t>)</m:t>
                      </m:r>
                    </m:oMath>
                  </m:oMathPara>
                </a14:m>
                <a:endParaRPr lang="zh-CN" altLang="en-US"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619672" y="4977172"/>
                <a:ext cx="1408527" cy="307777"/>
              </a:xfrm>
              <a:prstGeom prst="rect">
                <a:avLst/>
              </a:prstGeom>
              <a:blipFill rotWithShape="0">
                <a:blip r:embed="rId3"/>
                <a:stretch>
                  <a:fillRect l="-3896" r="-6061" b="-35294"/>
                </a:stretch>
              </a:blipFill>
            </p:spPr>
            <p:txBody>
              <a:bodyPr/>
              <a:lstStyle/>
              <a:p>
                <a:r>
                  <a:rPr lang="zh-CN" altLang="en-US">
                    <a:noFill/>
                  </a:rPr>
                  <a:t> </a:t>
                </a:r>
              </a:p>
            </p:txBody>
          </p:sp>
        </mc:Fallback>
      </mc:AlternateContent>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mj-lt"/>
                <a:ea typeface="+mj-ea"/>
                <a:cs typeface="+mj-cs"/>
              </a:rPr>
              <a:t>直方图匹配</a:t>
            </a:r>
          </a:p>
        </p:txBody>
      </p:sp>
      <p:sp>
        <p:nvSpPr>
          <p:cNvPr id="25612" name="灯片编号占位符 4"/>
          <p:cNvSpPr txBox="1">
            <a:spLocks noGrp="1"/>
          </p:cNvSpPr>
          <p:nvPr>
            <p:ph type="sldNum" sz="quarter" idx="4"/>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6075F268-1A48-4372-8462-3C89BB09A527}"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27</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graphicFrame>
        <p:nvGraphicFramePr>
          <p:cNvPr id="102449" name="Group 49"/>
          <p:cNvGraphicFramePr>
            <a:graphicFrameLocks noGrp="1"/>
          </p:cNvGraphicFramePr>
          <p:nvPr>
            <p:ph idx="1"/>
          </p:nvPr>
        </p:nvGraphicFramePr>
        <p:xfrm>
          <a:off x="5364163" y="1700213"/>
          <a:ext cx="2736850" cy="4332287"/>
        </p:xfrm>
        <a:graphic>
          <a:graphicData uri="http://schemas.openxmlformats.org/drawingml/2006/table">
            <a:tbl>
              <a:tblPr/>
              <a:tblGrid>
                <a:gridCol w="1369252">
                  <a:extLst>
                    <a:ext uri="{9D8B030D-6E8A-4147-A177-3AD203B41FA5}">
                      <a16:colId xmlns:a16="http://schemas.microsoft.com/office/drawing/2014/main" val="20000"/>
                    </a:ext>
                  </a:extLst>
                </a:gridCol>
                <a:gridCol w="1367598">
                  <a:extLst>
                    <a:ext uri="{9D8B030D-6E8A-4147-A177-3AD203B41FA5}">
                      <a16:colId xmlns:a16="http://schemas.microsoft.com/office/drawing/2014/main" val="20001"/>
                    </a:ext>
                  </a:extLst>
                </a:gridCol>
              </a:tblGrid>
              <a:tr h="1614809">
                <a:tc rowSpan="2">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en-US" altLang="zh-CN" sz="2000" b="0" i="0" u="none" strike="noStrike" cap="none" normalizeH="0" baseline="0" dirty="0">
                        <a:ln>
                          <a:noFill/>
                        </a:ln>
                        <a:solidFill>
                          <a:schemeClr val="tx1"/>
                        </a:solidFill>
                        <a:effectLst/>
                        <a:latin typeface="Times New Roman" panose="0202060305040502030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en-US" altLang="zh-CN" sz="2000" b="0" i="0" u="none" strike="noStrike" cap="none" normalizeH="0" baseline="0" dirty="0">
                        <a:ln>
                          <a:noFill/>
                        </a:ln>
                        <a:solidFill>
                          <a:schemeClr val="tx1"/>
                        </a:solidFill>
                        <a:effectLst/>
                        <a:latin typeface="Times New Roman" panose="0202060305040502030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Times New Roman" panose="02020603050405020304" charset="0"/>
                          <a:ea typeface="宋体" panose="02010600030101010101" pitchFamily="2" charset="-122"/>
                        </a:rPr>
                        <a:t>原图</a:t>
                      </a:r>
                    </a:p>
                  </a:txBody>
                  <a:tcPr marL="278520" marR="278520" marT="45728" marB="45728"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en-US" altLang="zh-CN" sz="2000" b="0" i="0" u="none" strike="noStrike" cap="none" normalizeH="0" baseline="0">
                        <a:ln>
                          <a:noFill/>
                        </a:ln>
                        <a:solidFill>
                          <a:schemeClr val="tx1"/>
                        </a:solidFill>
                        <a:effectLst/>
                        <a:latin typeface="Times New Roman" panose="0202060305040502030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0" i="0" u="none" strike="noStrike" cap="none" normalizeH="0" baseline="0">
                          <a:ln>
                            <a:noFill/>
                          </a:ln>
                          <a:solidFill>
                            <a:schemeClr val="tx1"/>
                          </a:solidFill>
                          <a:effectLst/>
                          <a:latin typeface="Times New Roman" panose="02020603050405020304" charset="0"/>
                          <a:ea typeface="宋体" panose="02010600030101010101" pitchFamily="2" charset="-122"/>
                        </a:rPr>
                        <a:t>原图直方图</a:t>
                      </a:r>
                    </a:p>
                  </a:txBody>
                  <a:tcPr marL="278520" marR="278520" marT="45728" marB="45728"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6947">
                <a:tc vMerge="1">
                  <a:txBody>
                    <a:bodyPr/>
                    <a:lstStyle/>
                    <a:p>
                      <a:endParaRPr lang="zh-CN"/>
                    </a:p>
                  </a:txBody>
                  <a:tcPr/>
                </a:tc>
                <a:tc rowSpan="2">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Times New Roman" panose="02020603050405020304" charset="0"/>
                          <a:ea typeface="宋体" panose="02010600030101010101" pitchFamily="2" charset="-122"/>
                        </a:rPr>
                        <a:t>匹配目标直方图</a:t>
                      </a:r>
                    </a:p>
                  </a:txBody>
                  <a:tcPr marL="278520" marR="278520" marT="45728" marB="45728"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94699">
                <a:tc rowSpan="2">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en-US" altLang="zh-CN" sz="2000" b="0" i="0" u="none" strike="noStrike" cap="none" normalizeH="0" baseline="0" dirty="0">
                        <a:ln>
                          <a:noFill/>
                        </a:ln>
                        <a:solidFill>
                          <a:schemeClr val="tx1"/>
                        </a:solidFill>
                        <a:effectLst/>
                        <a:latin typeface="Times New Roman" panose="0202060305040502030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Times New Roman" panose="02020603050405020304" charset="0"/>
                          <a:ea typeface="宋体" panose="02010600030101010101" pitchFamily="2" charset="-122"/>
                        </a:rPr>
                        <a:t>处理后图像</a:t>
                      </a:r>
                    </a:p>
                  </a:txBody>
                  <a:tcPr marL="278520" marR="278520" marT="45728" marB="45728"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2"/>
                  </a:ext>
                </a:extLst>
              </a:tr>
              <a:tr h="1175832">
                <a:tc vMerge="1">
                  <a:txBody>
                    <a:bodyPr/>
                    <a:lstStyle/>
                    <a:p>
                      <a:endParaRPr lang="zh-CN"/>
                    </a:p>
                  </a:txBody>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Times New Roman" panose="02020603050405020304" charset="0"/>
                          <a:ea typeface="宋体" panose="02010600030101010101" pitchFamily="2" charset="-122"/>
                        </a:rPr>
                        <a:t>处理后直方图</a:t>
                      </a:r>
                    </a:p>
                  </a:txBody>
                  <a:tcPr marL="278520" marR="278520" marT="45728" marB="45728"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3"/>
                  </a:ext>
                </a:extLst>
              </a:tr>
            </a:tbl>
          </a:graphicData>
        </a:graphic>
      </p:graphicFrame>
      <p:pic>
        <p:nvPicPr>
          <p:cNvPr id="31758" name="Picture 7"/>
          <p:cNvPicPr>
            <a:picLocks noChangeAspect="1"/>
          </p:cNvPicPr>
          <p:nvPr/>
        </p:nvPicPr>
        <p:blipFill>
          <a:blip r:embed="rId2"/>
          <a:stretch>
            <a:fillRect/>
          </a:stretch>
        </p:blipFill>
        <p:spPr>
          <a:xfrm>
            <a:off x="574675" y="1279525"/>
            <a:ext cx="4176713" cy="5578475"/>
          </a:xfrm>
          <a:prstGeom prst="rect">
            <a:avLst/>
          </a:prstGeom>
          <a:noFill/>
          <a:ln w="9525">
            <a:noFill/>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4"/>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Times New Roman" panose="02020603050405020304" charset="0"/>
                <a:ea typeface="+mj-ea"/>
                <a:cs typeface="Arial" panose="020B0604020202020204" pitchFamily="34" charset="0"/>
              </a:rPr>
              <a:t>直方图均衡 </a:t>
            </a:r>
            <a:r>
              <a:rPr kumimoji="1" lang="en-US" altLang="zh-CN" sz="3600" b="0" i="0" u="none" strike="noStrike" kern="0" cap="none" spc="0" normalizeH="0" baseline="0" noProof="0" dirty="0">
                <a:ln>
                  <a:noFill/>
                </a:ln>
                <a:solidFill>
                  <a:schemeClr val="tx2"/>
                </a:solidFill>
                <a:effectLst/>
                <a:uLnTx/>
                <a:uFillTx/>
                <a:latin typeface="Times New Roman" panose="02020603050405020304" charset="0"/>
                <a:ea typeface="+mj-ea"/>
                <a:cs typeface="Arial" panose="020B0604020202020204" pitchFamily="34" charset="0"/>
              </a:rPr>
              <a:t>vs. </a:t>
            </a:r>
            <a:r>
              <a:rPr kumimoji="1" lang="zh-CN" altLang="en-US" sz="3600" b="0" i="0" u="none" strike="noStrike" kern="0" cap="none" spc="0" normalizeH="0" baseline="0" noProof="0" dirty="0">
                <a:ln>
                  <a:noFill/>
                </a:ln>
                <a:solidFill>
                  <a:schemeClr val="tx2"/>
                </a:solidFill>
                <a:effectLst/>
                <a:uLnTx/>
                <a:uFillTx/>
                <a:latin typeface="Times New Roman" panose="02020603050405020304" charset="0"/>
                <a:ea typeface="+mj-ea"/>
                <a:cs typeface="Arial" panose="020B0604020202020204" pitchFamily="34" charset="0"/>
              </a:rPr>
              <a:t>直方图匹配</a:t>
            </a:r>
          </a:p>
        </p:txBody>
      </p:sp>
      <p:sp>
        <p:nvSpPr>
          <p:cNvPr id="2" name="内容占位符 1"/>
          <p:cNvSpPr>
            <a:spLocks noGrp="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r>
              <a:rPr kumimoji="1" lang="zh-CN" altLang="en-US" sz="28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直方图均衡：  </a:t>
            </a:r>
            <a:endParaRPr kumimoji="1" lang="en-US" altLang="zh-CN" sz="2800" b="0" i="0" u="none" strike="noStrike" kern="0" cap="none" spc="0" normalizeH="0" baseline="0" noProof="0" dirty="0">
              <a:ln>
                <a:noFill/>
              </a:ln>
              <a:solidFill>
                <a:schemeClr val="tx1"/>
              </a:solidFill>
              <a:effectLst/>
              <a:uLnTx/>
              <a:uFillTx/>
              <a:latin typeface="Arial" panose="020B0604020202020204" pitchFamily="34" charset="0"/>
              <a:ea typeface="+mn-ea"/>
              <a:cs typeface="+mn-cs"/>
            </a:endParaRPr>
          </a:p>
          <a:p>
            <a:pPr marL="781050" marR="0" lvl="1" indent="-342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l"/>
              <a:defRPr/>
            </a:pPr>
            <a:r>
              <a:rPr kumimoji="1" lang="zh-CN" altLang="en-US" sz="24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自动增强	</a:t>
            </a:r>
            <a:endParaRPr kumimoji="1" lang="en-US" altLang="zh-CN" sz="2400" b="0" i="0" u="none" strike="noStrike" kern="0" cap="none" spc="0" normalizeH="0" baseline="0" noProof="0" dirty="0">
              <a:ln>
                <a:noFill/>
              </a:ln>
              <a:solidFill>
                <a:schemeClr val="tx1"/>
              </a:solidFill>
              <a:effectLst/>
              <a:uLnTx/>
              <a:uFillTx/>
              <a:latin typeface="Arial" panose="020B0604020202020204" pitchFamily="34" charset="0"/>
              <a:ea typeface="+mn-ea"/>
              <a:cs typeface="+mn-cs"/>
            </a:endParaRPr>
          </a:p>
          <a:p>
            <a:pPr marL="781050" marR="0" lvl="1" indent="-342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l"/>
              <a:defRPr/>
            </a:pPr>
            <a:r>
              <a:rPr kumimoji="1" lang="zh-CN" altLang="en-US" sz="24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效果不易控制</a:t>
            </a:r>
            <a:endParaRPr kumimoji="1" lang="en-US" altLang="zh-CN" sz="2400" b="0" i="0" u="none" strike="noStrike" kern="0" cap="none" spc="0" normalizeH="0" baseline="0" noProof="0" dirty="0">
              <a:ln>
                <a:noFill/>
              </a:ln>
              <a:solidFill>
                <a:schemeClr val="tx1"/>
              </a:solidFill>
              <a:effectLst/>
              <a:uLnTx/>
              <a:uFillTx/>
              <a:latin typeface="Arial" panose="020B0604020202020204" pitchFamily="34" charset="0"/>
              <a:ea typeface="+mn-ea"/>
              <a:cs typeface="+mn-cs"/>
            </a:endParaRPr>
          </a:p>
          <a:p>
            <a:pPr marL="781050" marR="0" lvl="1" indent="-342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l"/>
              <a:defRPr/>
            </a:pPr>
            <a:r>
              <a:rPr kumimoji="1" lang="zh-CN" altLang="en-US" sz="24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总得到全图增强的结果</a:t>
            </a:r>
            <a:endParaRPr kumimoji="1" lang="zh-CN" altLang="en-US" sz="2800" b="0" i="0" u="none" strike="noStrike" kern="0" cap="none" spc="0" normalizeH="0" baseline="0" noProof="0" dirty="0">
              <a:ln>
                <a:noFill/>
              </a:ln>
              <a:solidFill>
                <a:schemeClr val="tx1"/>
              </a:solidFill>
              <a:effectLst/>
              <a:uLnTx/>
              <a:uFillTx/>
              <a:latin typeface="Arial" panose="020B0604020202020204" pitchFamily="34" charset="0"/>
              <a:ea typeface="+mn-ea"/>
              <a:cs typeface="+mn-cs"/>
            </a:endParaRPr>
          </a:p>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r>
              <a:rPr kumimoji="1" lang="zh-CN" altLang="en-US" sz="28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直方图匹配：  </a:t>
            </a:r>
          </a:p>
          <a:p>
            <a:pPr marL="781050" marR="0" lvl="1" indent="-342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l"/>
              <a:defRPr/>
            </a:pPr>
            <a:r>
              <a:rPr kumimoji="1" lang="zh-CN" altLang="en-US" sz="24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有选择地增强</a:t>
            </a:r>
            <a:endParaRPr kumimoji="1" lang="en-US" altLang="zh-CN" sz="2400" b="0" i="0" u="none" strike="noStrike" kern="0" cap="none" spc="0" normalizeH="0" baseline="0" noProof="0" dirty="0">
              <a:ln>
                <a:noFill/>
              </a:ln>
              <a:solidFill>
                <a:schemeClr val="tx1"/>
              </a:solidFill>
              <a:effectLst/>
              <a:uLnTx/>
              <a:uFillTx/>
              <a:latin typeface="Arial" panose="020B0604020202020204" pitchFamily="34" charset="0"/>
              <a:ea typeface="+mn-ea"/>
              <a:cs typeface="+mn-cs"/>
            </a:endParaRPr>
          </a:p>
          <a:p>
            <a:pPr marL="781050" marR="0" lvl="1" indent="-342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l"/>
              <a:defRPr/>
            </a:pPr>
            <a:r>
              <a:rPr kumimoji="1" lang="zh-CN" altLang="en-US" sz="24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须给定需要的直方图</a:t>
            </a:r>
            <a:endParaRPr kumimoji="1" lang="en-US" altLang="zh-CN" sz="2400" b="0" i="0" u="none" strike="noStrike" kern="0" cap="none" spc="0" normalizeH="0" baseline="0" noProof="0" dirty="0">
              <a:ln>
                <a:noFill/>
              </a:ln>
              <a:solidFill>
                <a:schemeClr val="tx1"/>
              </a:solidFill>
              <a:effectLst/>
              <a:uLnTx/>
              <a:uFillTx/>
              <a:latin typeface="Arial" panose="020B0604020202020204" pitchFamily="34" charset="0"/>
              <a:ea typeface="+mn-ea"/>
              <a:cs typeface="+mn-cs"/>
            </a:endParaRPr>
          </a:p>
          <a:p>
            <a:pPr marL="781050" marR="0" lvl="1" indent="-342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l"/>
              <a:defRPr/>
            </a:pPr>
            <a:r>
              <a:rPr kumimoji="1" lang="zh-CN" altLang="en-US" sz="24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可特定增强的结果</a:t>
            </a:r>
          </a:p>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r>
              <a:rPr kumimoji="1" lang="zh-CN" altLang="en-US" sz="28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直方图均衡可以看作是匹配直方图为均匀分布的直方图匹配</a:t>
            </a:r>
          </a:p>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endParaRPr kumimoji="1" lang="zh-CN" altLang="en-US" sz="2400" b="0" i="0" u="none" strike="noStrike" kern="0" cap="none" spc="0" normalizeH="0" baseline="0" noProof="0" dirty="0">
              <a:ln>
                <a:noFill/>
              </a:ln>
              <a:solidFill>
                <a:schemeClr val="tx1"/>
              </a:solidFill>
              <a:effectLst/>
              <a:uLnTx/>
              <a:uFillTx/>
              <a:latin typeface="+mn-lt"/>
              <a:ea typeface="+mn-ea"/>
              <a:cs typeface="+mn-cs"/>
            </a:endParaRPr>
          </a:p>
        </p:txBody>
      </p:sp>
      <p:sp>
        <p:nvSpPr>
          <p:cNvPr id="26626" name="灯片编号占位符 3"/>
          <p:cNvSpPr txBox="1">
            <a:spLocks noGrp="1"/>
          </p:cNvSpPr>
          <p:nvPr>
            <p:ph type="sldNum" sz="quarter" idx="4"/>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E90DA90F-E3B3-46DF-9590-D295DFBEC7FD}"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28</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局部直方图处理</a:t>
            </a:r>
          </a:p>
        </p:txBody>
      </p:sp>
      <p:sp>
        <p:nvSpPr>
          <p:cNvPr id="3" name="内容占位符 2"/>
          <p:cNvSpPr>
            <a:spLocks noGrp="1"/>
          </p:cNvSpPr>
          <p:nvPr>
            <p:ph idx="1"/>
          </p:nvPr>
        </p:nvSpPr>
        <p:spPr/>
        <p:txBody>
          <a:bodyPr/>
          <a:lstStyle/>
          <a:p>
            <a:r>
              <a:rPr lang="zh-CN" altLang="en-US" dirty="0"/>
              <a:t>图像局部邻域的直方图均衡化</a:t>
            </a:r>
            <a:endParaRPr lang="en-US" altLang="zh-CN" dirty="0"/>
          </a:p>
          <a:p>
            <a:pPr lvl="1"/>
            <a:r>
              <a:rPr lang="zh-CN" altLang="en-US" dirty="0"/>
              <a:t>以图像中</a:t>
            </a:r>
            <a:r>
              <a:rPr lang="zh-CN" altLang="en-US" b="1" dirty="0">
                <a:solidFill>
                  <a:schemeClr val="accent1"/>
                </a:solidFill>
              </a:rPr>
              <a:t>每个像素的邻域</a:t>
            </a:r>
            <a:r>
              <a:rPr lang="zh-CN" altLang="en-US" dirty="0"/>
              <a:t>中的灰度分布为基础</a:t>
            </a:r>
            <a:endParaRPr lang="en-US" altLang="zh-CN" dirty="0"/>
          </a:p>
          <a:p>
            <a:pPr lvl="1"/>
            <a:r>
              <a:rPr lang="zh-CN" altLang="en-US" dirty="0"/>
              <a:t>显示图象局部区域中被隐藏的信息</a:t>
            </a:r>
          </a:p>
        </p:txBody>
      </p:sp>
      <p:sp>
        <p:nvSpPr>
          <p:cNvPr id="4" name="灯片编号占位符 3"/>
          <p:cNvSpPr>
            <a:spLocks noGrp="1"/>
          </p:cNvSpPr>
          <p:nvPr>
            <p:ph type="sldNum" sz="quarter" idx="12"/>
          </p:nvPr>
        </p:nvSpPr>
        <p:spPr/>
        <p:txBody>
          <a:bodyPr/>
          <a:lstStyle/>
          <a:p>
            <a:pPr>
              <a:defRPr/>
            </a:pPr>
            <a:fld id="{BE59E6E9-16BB-4D46-A8D6-97CC594B8C57}" type="slidenum">
              <a:rPr lang="en-US" altLang="zh-CN" smtClean="0"/>
              <a:pPr>
                <a:defRPr/>
              </a:pPr>
              <a:t>29</a:t>
            </a:fld>
            <a:endParaRPr lang="en-US" altLang="zh-CN"/>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667" y="2755851"/>
            <a:ext cx="7977015"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371809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基于统计分布的图像增强</a:t>
            </a:r>
          </a:p>
        </p:txBody>
      </p:sp>
      <p:sp>
        <p:nvSpPr>
          <p:cNvPr id="3" name="内容占位符 2"/>
          <p:cNvSpPr>
            <a:spLocks noGrp="1"/>
          </p:cNvSpPr>
          <p:nvPr>
            <p:ph idx="1"/>
          </p:nvPr>
        </p:nvSpPr>
        <p:spPr/>
        <p:txBody>
          <a:bodyPr/>
          <a:lstStyle/>
          <a:p>
            <a:r>
              <a:rPr lang="zh-CN" altLang="en-US" dirty="0"/>
              <a:t>基于图像的直方图，很容易计算出图像像素灰度的均值和标准差</a:t>
            </a:r>
            <a:endParaRPr lang="en-US" altLang="zh-CN" dirty="0"/>
          </a:p>
          <a:p>
            <a:r>
              <a:rPr lang="zh-CN" altLang="en-US" dirty="0"/>
              <a:t>基于像素邻域的均值和标准差，可以选择性地对某些像素灰度进行增强</a:t>
            </a:r>
          </a:p>
        </p:txBody>
      </p:sp>
      <p:sp>
        <p:nvSpPr>
          <p:cNvPr id="4" name="灯片编号占位符 3"/>
          <p:cNvSpPr>
            <a:spLocks noGrp="1"/>
          </p:cNvSpPr>
          <p:nvPr>
            <p:ph type="sldNum" sz="quarter" idx="12"/>
          </p:nvPr>
        </p:nvSpPr>
        <p:spPr>
          <a:xfrm>
            <a:off x="8640452" y="6248400"/>
            <a:ext cx="432048" cy="457200"/>
          </a:xfrm>
        </p:spPr>
        <p:txBody>
          <a:bodyPr/>
          <a:lstStyle/>
          <a:p>
            <a:pPr>
              <a:defRPr/>
            </a:pPr>
            <a:fld id="{BE59E6E9-16BB-4D46-A8D6-97CC594B8C57}" type="slidenum">
              <a:rPr lang="en-US" altLang="zh-CN" smtClean="0"/>
              <a:pPr>
                <a:defRPr/>
              </a:pPr>
              <a:t>30</a:t>
            </a:fld>
            <a:endParaRPr lang="en-US" altLang="zh-CN" dirty="0"/>
          </a:p>
        </p:txBody>
      </p:sp>
      <p:pic>
        <p:nvPicPr>
          <p:cNvPr id="6" name="图片 5"/>
          <p:cNvPicPr>
            <a:picLocks noChangeAspect="1"/>
          </p:cNvPicPr>
          <p:nvPr/>
        </p:nvPicPr>
        <p:blipFill rotWithShape="1">
          <a:blip r:embed="rId2"/>
          <a:srcRect b="76343"/>
          <a:stretch/>
        </p:blipFill>
        <p:spPr>
          <a:xfrm>
            <a:off x="1727684" y="2996953"/>
            <a:ext cx="6477413" cy="900100"/>
          </a:xfrm>
          <a:prstGeom prst="rect">
            <a:avLst/>
          </a:prstGeom>
        </p:spPr>
      </p:pic>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3969060"/>
            <a:ext cx="4860540" cy="2852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541704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zh-CN" altLang="en-US" sz="3600" dirty="0">
                <a:latin typeface="+mj-ea"/>
              </a:rPr>
              <a:t>第</a:t>
            </a:r>
            <a:r>
              <a:rPr lang="en-US" altLang="zh-CN" sz="3600" dirty="0">
                <a:latin typeface="+mj-ea"/>
              </a:rPr>
              <a:t>3</a:t>
            </a:r>
            <a:r>
              <a:rPr lang="zh-CN" altLang="en-US" sz="3600" dirty="0">
                <a:latin typeface="+mj-ea"/>
              </a:rPr>
              <a:t>章  灰度变换与空域滤波</a:t>
            </a:r>
            <a:endParaRPr lang="en-US" altLang="zh-CN" sz="3600" dirty="0">
              <a:latin typeface="+mj-ea"/>
            </a:endParaRPr>
          </a:p>
        </p:txBody>
      </p:sp>
      <p:sp>
        <p:nvSpPr>
          <p:cNvPr id="198659" name="Text Box 3"/>
          <p:cNvSpPr txBox="1">
            <a:spLocks noChangeArrowheads="1"/>
          </p:cNvSpPr>
          <p:nvPr/>
        </p:nvSpPr>
        <p:spPr bwMode="auto">
          <a:xfrm>
            <a:off x="575556" y="1464945"/>
            <a:ext cx="7990205" cy="4592347"/>
          </a:xfrm>
          <a:prstGeom prst="rect">
            <a:avLst/>
          </a:prstGeom>
          <a:noFill/>
          <a:ln w="9525">
            <a:noFill/>
            <a:miter lim="800000"/>
          </a:ln>
          <a:effectLst/>
        </p:spPr>
        <p:txBody>
          <a:bodyPr/>
          <a:lstStyle/>
          <a:p>
            <a:pPr>
              <a:spcBef>
                <a:spcPct val="50000"/>
              </a:spcBef>
              <a:buClr>
                <a:schemeClr val="tx1"/>
              </a:buClr>
              <a:buNone/>
              <a:defRPr/>
            </a:pPr>
            <a:r>
              <a:rPr lang="en-US" altLang="zh-CN" sz="3200" dirty="0">
                <a:sym typeface="Wingdings" panose="05000000000000000000" pitchFamily="2" charset="2"/>
              </a:rPr>
              <a:t>3.1	</a:t>
            </a:r>
            <a:r>
              <a:rPr lang="zh-CN" altLang="en-US" sz="3200" dirty="0">
                <a:sym typeface="Wingdings" panose="05000000000000000000" pitchFamily="2" charset="2"/>
              </a:rPr>
              <a:t>背景知识</a:t>
            </a:r>
          </a:p>
          <a:p>
            <a:pPr>
              <a:spcBef>
                <a:spcPct val="50000"/>
              </a:spcBef>
              <a:buClr>
                <a:schemeClr val="tx1"/>
              </a:buClr>
              <a:buNone/>
              <a:defRPr/>
            </a:pPr>
            <a:r>
              <a:rPr lang="en-US" altLang="zh-CN" sz="3200" dirty="0">
                <a:latin typeface="+mn-lt"/>
                <a:ea typeface="+mn-ea"/>
                <a:sym typeface="Wingdings" panose="05000000000000000000" pitchFamily="2" charset="2"/>
              </a:rPr>
              <a:t>3.2	</a:t>
            </a:r>
            <a:r>
              <a:rPr lang="zh-CN" altLang="en-US" sz="3200" dirty="0">
                <a:latin typeface="+mn-lt"/>
                <a:ea typeface="+mn-ea"/>
                <a:sym typeface="Wingdings" panose="05000000000000000000" pitchFamily="2" charset="2"/>
              </a:rPr>
              <a:t>基本灰度变换</a:t>
            </a:r>
          </a:p>
          <a:p>
            <a:pPr>
              <a:spcBef>
                <a:spcPct val="50000"/>
              </a:spcBef>
              <a:buClr>
                <a:schemeClr val="tx1"/>
              </a:buClr>
              <a:buNone/>
              <a:defRPr/>
            </a:pPr>
            <a:r>
              <a:rPr lang="en-US" altLang="zh-CN" sz="3200" dirty="0">
                <a:sym typeface="Wingdings" panose="05000000000000000000" pitchFamily="2" charset="2"/>
              </a:rPr>
              <a:t>3.3	</a:t>
            </a:r>
            <a:r>
              <a:rPr lang="zh-CN" altLang="en-US" sz="3200" dirty="0">
                <a:sym typeface="Wingdings" panose="05000000000000000000" pitchFamily="2" charset="2"/>
              </a:rPr>
              <a:t>直方图处理</a:t>
            </a:r>
            <a:endParaRPr lang="en-US" altLang="zh-CN" sz="3200" dirty="0">
              <a:sym typeface="Wingdings" panose="05000000000000000000" pitchFamily="2" charset="2"/>
            </a:endParaRPr>
          </a:p>
          <a:p>
            <a:pPr>
              <a:spcBef>
                <a:spcPct val="50000"/>
              </a:spcBef>
              <a:buClr>
                <a:schemeClr val="tx1"/>
              </a:buClr>
              <a:buNone/>
              <a:defRPr/>
            </a:pPr>
            <a:r>
              <a:rPr lang="en-US" altLang="zh-CN" sz="3200" dirty="0">
                <a:solidFill>
                  <a:srgbClr val="FF0000"/>
                </a:solidFill>
                <a:sym typeface="Wingdings" panose="05000000000000000000" pitchFamily="2" charset="2"/>
              </a:rPr>
              <a:t>3.4    </a:t>
            </a:r>
            <a:r>
              <a:rPr lang="zh-CN" altLang="en-US" sz="3200" dirty="0">
                <a:solidFill>
                  <a:srgbClr val="FF0000"/>
                </a:solidFill>
                <a:sym typeface="Wingdings" panose="05000000000000000000" pitchFamily="2" charset="2"/>
              </a:rPr>
              <a:t>空间滤波基础</a:t>
            </a:r>
          </a:p>
          <a:p>
            <a:pPr>
              <a:spcBef>
                <a:spcPct val="50000"/>
              </a:spcBef>
              <a:buClr>
                <a:schemeClr val="tx1"/>
              </a:buClr>
              <a:buNone/>
              <a:defRPr/>
            </a:pPr>
            <a:r>
              <a:rPr lang="en-US" altLang="zh-CN" sz="3200" dirty="0">
                <a:sym typeface="Wingdings" panose="05000000000000000000" pitchFamily="2" charset="2"/>
              </a:rPr>
              <a:t>3.5	</a:t>
            </a:r>
            <a:r>
              <a:rPr lang="zh-CN" altLang="en-US" sz="3200" dirty="0">
                <a:sym typeface="Wingdings" panose="05000000000000000000" pitchFamily="2" charset="2"/>
              </a:rPr>
              <a:t>空域平滑</a:t>
            </a:r>
          </a:p>
          <a:p>
            <a:pPr>
              <a:spcBef>
                <a:spcPct val="50000"/>
              </a:spcBef>
              <a:buClr>
                <a:schemeClr val="tx1"/>
              </a:buClr>
              <a:buNone/>
              <a:defRPr/>
            </a:pPr>
            <a:r>
              <a:rPr lang="en-US" altLang="zh-CN" sz="3200" dirty="0">
                <a:sym typeface="Wingdings" panose="05000000000000000000" pitchFamily="2" charset="2"/>
              </a:rPr>
              <a:t>3.6    </a:t>
            </a:r>
            <a:r>
              <a:rPr lang="zh-CN" altLang="en-US" sz="3200" dirty="0">
                <a:sym typeface="Wingdings" panose="05000000000000000000" pitchFamily="2" charset="2"/>
              </a:rPr>
              <a:t>空域锐化</a:t>
            </a:r>
          </a:p>
          <a:p>
            <a:pPr>
              <a:spcBef>
                <a:spcPct val="50000"/>
              </a:spcBef>
              <a:buClr>
                <a:schemeClr val="tx1"/>
              </a:buClr>
              <a:buNone/>
              <a:defRPr/>
            </a:pPr>
            <a:endParaRPr lang="zh-CN" altLang="en-US" sz="2800" dirty="0">
              <a:latin typeface="+mn-lt"/>
              <a:ea typeface="+mn-ea"/>
              <a:sym typeface="Wingdings" panose="05000000000000000000" pitchFamily="2" charset="2"/>
            </a:endParaRPr>
          </a:p>
          <a:p>
            <a:pPr>
              <a:spcBef>
                <a:spcPct val="50000"/>
              </a:spcBef>
              <a:buClr>
                <a:schemeClr val="tx1"/>
              </a:buClr>
              <a:buNone/>
              <a:defRPr/>
            </a:pPr>
            <a:endParaRPr kumimoji="1" lang="zh-CN" altLang="en-US" sz="2800" b="0" i="0" u="none" strike="noStrike" kern="0" cap="none" spc="0" normalizeH="0" baseline="0" noProof="0" dirty="0">
              <a:ln>
                <a:noFill/>
              </a:ln>
              <a:solidFill>
                <a:schemeClr val="tx1"/>
              </a:solidFill>
              <a:effectLst/>
              <a:uLnTx/>
              <a:uFillTx/>
              <a:latin typeface="+mn-ea"/>
              <a:ea typeface="+mn-ea"/>
              <a:cs typeface="+mn-cs"/>
              <a:sym typeface="+mn-ea"/>
            </a:endParaRPr>
          </a:p>
          <a:p>
            <a:pPr>
              <a:spcBef>
                <a:spcPct val="50000"/>
              </a:spcBef>
              <a:buClr>
                <a:schemeClr val="tx1"/>
              </a:buClr>
              <a:buNone/>
              <a:defRPr/>
            </a:pPr>
            <a:endParaRPr lang="en-US" altLang="zh-CN" sz="3200" dirty="0">
              <a:latin typeface="+mn-lt"/>
              <a:ea typeface="+mn-ea"/>
              <a:sym typeface="Wingdings" panose="05000000000000000000" pitchFamily="2" charset="2"/>
            </a:endParaRPr>
          </a:p>
        </p:txBody>
      </p:sp>
      <p:sp>
        <p:nvSpPr>
          <p:cNvPr id="2" name="灯片编号占位符 1">
            <a:extLst>
              <a:ext uri="{FF2B5EF4-FFF2-40B4-BE49-F238E27FC236}">
                <a16:creationId xmlns:a16="http://schemas.microsoft.com/office/drawing/2014/main" id="{F9D36794-9E7C-42C1-A81B-0DEEEFFEB309}"/>
              </a:ext>
            </a:extLst>
          </p:cNvPr>
          <p:cNvSpPr>
            <a:spLocks noGrp="1"/>
          </p:cNvSpPr>
          <p:nvPr>
            <p:ph type="sldNum" sz="quarter" idx="12"/>
          </p:nvPr>
        </p:nvSpPr>
        <p:spPr/>
        <p:txBody>
          <a:bodyPr/>
          <a:lstStyle/>
          <a:p>
            <a:pPr>
              <a:defRPr/>
            </a:pPr>
            <a:fld id="{BE59E6E9-16BB-4D46-A8D6-97CC594B8C57}" type="slidenum">
              <a:rPr lang="en-US" altLang="zh-CN" smtClean="0"/>
              <a:pPr>
                <a:defRPr/>
              </a:pPr>
              <a:t>31</a:t>
            </a:fld>
            <a:endParaRPr lang="en-US" altLang="zh-CN"/>
          </a:p>
        </p:txBody>
      </p:sp>
    </p:spTree>
    <p:extLst>
      <p:ext uri="{BB962C8B-B14F-4D97-AF65-F5344CB8AC3E}">
        <p14:creationId xmlns:p14="http://schemas.microsoft.com/office/powerpoint/2010/main" val="401828208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空域滤波机制</a:t>
            </a:r>
          </a:p>
        </p:txBody>
      </p:sp>
      <p:sp>
        <p:nvSpPr>
          <p:cNvPr id="3" name="灯片编号占位符 2"/>
          <p:cNvSpPr>
            <a:spLocks noGrp="1"/>
          </p:cNvSpPr>
          <p:nvPr>
            <p:ph type="sldNum" sz="quarter" idx="12"/>
          </p:nvPr>
        </p:nvSpPr>
        <p:spPr/>
        <p:txBody>
          <a:bodyPr/>
          <a:lstStyle/>
          <a:p>
            <a:pPr>
              <a:defRPr/>
            </a:pPr>
            <a:fld id="{BE59E6E9-16BB-4D46-A8D6-97CC594B8C57}" type="slidenum">
              <a:rPr lang="en-US" altLang="zh-CN" smtClean="0"/>
              <a:pPr>
                <a:defRPr/>
              </a:pPr>
              <a:t>32</a:t>
            </a:fld>
            <a:endParaRPr lang="en-US" altLang="zh-CN"/>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8956" y="1405203"/>
            <a:ext cx="4837540" cy="5223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文本框 4"/>
              <p:cNvSpPr txBox="1"/>
              <p:nvPr/>
            </p:nvSpPr>
            <p:spPr>
              <a:xfrm>
                <a:off x="292719" y="2072076"/>
                <a:ext cx="4087979" cy="784510"/>
              </a:xfrm>
              <a:prstGeom prst="rect">
                <a:avLst/>
              </a:prstGeom>
              <a:noFill/>
            </p:spPr>
            <p:txBody>
              <a:bodyPr wrap="none" lIns="0" tIns="0" rIns="0" bIns="0" rtlCol="0">
                <a:spAutoFit/>
              </a:bodyPr>
              <a:lstStyle/>
              <a:p>
                <a:pPr>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𝑔</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nary>
                        <m:naryPr>
                          <m:chr m:val="∑"/>
                          <m:ctrlPr>
                            <a:rPr lang="en-GB" altLang="zh-CN" i="1" smtClean="0">
                              <a:latin typeface="Cambria Math" panose="02040503050406030204" pitchFamily="18" charset="0"/>
                            </a:rPr>
                          </m:ctrlPr>
                        </m:naryPr>
                        <m:sub>
                          <m:r>
                            <m:rPr>
                              <m:sty m:val="p"/>
                              <m:brk m:alnAt="23"/>
                            </m:rPr>
                            <a:rPr lang="en-US" altLang="zh-CN" i="1">
                              <a:latin typeface="Cambria Math" panose="02040503050406030204" pitchFamily="18" charset="0"/>
                            </a:rPr>
                            <m:t>s</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sub>
                        <m:sup>
                          <m:r>
                            <a:rPr lang="en-US" altLang="zh-CN" b="0" i="1" smtClean="0">
                              <a:latin typeface="Cambria Math" panose="02040503050406030204" pitchFamily="18" charset="0"/>
                            </a:rPr>
                            <m:t>𝑎</m:t>
                          </m:r>
                        </m:sup>
                        <m:e>
                          <m:nary>
                            <m:naryPr>
                              <m:chr m:val="∑"/>
                              <m:ctrlPr>
                                <a:rPr lang="en-GB" altLang="zh-CN" i="1" smtClean="0">
                                  <a:latin typeface="Cambria Math" panose="02040503050406030204" pitchFamily="18" charset="0"/>
                                </a:rPr>
                              </m:ctrlPr>
                            </m:naryPr>
                            <m:sub>
                              <m:r>
                                <m:rPr>
                                  <m:brk m:alnAt="23"/>
                                </m:rP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sub>
                            <m:sup>
                              <m:r>
                                <a:rPr lang="en-US" altLang="zh-CN" b="0" i="1" smtClean="0">
                                  <a:latin typeface="Cambria Math" panose="02040503050406030204" pitchFamily="18" charset="0"/>
                                </a:rPr>
                                <m:t>𝑏</m:t>
                              </m:r>
                            </m:sup>
                            <m:e>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e>
                              </m:d>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e>
                          </m:nary>
                        </m:e>
                      </m:nary>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292719" y="2072076"/>
                <a:ext cx="4087979" cy="784510"/>
              </a:xfrm>
              <a:prstGeom prst="rect">
                <a:avLst/>
              </a:prstGeom>
              <a:blipFill rotWithShape="0">
                <a:blip r:embed="rId3"/>
                <a:stretch>
                  <a:fillRect/>
                </a:stretch>
              </a:blipFill>
            </p:spPr>
            <p:txBody>
              <a:bodyPr/>
              <a:lstStyle/>
              <a:p>
                <a:r>
                  <a:rPr lang="zh-CN" altLang="en-US">
                    <a:noFill/>
                  </a:rPr>
                  <a:t> </a:t>
                </a:r>
              </a:p>
            </p:txBody>
          </p:sp>
        </mc:Fallback>
      </mc:AlternateContent>
      <p:sp>
        <p:nvSpPr>
          <p:cNvPr id="6" name="文本框 5"/>
          <p:cNvSpPr txBox="1"/>
          <p:nvPr/>
        </p:nvSpPr>
        <p:spPr>
          <a:xfrm>
            <a:off x="292719" y="3529434"/>
            <a:ext cx="3655930" cy="646331"/>
          </a:xfrm>
          <a:prstGeom prst="rect">
            <a:avLst/>
          </a:prstGeom>
          <a:noFill/>
        </p:spPr>
        <p:txBody>
          <a:bodyPr wrap="square" rtlCol="0">
            <a:spAutoFit/>
          </a:bodyPr>
          <a:lstStyle/>
          <a:p>
            <a:pPr>
              <a:buNone/>
            </a:pPr>
            <a:r>
              <a:rPr lang="zh-CN" altLang="en-US" dirty="0">
                <a:solidFill>
                  <a:srgbClr val="FF0000"/>
                </a:solidFill>
              </a:rPr>
              <a:t>相关 </a:t>
            </a:r>
            <a:r>
              <a:rPr lang="en-US" altLang="zh-CN" dirty="0">
                <a:solidFill>
                  <a:srgbClr val="FF0000"/>
                </a:solidFill>
              </a:rPr>
              <a:t>vs. </a:t>
            </a:r>
            <a:r>
              <a:rPr lang="zh-CN" altLang="en-US" dirty="0">
                <a:solidFill>
                  <a:srgbClr val="FF0000"/>
                </a:solidFill>
              </a:rPr>
              <a:t>卷积</a:t>
            </a:r>
            <a:r>
              <a:rPr lang="zh-CN" altLang="en-US" dirty="0"/>
              <a:t>：卷积运算需要对卷积核进行反转操作，而相关不需要。</a:t>
            </a:r>
          </a:p>
        </p:txBody>
      </p:sp>
    </p:spTree>
    <p:extLst>
      <p:ext uri="{BB962C8B-B14F-4D97-AF65-F5344CB8AC3E}">
        <p14:creationId xmlns:p14="http://schemas.microsoft.com/office/powerpoint/2010/main" val="286315761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空间相关与卷积：一维情况</a:t>
            </a:r>
          </a:p>
        </p:txBody>
      </p:sp>
      <p:sp>
        <p:nvSpPr>
          <p:cNvPr id="3" name="灯片编号占位符 2"/>
          <p:cNvSpPr>
            <a:spLocks noGrp="1"/>
          </p:cNvSpPr>
          <p:nvPr>
            <p:ph type="sldNum" sz="quarter" idx="12"/>
          </p:nvPr>
        </p:nvSpPr>
        <p:spPr/>
        <p:txBody>
          <a:bodyPr/>
          <a:lstStyle/>
          <a:p>
            <a:pPr>
              <a:defRPr/>
            </a:pPr>
            <a:fld id="{BE59E6E9-16BB-4D46-A8D6-97CC594B8C57}" type="slidenum">
              <a:rPr lang="en-US" altLang="zh-CN" smtClean="0"/>
              <a:pPr>
                <a:defRPr/>
              </a:pPr>
              <a:t>33</a:t>
            </a:fld>
            <a:endParaRPr lang="en-US" altLang="zh-CN"/>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1468987"/>
            <a:ext cx="5892502" cy="5371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直接箭头连接符 5"/>
          <p:cNvCxnSpPr/>
          <p:nvPr/>
        </p:nvCxnSpPr>
        <p:spPr bwMode="auto">
          <a:xfrm>
            <a:off x="2495545" y="2636912"/>
            <a:ext cx="648293" cy="43204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文本框 7"/>
          <p:cNvSpPr txBox="1"/>
          <p:nvPr/>
        </p:nvSpPr>
        <p:spPr>
          <a:xfrm>
            <a:off x="947594" y="2132856"/>
            <a:ext cx="1454244" cy="1698927"/>
          </a:xfrm>
          <a:prstGeom prst="rect">
            <a:avLst/>
          </a:prstGeom>
          <a:noFill/>
        </p:spPr>
        <p:txBody>
          <a:bodyPr wrap="none" rtlCol="0">
            <a:spAutoFit/>
          </a:bodyPr>
          <a:lstStyle/>
          <a:p>
            <a:pPr>
              <a:buNone/>
            </a:pPr>
            <a:r>
              <a:rPr lang="zh-CN" altLang="en-US" dirty="0"/>
              <a:t>边界延拓：</a:t>
            </a:r>
            <a:endParaRPr lang="en-US" altLang="zh-CN" dirty="0"/>
          </a:p>
          <a:p>
            <a:pPr>
              <a:buNone/>
            </a:pPr>
            <a:r>
              <a:rPr lang="en-US" altLang="zh-CN" dirty="0"/>
              <a:t>1</a:t>
            </a:r>
            <a:r>
              <a:rPr lang="zh-CN" altLang="en-US" dirty="0"/>
              <a:t>）补零延拓</a:t>
            </a:r>
            <a:endParaRPr lang="en-US" altLang="zh-CN" dirty="0"/>
          </a:p>
          <a:p>
            <a:pPr>
              <a:buNone/>
            </a:pPr>
            <a:r>
              <a:rPr lang="en-US" altLang="zh-CN" dirty="0"/>
              <a:t>2</a:t>
            </a:r>
            <a:r>
              <a:rPr lang="zh-CN" altLang="en-US" dirty="0"/>
              <a:t>）对称延拓</a:t>
            </a:r>
            <a:endParaRPr lang="en-US" altLang="zh-CN" dirty="0"/>
          </a:p>
          <a:p>
            <a:pPr>
              <a:buNone/>
            </a:pPr>
            <a:r>
              <a:rPr lang="en-US" altLang="zh-CN" dirty="0"/>
              <a:t>3</a:t>
            </a:r>
            <a:r>
              <a:rPr lang="zh-CN" altLang="en-US" dirty="0"/>
              <a:t>）复制延拓</a:t>
            </a:r>
            <a:endParaRPr lang="en-US" altLang="zh-CN" dirty="0"/>
          </a:p>
          <a:p>
            <a:pPr>
              <a:buNone/>
            </a:pPr>
            <a:r>
              <a:rPr lang="en-US" altLang="zh-CN" dirty="0"/>
              <a:t>4</a:t>
            </a:r>
            <a:r>
              <a:rPr lang="zh-CN" altLang="en-US" dirty="0"/>
              <a:t>）循环延拓</a:t>
            </a:r>
          </a:p>
        </p:txBody>
      </p:sp>
    </p:spTree>
    <p:extLst>
      <p:ext uri="{BB962C8B-B14F-4D97-AF65-F5344CB8AC3E}">
        <p14:creationId xmlns:p14="http://schemas.microsoft.com/office/powerpoint/2010/main" val="332778031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空间相关与卷积：二维情况</a:t>
            </a:r>
          </a:p>
        </p:txBody>
      </p:sp>
      <p:sp>
        <p:nvSpPr>
          <p:cNvPr id="3" name="灯片编号占位符 2"/>
          <p:cNvSpPr>
            <a:spLocks noGrp="1"/>
          </p:cNvSpPr>
          <p:nvPr>
            <p:ph type="sldNum" sz="quarter" idx="12"/>
          </p:nvPr>
        </p:nvSpPr>
        <p:spPr/>
        <p:txBody>
          <a:bodyPr/>
          <a:lstStyle/>
          <a:p>
            <a:pPr>
              <a:defRPr/>
            </a:pPr>
            <a:fld id="{BE59E6E9-16BB-4D46-A8D6-97CC594B8C57}" type="slidenum">
              <a:rPr lang="en-US" altLang="zh-CN" smtClean="0"/>
              <a:pPr>
                <a:defRPr/>
              </a:pPr>
              <a:t>34</a:t>
            </a:fld>
            <a:endParaRPr lang="en-US" altLang="zh-CN"/>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333469"/>
            <a:ext cx="5045050" cy="53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8304" y="1333469"/>
            <a:ext cx="1329916" cy="203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6" name="文本框 5"/>
              <p:cNvSpPr txBox="1"/>
              <p:nvPr/>
            </p:nvSpPr>
            <p:spPr>
              <a:xfrm>
                <a:off x="5796136" y="4087355"/>
                <a:ext cx="3174972" cy="610167"/>
              </a:xfrm>
              <a:prstGeom prst="rect">
                <a:avLst/>
              </a:prstGeom>
              <a:noFill/>
            </p:spPr>
            <p:txBody>
              <a:bodyPr wrap="none" lIns="0" tIns="0" rIns="0" bIns="0" rtlCol="0">
                <a:spAutoFit/>
              </a:bodyPr>
              <a:lstStyle/>
              <a:p>
                <a:pPr>
                  <a:buNone/>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𝑔</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nary>
                        <m:naryPr>
                          <m:chr m:val="∑"/>
                          <m:ctrlPr>
                            <a:rPr lang="en-GB" altLang="zh-CN" sz="1400" i="1" smtClean="0">
                              <a:latin typeface="Cambria Math" panose="02040503050406030204" pitchFamily="18" charset="0"/>
                            </a:rPr>
                          </m:ctrlPr>
                        </m:naryPr>
                        <m:sub>
                          <m:r>
                            <m:rPr>
                              <m:sty m:val="p"/>
                              <m:brk m:alnAt="23"/>
                            </m:rPr>
                            <a:rPr lang="en-US" altLang="zh-CN" sz="1400" i="1">
                              <a:latin typeface="Cambria Math" panose="02040503050406030204" pitchFamily="18" charset="0"/>
                            </a:rPr>
                            <m:t>s</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𝑎</m:t>
                          </m:r>
                        </m:sub>
                        <m:sup>
                          <m:r>
                            <a:rPr lang="en-US" altLang="zh-CN" sz="1400" b="0" i="1" smtClean="0">
                              <a:latin typeface="Cambria Math" panose="02040503050406030204" pitchFamily="18" charset="0"/>
                            </a:rPr>
                            <m:t>𝑎</m:t>
                          </m:r>
                        </m:sup>
                        <m:e>
                          <m:nary>
                            <m:naryPr>
                              <m:chr m:val="∑"/>
                              <m:ctrlPr>
                                <a:rPr lang="en-GB" altLang="zh-CN" sz="1400" i="1" smtClean="0">
                                  <a:latin typeface="Cambria Math" panose="02040503050406030204" pitchFamily="18" charset="0"/>
                                </a:rPr>
                              </m:ctrlPr>
                            </m:naryPr>
                            <m:sub>
                              <m:r>
                                <m:rPr>
                                  <m:brk m:alnAt="23"/>
                                </m:rPr>
                                <a:rPr lang="en-US" altLang="zh-CN" sz="1400" b="0" i="1" smtClean="0">
                                  <a:latin typeface="Cambria Math" panose="02040503050406030204" pitchFamily="18" charset="0"/>
                                </a:rPr>
                                <m:t>𝑡</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𝑏</m:t>
                              </m:r>
                            </m:sub>
                            <m:sup>
                              <m:r>
                                <a:rPr lang="en-US" altLang="zh-CN" sz="1400" b="0" i="1" smtClean="0">
                                  <a:latin typeface="Cambria Math" panose="02040503050406030204" pitchFamily="18" charset="0"/>
                                </a:rPr>
                                <m:t>𝑏</m:t>
                              </m:r>
                            </m:sup>
                            <m:e>
                              <m:r>
                                <a:rPr lang="en-US" altLang="zh-CN" sz="1400" b="0" i="1" smtClean="0">
                                  <a:latin typeface="Cambria Math" panose="02040503050406030204" pitchFamily="18" charset="0"/>
                                </a:rPr>
                                <m:t>𝑤</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𝑠</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𝑡</m:t>
                                  </m:r>
                                </m:e>
                              </m:d>
                              <m:r>
                                <a:rPr lang="en-US" altLang="zh-CN" sz="1400" b="0" i="1" smtClean="0">
                                  <a:latin typeface="Cambria Math" panose="02040503050406030204" pitchFamily="18" charset="0"/>
                                </a:rPr>
                                <m:t>𝑓</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𝑠</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𝑡</m:t>
                              </m:r>
                              <m:r>
                                <a:rPr lang="en-US" altLang="zh-CN" sz="1400" b="0" i="1" smtClean="0">
                                  <a:latin typeface="Cambria Math" panose="02040503050406030204" pitchFamily="18" charset="0"/>
                                </a:rPr>
                                <m:t>)</m:t>
                              </m:r>
                            </m:e>
                          </m:nary>
                        </m:e>
                      </m:nary>
                    </m:oMath>
                  </m:oMathPara>
                </a14:m>
                <a:endParaRPr lang="zh-CN" altLang="en-US" sz="1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5796136" y="4087355"/>
                <a:ext cx="3174972" cy="610167"/>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5796136" y="5481228"/>
                <a:ext cx="3174972" cy="610167"/>
              </a:xfrm>
              <a:prstGeom prst="rect">
                <a:avLst/>
              </a:prstGeom>
              <a:noFill/>
            </p:spPr>
            <p:txBody>
              <a:bodyPr wrap="none" lIns="0" tIns="0" rIns="0" bIns="0" rtlCol="0">
                <a:spAutoFit/>
              </a:bodyPr>
              <a:lstStyle/>
              <a:p>
                <a:pPr>
                  <a:buNone/>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𝑔</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nary>
                        <m:naryPr>
                          <m:chr m:val="∑"/>
                          <m:ctrlPr>
                            <a:rPr lang="en-GB" altLang="zh-CN" sz="1400" i="1" smtClean="0">
                              <a:latin typeface="Cambria Math" panose="02040503050406030204" pitchFamily="18" charset="0"/>
                            </a:rPr>
                          </m:ctrlPr>
                        </m:naryPr>
                        <m:sub>
                          <m:r>
                            <m:rPr>
                              <m:sty m:val="p"/>
                              <m:brk m:alnAt="23"/>
                            </m:rPr>
                            <a:rPr lang="en-US" altLang="zh-CN" sz="1400" i="1">
                              <a:latin typeface="Cambria Math" panose="02040503050406030204" pitchFamily="18" charset="0"/>
                            </a:rPr>
                            <m:t>s</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𝑎</m:t>
                          </m:r>
                        </m:sub>
                        <m:sup>
                          <m:r>
                            <a:rPr lang="en-US" altLang="zh-CN" sz="1400" b="0" i="1" smtClean="0">
                              <a:latin typeface="Cambria Math" panose="02040503050406030204" pitchFamily="18" charset="0"/>
                            </a:rPr>
                            <m:t>𝑎</m:t>
                          </m:r>
                        </m:sup>
                        <m:e>
                          <m:nary>
                            <m:naryPr>
                              <m:chr m:val="∑"/>
                              <m:ctrlPr>
                                <a:rPr lang="en-GB" altLang="zh-CN" sz="1400" i="1" smtClean="0">
                                  <a:latin typeface="Cambria Math" panose="02040503050406030204" pitchFamily="18" charset="0"/>
                                </a:rPr>
                              </m:ctrlPr>
                            </m:naryPr>
                            <m:sub>
                              <m:r>
                                <m:rPr>
                                  <m:brk m:alnAt="23"/>
                                </m:rPr>
                                <a:rPr lang="en-US" altLang="zh-CN" sz="1400" b="0" i="1" smtClean="0">
                                  <a:latin typeface="Cambria Math" panose="02040503050406030204" pitchFamily="18" charset="0"/>
                                </a:rPr>
                                <m:t>𝑡</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𝑏</m:t>
                              </m:r>
                            </m:sub>
                            <m:sup>
                              <m:r>
                                <a:rPr lang="en-US" altLang="zh-CN" sz="1400" b="0" i="1" smtClean="0">
                                  <a:latin typeface="Cambria Math" panose="02040503050406030204" pitchFamily="18" charset="0"/>
                                </a:rPr>
                                <m:t>𝑏</m:t>
                              </m:r>
                            </m:sup>
                            <m:e>
                              <m:r>
                                <a:rPr lang="en-US" altLang="zh-CN" sz="1400" b="0" i="1" smtClean="0">
                                  <a:latin typeface="Cambria Math" panose="02040503050406030204" pitchFamily="18" charset="0"/>
                                </a:rPr>
                                <m:t>𝑤</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𝑠</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𝑡</m:t>
                                  </m:r>
                                </m:e>
                              </m:d>
                              <m:r>
                                <a:rPr lang="en-US" altLang="zh-CN" sz="1400" b="0" i="1" smtClean="0">
                                  <a:latin typeface="Cambria Math" panose="02040503050406030204" pitchFamily="18" charset="0"/>
                                </a:rPr>
                                <m:t>𝑓</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𝑠</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𝑡</m:t>
                              </m:r>
                              <m:r>
                                <a:rPr lang="en-US" altLang="zh-CN" sz="1400" b="0" i="1" smtClean="0">
                                  <a:latin typeface="Cambria Math" panose="02040503050406030204" pitchFamily="18" charset="0"/>
                                </a:rPr>
                                <m:t>)</m:t>
                              </m:r>
                            </m:e>
                          </m:nary>
                        </m:e>
                      </m:nary>
                    </m:oMath>
                  </m:oMathPara>
                </a14:m>
                <a:endParaRPr lang="zh-CN" altLang="en-US" sz="1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5796136" y="5481228"/>
                <a:ext cx="3174972" cy="610167"/>
              </a:xfrm>
              <a:prstGeom prst="rect">
                <a:avLst/>
              </a:prstGeom>
              <a:blipFill rotWithShape="0">
                <a:blip r:embed="rId5"/>
                <a:stretch>
                  <a:fillRect b="-1000"/>
                </a:stretch>
              </a:blipFill>
            </p:spPr>
            <p:txBody>
              <a:bodyPr/>
              <a:lstStyle/>
              <a:p>
                <a:r>
                  <a:rPr lang="zh-CN" altLang="en-US">
                    <a:noFill/>
                  </a:rPr>
                  <a:t> </a:t>
                </a:r>
              </a:p>
            </p:txBody>
          </p:sp>
        </mc:Fallback>
      </mc:AlternateContent>
      <p:sp>
        <p:nvSpPr>
          <p:cNvPr id="8" name="文本框 7"/>
          <p:cNvSpPr txBox="1"/>
          <p:nvPr/>
        </p:nvSpPr>
        <p:spPr>
          <a:xfrm>
            <a:off x="5796136" y="3677310"/>
            <a:ext cx="1338828" cy="369332"/>
          </a:xfrm>
          <a:prstGeom prst="rect">
            <a:avLst/>
          </a:prstGeom>
          <a:noFill/>
        </p:spPr>
        <p:txBody>
          <a:bodyPr wrap="none" rtlCol="0">
            <a:spAutoFit/>
          </a:bodyPr>
          <a:lstStyle/>
          <a:p>
            <a:pPr>
              <a:buNone/>
            </a:pPr>
            <a:r>
              <a:rPr lang="zh-CN" altLang="en-US" dirty="0"/>
              <a:t>相关运算：</a:t>
            </a:r>
          </a:p>
        </p:txBody>
      </p:sp>
      <p:sp>
        <p:nvSpPr>
          <p:cNvPr id="9" name="文本框 8"/>
          <p:cNvSpPr txBox="1"/>
          <p:nvPr/>
        </p:nvSpPr>
        <p:spPr>
          <a:xfrm>
            <a:off x="5796136" y="5111896"/>
            <a:ext cx="1338828" cy="369332"/>
          </a:xfrm>
          <a:prstGeom prst="rect">
            <a:avLst/>
          </a:prstGeom>
          <a:noFill/>
        </p:spPr>
        <p:txBody>
          <a:bodyPr wrap="none" rtlCol="0">
            <a:spAutoFit/>
          </a:bodyPr>
          <a:lstStyle/>
          <a:p>
            <a:pPr>
              <a:buNone/>
            </a:pPr>
            <a:r>
              <a:rPr lang="zh-CN" altLang="en-US" dirty="0"/>
              <a:t>卷积运算：</a:t>
            </a:r>
          </a:p>
        </p:txBody>
      </p:sp>
    </p:spTree>
    <p:extLst>
      <p:ext uri="{BB962C8B-B14F-4D97-AF65-F5344CB8AC3E}">
        <p14:creationId xmlns:p14="http://schemas.microsoft.com/office/powerpoint/2010/main" val="417079894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滤波器的向量表示与模板生成</a:t>
            </a:r>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566738" y="1341438"/>
                <a:ext cx="8001000" cy="5364162"/>
              </a:xfrm>
            </p:spPr>
            <p:txBody>
              <a:bodyPr/>
              <a:lstStyle/>
              <a:p>
                <a:pPr>
                  <a:spcBef>
                    <a:spcPts val="0"/>
                  </a:spcBef>
                  <a:spcAft>
                    <a:spcPts val="600"/>
                  </a:spcAft>
                </a:pPr>
                <a:r>
                  <a:rPr lang="zh-CN" altLang="en-US" dirty="0"/>
                  <a:t>当关注相关或卷积的响应特性时，可以将响应写为乘积的求和形式</a:t>
                </a:r>
                <a:endParaRPr lang="en-US" altLang="zh-CN" dirty="0"/>
              </a:p>
              <a:p>
                <a:pPr marL="0" indent="0">
                  <a:spcAft>
                    <a:spcPts val="600"/>
                  </a:spcAft>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m:rPr>
                          <m:nor/>
                        </m:rPr>
                        <a:rPr lang="en-US" altLang="zh-CN" b="0" i="0"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𝑀𝑁</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b="0" i="1" smtClean="0">
                              <a:latin typeface="Cambria Math" panose="02040503050406030204" pitchFamily="18" charset="0"/>
                            </a:rPr>
                            <m:t>𝑀𝑁</m:t>
                          </m:r>
                        </m:sub>
                      </m:sSub>
                      <m:r>
                        <a:rPr lang="en-US" altLang="zh-CN" b="0"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a:latin typeface="Cambria Math" panose="02040503050406030204" pitchFamily="18" charset="0"/>
                            </a:rPr>
                            <m:t>𝒘</m:t>
                          </m:r>
                        </m:e>
                        <m:sup>
                          <m:r>
                            <m:rPr>
                              <m:sty m:val="p"/>
                            </m:rPr>
                            <a:rPr lang="en-US" altLang="zh-CN" b="0" i="0" smtClean="0">
                              <a:latin typeface="Cambria Math" panose="02040503050406030204" pitchFamily="18" charset="0"/>
                            </a:rPr>
                            <m:t>T</m:t>
                          </m:r>
                        </m:sup>
                      </m:sSup>
                      <m:r>
                        <a:rPr lang="en-US" altLang="zh-CN" b="1" i="1" smtClean="0">
                          <a:latin typeface="Cambria Math" panose="02040503050406030204" pitchFamily="18" charset="0"/>
                        </a:rPr>
                        <m:t>𝒛</m:t>
                      </m:r>
                    </m:oMath>
                  </m:oMathPara>
                </a14:m>
                <a:endParaRPr lang="en-US" altLang="zh-CN" b="1" dirty="0"/>
              </a:p>
              <a:p>
                <a:pPr lvl="1">
                  <a:buFont typeface="Wingdings" panose="05000000000000000000" pitchFamily="2" charset="2"/>
                  <a:buChar char="n"/>
                </a:pPr>
                <a:r>
                  <a:rPr lang="zh-CN" altLang="en-US" dirty="0"/>
                  <a:t>等价于将二维滤波器按一维进行编号</a:t>
                </a:r>
                <a:endParaRPr lang="en-US" altLang="zh-CN" dirty="0"/>
              </a:p>
              <a:p>
                <a:pPr>
                  <a:spcBef>
                    <a:spcPts val="1200"/>
                  </a:spcBef>
                  <a:spcAft>
                    <a:spcPts val="600"/>
                  </a:spcAft>
                </a:pPr>
                <a:r>
                  <a:rPr lang="zh-CN" altLang="en-US" dirty="0"/>
                  <a:t>空间滤波器的模板生成</a:t>
                </a:r>
                <a:endParaRPr lang="en-US" altLang="zh-CN" dirty="0"/>
              </a:p>
              <a:p>
                <a:pPr lvl="1">
                  <a:spcBef>
                    <a:spcPts val="0"/>
                  </a:spcBef>
                  <a:spcAft>
                    <a:spcPts val="600"/>
                  </a:spcAft>
                </a:pPr>
                <a:r>
                  <a:rPr lang="zh-CN" altLang="en-US" dirty="0"/>
                  <a:t>滤波器的系数根据其支持怎么样的操作来选择</a:t>
                </a:r>
                <a:endParaRPr lang="en-US" altLang="zh-CN" dirty="0"/>
              </a:p>
              <a:p>
                <a:pPr lvl="1">
                  <a:spcBef>
                    <a:spcPts val="0"/>
                  </a:spcBef>
                  <a:spcAft>
                    <a:spcPts val="600"/>
                  </a:spcAft>
                </a:pPr>
                <a:r>
                  <a:rPr lang="zh-CN" altLang="en-US" b="1" dirty="0">
                    <a:solidFill>
                      <a:srgbClr val="FF0000"/>
                    </a:solidFill>
                  </a:rPr>
                  <a:t>线性滤波</a:t>
                </a:r>
                <a:r>
                  <a:rPr lang="zh-CN" altLang="en-US" dirty="0"/>
                  <a:t>的作用是实现乘积求和操作：加权求和</a:t>
                </a:r>
                <a:endParaRPr lang="en-US" altLang="zh-CN" dirty="0"/>
              </a:p>
              <a:p>
                <a:pPr lvl="1">
                  <a:spcBef>
                    <a:spcPts val="0"/>
                  </a:spcBef>
                  <a:spcAft>
                    <a:spcPts val="600"/>
                  </a:spcAft>
                </a:pPr>
                <a:endParaRPr lang="en-US" altLang="zh-CN" dirty="0"/>
              </a:p>
              <a:p>
                <a:pPr lvl="1">
                  <a:spcBef>
                    <a:spcPts val="0"/>
                  </a:spcBef>
                  <a:spcAft>
                    <a:spcPts val="600"/>
                  </a:spcAft>
                </a:pPr>
                <a:endParaRPr lang="en-US" altLang="zh-CN" dirty="0"/>
              </a:p>
              <a:p>
                <a:pPr lvl="1">
                  <a:spcBef>
                    <a:spcPts val="0"/>
                  </a:spcBef>
                  <a:spcAft>
                    <a:spcPts val="600"/>
                  </a:spcAft>
                </a:pPr>
                <a:endParaRPr lang="en-US" altLang="zh-CN" dirty="0"/>
              </a:p>
              <a:p>
                <a:pPr lvl="1">
                  <a:spcBef>
                    <a:spcPts val="0"/>
                  </a:spcBef>
                  <a:spcAft>
                    <a:spcPts val="600"/>
                  </a:spcAft>
                </a:pPr>
                <a:endParaRPr lang="en-US" altLang="zh-CN" dirty="0"/>
              </a:p>
              <a:p>
                <a:pPr lvl="1">
                  <a:spcBef>
                    <a:spcPts val="0"/>
                  </a:spcBef>
                  <a:spcAft>
                    <a:spcPts val="600"/>
                  </a:spcAft>
                </a:pPr>
                <a:r>
                  <a:rPr lang="zh-CN" altLang="en-US" b="1" dirty="0">
                    <a:solidFill>
                      <a:srgbClr val="FF0000"/>
                    </a:solidFill>
                  </a:rPr>
                  <a:t>非线性滤波</a:t>
                </a:r>
                <a:r>
                  <a:rPr lang="zh-CN" altLang="en-US" dirty="0"/>
                  <a:t>要求确定邻域大小，以及对包含在邻域内的图像像素执行的操作</a:t>
                </a: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566738" y="1341438"/>
                <a:ext cx="8001000" cy="5364162"/>
              </a:xfrm>
              <a:blipFill>
                <a:blip r:embed="rId2"/>
                <a:stretch>
                  <a:fillRect l="-1067" t="-909" r="-762"/>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pPr>
              <a:defRPr/>
            </a:pPr>
            <a:fld id="{BE59E6E9-16BB-4D46-A8D6-97CC594B8C57}" type="slidenum">
              <a:rPr lang="en-US" altLang="zh-CN" smtClean="0"/>
              <a:pPr>
                <a:defRPr/>
              </a:pPr>
              <a:t>35</a:t>
            </a:fld>
            <a:endParaRPr lang="en-US" altLang="zh-CN"/>
          </a:p>
        </p:txBody>
      </p:sp>
      <mc:AlternateContent xmlns:mc="http://schemas.openxmlformats.org/markup-compatibility/2006" xmlns:a14="http://schemas.microsoft.com/office/drawing/2010/main">
        <mc:Choice Requires="a14">
          <p:sp>
            <p:nvSpPr>
              <p:cNvPr id="5" name="矩形 4"/>
              <p:cNvSpPr/>
              <p:nvPr/>
            </p:nvSpPr>
            <p:spPr>
              <a:xfrm>
                <a:off x="1619672" y="4841586"/>
                <a:ext cx="1348639" cy="610936"/>
              </a:xfrm>
              <a:prstGeom prst="rect">
                <a:avLst/>
              </a:prstGeom>
            </p:spPr>
            <p:txBody>
              <a:bodyPr wrap="none">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𝑚𝑛</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𝑀𝑁</m:t>
                          </m:r>
                        </m:den>
                      </m:f>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1619672" y="4841586"/>
                <a:ext cx="1348639" cy="610936"/>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779912" y="4532510"/>
                <a:ext cx="4454617" cy="984052"/>
              </a:xfrm>
              <a:prstGeom prst="rect">
                <a:avLst/>
              </a:prstGeom>
            </p:spPr>
            <p:txBody>
              <a:bodyPr wrap="none">
                <a:spAutoFit/>
              </a:bodyPr>
              <a:lstStyle/>
              <a:p>
                <a:pPr>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𝑚𝑛</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exp</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𝑚</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𝑀</m:t>
                                              </m:r>
                                            </m:num>
                                            <m:den>
                                              <m:r>
                                                <a:rPr lang="en-US" altLang="zh-CN" i="1">
                                                  <a:latin typeface="Cambria Math" panose="02040503050406030204" pitchFamily="18" charset="0"/>
                                                </a:rPr>
                                                <m:t>2</m:t>
                                              </m:r>
                                            </m:den>
                                          </m:f>
                                        </m:e>
                                      </m:d>
                                    </m:e>
                                  </m:d>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b="0" i="1" smtClean="0">
                                          <a:latin typeface="Cambria Math" panose="02040503050406030204" pitchFamily="18" charset="0"/>
                                        </a:rPr>
                                        <m:t>𝑛</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𝑁</m:t>
                                              </m:r>
                                            </m:num>
                                            <m:den>
                                              <m:r>
                                                <a:rPr lang="en-US" altLang="zh-CN" i="1">
                                                  <a:latin typeface="Cambria Math" panose="02040503050406030204" pitchFamily="18" charset="0"/>
                                                </a:rPr>
                                                <m:t>2</m:t>
                                              </m:r>
                                            </m:den>
                                          </m:f>
                                        </m:e>
                                      </m:d>
                                    </m:e>
                                  </m:d>
                                </m:e>
                                <m:sup>
                                  <m:r>
                                    <a:rPr lang="en-US" altLang="zh-CN" i="1">
                                      <a:latin typeface="Cambria Math" panose="02040503050406030204" pitchFamily="18" charset="0"/>
                                    </a:rPr>
                                    <m:t>2</m:t>
                                  </m:r>
                                </m:sup>
                              </m:sSup>
                            </m:num>
                            <m:den>
                              <m:r>
                                <a:rPr lang="en-US" altLang="zh-CN" b="0" i="1" smtClean="0">
                                  <a:latin typeface="Cambria Math" panose="02040503050406030204" pitchFamily="18" charset="0"/>
                                </a:rPr>
                                <m:t>2</m:t>
                              </m:r>
                              <m:r>
                                <a:rPr lang="zh-CN" altLang="en-US" b="0" i="1" smtClean="0">
                                  <a:latin typeface="Cambria Math" panose="02040503050406030204" pitchFamily="18" charset="0"/>
                                </a:rPr>
                                <m:t>𝜎</m:t>
                              </m:r>
                            </m:den>
                          </m:f>
                        </m:e>
                      </m:d>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3779912" y="4532510"/>
                <a:ext cx="4454617" cy="984052"/>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0208530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zh-CN" altLang="en-US" sz="3600" dirty="0">
                <a:latin typeface="+mj-ea"/>
              </a:rPr>
              <a:t>第</a:t>
            </a:r>
            <a:r>
              <a:rPr lang="en-US" altLang="zh-CN" sz="3600" dirty="0">
                <a:latin typeface="+mj-ea"/>
              </a:rPr>
              <a:t>3</a:t>
            </a:r>
            <a:r>
              <a:rPr lang="zh-CN" altLang="en-US" sz="3600" dirty="0">
                <a:latin typeface="+mj-ea"/>
              </a:rPr>
              <a:t>章  灰度变换与空域滤波</a:t>
            </a:r>
            <a:endParaRPr lang="en-US" altLang="zh-CN" sz="3600" dirty="0">
              <a:latin typeface="+mj-ea"/>
            </a:endParaRPr>
          </a:p>
        </p:txBody>
      </p:sp>
      <p:sp>
        <p:nvSpPr>
          <p:cNvPr id="198659" name="Text Box 3"/>
          <p:cNvSpPr txBox="1">
            <a:spLocks noChangeArrowheads="1"/>
          </p:cNvSpPr>
          <p:nvPr/>
        </p:nvSpPr>
        <p:spPr bwMode="auto">
          <a:xfrm>
            <a:off x="575556" y="1464945"/>
            <a:ext cx="7990205" cy="4592347"/>
          </a:xfrm>
          <a:prstGeom prst="rect">
            <a:avLst/>
          </a:prstGeom>
          <a:noFill/>
          <a:ln w="9525">
            <a:noFill/>
            <a:miter lim="800000"/>
          </a:ln>
          <a:effectLst/>
        </p:spPr>
        <p:txBody>
          <a:bodyPr/>
          <a:lstStyle/>
          <a:p>
            <a:pPr>
              <a:spcBef>
                <a:spcPct val="50000"/>
              </a:spcBef>
              <a:buClr>
                <a:schemeClr val="tx1"/>
              </a:buClr>
              <a:buNone/>
              <a:defRPr/>
            </a:pPr>
            <a:r>
              <a:rPr lang="en-US" altLang="zh-CN" sz="3200" dirty="0">
                <a:sym typeface="Wingdings" panose="05000000000000000000" pitchFamily="2" charset="2"/>
              </a:rPr>
              <a:t>3.1	</a:t>
            </a:r>
            <a:r>
              <a:rPr lang="zh-CN" altLang="en-US" sz="3200" dirty="0">
                <a:sym typeface="Wingdings" panose="05000000000000000000" pitchFamily="2" charset="2"/>
              </a:rPr>
              <a:t>背景知识</a:t>
            </a:r>
          </a:p>
          <a:p>
            <a:pPr>
              <a:spcBef>
                <a:spcPct val="50000"/>
              </a:spcBef>
              <a:buClr>
                <a:schemeClr val="tx1"/>
              </a:buClr>
              <a:buNone/>
              <a:defRPr/>
            </a:pPr>
            <a:r>
              <a:rPr lang="en-US" altLang="zh-CN" sz="3200" dirty="0">
                <a:latin typeface="+mn-lt"/>
                <a:ea typeface="+mn-ea"/>
                <a:sym typeface="Wingdings" panose="05000000000000000000" pitchFamily="2" charset="2"/>
              </a:rPr>
              <a:t>3.2	</a:t>
            </a:r>
            <a:r>
              <a:rPr lang="zh-CN" altLang="en-US" sz="3200" dirty="0">
                <a:latin typeface="+mn-lt"/>
                <a:ea typeface="+mn-ea"/>
                <a:sym typeface="Wingdings" panose="05000000000000000000" pitchFamily="2" charset="2"/>
              </a:rPr>
              <a:t>基本灰度变换</a:t>
            </a:r>
          </a:p>
          <a:p>
            <a:pPr>
              <a:spcBef>
                <a:spcPct val="50000"/>
              </a:spcBef>
              <a:buClr>
                <a:schemeClr val="tx1"/>
              </a:buClr>
              <a:buNone/>
              <a:defRPr/>
            </a:pPr>
            <a:r>
              <a:rPr lang="en-US" altLang="zh-CN" sz="3200" dirty="0">
                <a:latin typeface="+mn-lt"/>
                <a:ea typeface="+mn-ea"/>
                <a:sym typeface="Wingdings" panose="05000000000000000000" pitchFamily="2" charset="2"/>
              </a:rPr>
              <a:t>3.3	</a:t>
            </a:r>
            <a:r>
              <a:rPr lang="zh-CN" altLang="en-US" sz="3200" dirty="0">
                <a:latin typeface="+mn-lt"/>
                <a:ea typeface="+mn-ea"/>
                <a:sym typeface="Wingdings" panose="05000000000000000000" pitchFamily="2" charset="2"/>
              </a:rPr>
              <a:t>直方图处理</a:t>
            </a:r>
            <a:endParaRPr lang="en-US" altLang="zh-CN" sz="3200" dirty="0">
              <a:latin typeface="+mn-lt"/>
              <a:ea typeface="+mn-ea"/>
              <a:sym typeface="Wingdings" panose="05000000000000000000" pitchFamily="2" charset="2"/>
            </a:endParaRPr>
          </a:p>
          <a:p>
            <a:pPr>
              <a:spcBef>
                <a:spcPct val="50000"/>
              </a:spcBef>
              <a:buClr>
                <a:schemeClr val="tx1"/>
              </a:buClr>
              <a:buNone/>
              <a:defRPr/>
            </a:pPr>
            <a:r>
              <a:rPr lang="en-US" altLang="zh-CN" sz="3200" dirty="0">
                <a:latin typeface="+mn-lt"/>
                <a:ea typeface="+mn-ea"/>
                <a:sym typeface="Wingdings" panose="05000000000000000000" pitchFamily="2" charset="2"/>
              </a:rPr>
              <a:t>3.4    </a:t>
            </a:r>
            <a:r>
              <a:rPr lang="zh-CN" altLang="en-US" sz="3200" dirty="0">
                <a:latin typeface="+mn-lt"/>
                <a:ea typeface="+mn-ea"/>
                <a:sym typeface="Wingdings" panose="05000000000000000000" pitchFamily="2" charset="2"/>
              </a:rPr>
              <a:t>空间滤波基础</a:t>
            </a:r>
          </a:p>
          <a:p>
            <a:pPr>
              <a:spcBef>
                <a:spcPct val="50000"/>
              </a:spcBef>
              <a:buClr>
                <a:schemeClr val="tx1"/>
              </a:buClr>
              <a:buNone/>
              <a:defRPr/>
            </a:pPr>
            <a:r>
              <a:rPr lang="en-US" altLang="zh-CN" sz="3200" dirty="0">
                <a:solidFill>
                  <a:srgbClr val="FF0000"/>
                </a:solidFill>
                <a:latin typeface="+mn-lt"/>
                <a:ea typeface="+mn-ea"/>
                <a:sym typeface="Wingdings" panose="05000000000000000000" pitchFamily="2" charset="2"/>
              </a:rPr>
              <a:t>3.5	</a:t>
            </a:r>
            <a:r>
              <a:rPr lang="zh-CN" altLang="en-US" sz="3200" dirty="0">
                <a:solidFill>
                  <a:srgbClr val="FF0000"/>
                </a:solidFill>
                <a:latin typeface="+mn-lt"/>
                <a:ea typeface="+mn-ea"/>
                <a:sym typeface="Wingdings" panose="05000000000000000000" pitchFamily="2" charset="2"/>
              </a:rPr>
              <a:t>空域平滑</a:t>
            </a:r>
          </a:p>
          <a:p>
            <a:pPr>
              <a:spcBef>
                <a:spcPct val="50000"/>
              </a:spcBef>
              <a:buClr>
                <a:schemeClr val="tx1"/>
              </a:buClr>
              <a:buNone/>
              <a:defRPr/>
            </a:pPr>
            <a:r>
              <a:rPr lang="en-US" altLang="zh-CN" sz="3200" dirty="0">
                <a:latin typeface="+mn-lt"/>
                <a:ea typeface="+mn-ea"/>
                <a:sym typeface="Wingdings" panose="05000000000000000000" pitchFamily="2" charset="2"/>
              </a:rPr>
              <a:t>3.6    </a:t>
            </a:r>
            <a:r>
              <a:rPr lang="zh-CN" altLang="en-US" sz="3200" dirty="0">
                <a:latin typeface="+mn-lt"/>
                <a:ea typeface="+mn-ea"/>
                <a:sym typeface="Wingdings" panose="05000000000000000000" pitchFamily="2" charset="2"/>
              </a:rPr>
              <a:t>空域锐化</a:t>
            </a:r>
          </a:p>
          <a:p>
            <a:pPr>
              <a:spcBef>
                <a:spcPct val="50000"/>
              </a:spcBef>
              <a:buClr>
                <a:schemeClr val="tx1"/>
              </a:buClr>
              <a:buNone/>
              <a:defRPr/>
            </a:pPr>
            <a:endParaRPr lang="zh-CN" altLang="en-US" sz="2800" dirty="0">
              <a:latin typeface="+mn-lt"/>
              <a:ea typeface="+mn-ea"/>
              <a:sym typeface="Wingdings" panose="05000000000000000000" pitchFamily="2" charset="2"/>
            </a:endParaRPr>
          </a:p>
          <a:p>
            <a:pPr>
              <a:spcBef>
                <a:spcPct val="50000"/>
              </a:spcBef>
              <a:buClr>
                <a:schemeClr val="tx1"/>
              </a:buClr>
              <a:buNone/>
              <a:defRPr/>
            </a:pPr>
            <a:endParaRPr kumimoji="1" lang="zh-CN" altLang="en-US" sz="2800" b="0" i="0" u="none" strike="noStrike" kern="0" cap="none" spc="0" normalizeH="0" baseline="0" noProof="0" dirty="0">
              <a:ln>
                <a:noFill/>
              </a:ln>
              <a:solidFill>
                <a:schemeClr val="tx1"/>
              </a:solidFill>
              <a:effectLst/>
              <a:uLnTx/>
              <a:uFillTx/>
              <a:latin typeface="+mn-ea"/>
              <a:ea typeface="+mn-ea"/>
              <a:cs typeface="+mn-cs"/>
              <a:sym typeface="+mn-ea"/>
            </a:endParaRPr>
          </a:p>
          <a:p>
            <a:pPr>
              <a:spcBef>
                <a:spcPct val="50000"/>
              </a:spcBef>
              <a:buClr>
                <a:schemeClr val="tx1"/>
              </a:buClr>
              <a:buNone/>
              <a:defRPr/>
            </a:pPr>
            <a:endParaRPr lang="en-US" altLang="zh-CN" sz="3200" dirty="0">
              <a:latin typeface="+mn-lt"/>
              <a:ea typeface="+mn-ea"/>
              <a:sym typeface="Wingdings" panose="05000000000000000000" pitchFamily="2" charset="2"/>
            </a:endParaRPr>
          </a:p>
        </p:txBody>
      </p:sp>
      <p:sp>
        <p:nvSpPr>
          <p:cNvPr id="2" name="灯片编号占位符 1">
            <a:extLst>
              <a:ext uri="{FF2B5EF4-FFF2-40B4-BE49-F238E27FC236}">
                <a16:creationId xmlns:a16="http://schemas.microsoft.com/office/drawing/2014/main" id="{86EB480A-F356-4689-8B12-B514D83D077E}"/>
              </a:ext>
            </a:extLst>
          </p:cNvPr>
          <p:cNvSpPr>
            <a:spLocks noGrp="1"/>
          </p:cNvSpPr>
          <p:nvPr>
            <p:ph type="sldNum" sz="quarter" idx="12"/>
          </p:nvPr>
        </p:nvSpPr>
        <p:spPr/>
        <p:txBody>
          <a:bodyPr/>
          <a:lstStyle/>
          <a:p>
            <a:pPr>
              <a:defRPr/>
            </a:pPr>
            <a:fld id="{BE59E6E9-16BB-4D46-A8D6-97CC594B8C57}" type="slidenum">
              <a:rPr lang="en-US" altLang="zh-CN" smtClean="0"/>
              <a:pPr>
                <a:defRPr/>
              </a:pPr>
              <a:t>36</a:t>
            </a:fld>
            <a:endParaRPr lang="en-US" altLang="zh-CN"/>
          </a:p>
        </p:txBody>
      </p:sp>
    </p:spTree>
    <p:extLst>
      <p:ext uri="{BB962C8B-B14F-4D97-AF65-F5344CB8AC3E}">
        <p14:creationId xmlns:p14="http://schemas.microsoft.com/office/powerpoint/2010/main" val="342258947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1"/>
          <p:cNvSpPr txBox="1">
            <a:spLocks/>
          </p:cNvSpPr>
          <p:nvPr/>
        </p:nvSpPr>
        <p:spPr>
          <a:xfrm>
            <a:off x="566738" y="1341439"/>
            <a:ext cx="8001000" cy="719410"/>
          </a:xfrm>
          <a:prstGeom prst="rect">
            <a:avLst/>
          </a:prstGeom>
        </p:spPr>
        <p:txBody>
          <a:bodyPr vert="horz" wrap="square" lIns="91440" tIns="45720" rIns="91440" bIns="45720" numCol="1" anchor="t" anchorCtr="0" compatLnSpc="1"/>
          <a:lstStyle>
            <a:lvl1pPr marL="469900" indent="-469900" algn="l" rtl="0" fontAlgn="base">
              <a:spcBef>
                <a:spcPct val="20000"/>
              </a:spcBef>
              <a:spcAft>
                <a:spcPct val="0"/>
              </a:spcAft>
              <a:buClr>
                <a:srgbClr val="3399FF"/>
              </a:buClr>
              <a:buFont typeface="Wingdings" panose="05000000000000000000" charset="0"/>
              <a:buChar char="o"/>
              <a:defRPr kumimoji="1" sz="2400">
                <a:solidFill>
                  <a:schemeClr val="tx1"/>
                </a:solidFill>
                <a:latin typeface="+mn-lt"/>
                <a:ea typeface="+mn-ea"/>
                <a:cs typeface="+mn-cs"/>
              </a:defRPr>
            </a:lvl1pPr>
            <a:lvl2pPr marL="908050" indent="-436880" algn="l" rtl="0" fontAlgn="base">
              <a:spcBef>
                <a:spcPct val="20000"/>
              </a:spcBef>
              <a:spcAft>
                <a:spcPct val="0"/>
              </a:spcAft>
              <a:buClr>
                <a:srgbClr val="3399FF"/>
              </a:buClr>
              <a:buFont typeface="Wingdings" panose="05000000000000000000" charset="0"/>
              <a:buChar char="n"/>
              <a:defRPr kumimoji="1" sz="2000">
                <a:solidFill>
                  <a:schemeClr val="tx1"/>
                </a:solidFill>
                <a:latin typeface="+mn-lt"/>
                <a:ea typeface="+mn-ea"/>
                <a:cs typeface="+mn-cs"/>
              </a:defRPr>
            </a:lvl2pPr>
            <a:lvl3pPr marL="1304925" indent="-395605" algn="l" rtl="0" fontAlgn="base">
              <a:spcBef>
                <a:spcPct val="20000"/>
              </a:spcBef>
              <a:spcAft>
                <a:spcPct val="0"/>
              </a:spcAft>
              <a:buClr>
                <a:srgbClr val="3399FF"/>
              </a:buClr>
              <a:buFont typeface="Wingdings" panose="05000000000000000000" pitchFamily="2" charset="2"/>
              <a:buChar char="ü"/>
              <a:defRPr kumimoji="1">
                <a:solidFill>
                  <a:schemeClr val="tx1"/>
                </a:solidFill>
                <a:latin typeface="+mn-lt"/>
                <a:ea typeface="+mn-ea"/>
                <a:cs typeface="+mn-cs"/>
              </a:defRPr>
            </a:lvl3pPr>
            <a:lvl4pPr marL="1694180" indent="-387350" algn="l" rtl="0" fontAlgn="base">
              <a:spcBef>
                <a:spcPct val="20000"/>
              </a:spcBef>
              <a:spcAft>
                <a:spcPct val="0"/>
              </a:spcAft>
              <a:buClr>
                <a:srgbClr val="3399FF"/>
              </a:buClr>
              <a:buFont typeface="Wingdings" panose="05000000000000000000" pitchFamily="2" charset="2"/>
              <a:buChar char="Ø"/>
              <a:defRPr kumimoji="1" sz="1600">
                <a:solidFill>
                  <a:schemeClr val="tx1"/>
                </a:solidFill>
                <a:latin typeface="+mn-lt"/>
                <a:ea typeface="+mn-ea"/>
                <a:cs typeface="+mn-cs"/>
              </a:defRPr>
            </a:lvl4pPr>
            <a:lvl5pPr marL="2094230" indent="-398780" algn="l" rtl="0" fontAlgn="base">
              <a:spcBef>
                <a:spcPct val="20000"/>
              </a:spcBef>
              <a:spcAft>
                <a:spcPct val="0"/>
              </a:spcAft>
              <a:buClr>
                <a:srgbClr val="3399FF"/>
              </a:buClr>
              <a:buFont typeface="Wingdings" panose="05000000000000000000" pitchFamily="2" charset="2"/>
              <a:buChar char="l"/>
              <a:defRPr kumimoji="1" sz="1600">
                <a:solidFill>
                  <a:schemeClr val="tx1"/>
                </a:solidFill>
                <a:latin typeface="+mn-lt"/>
                <a:ea typeface="+mn-ea"/>
                <a:cs typeface="+mn-cs"/>
              </a:defRPr>
            </a:lvl5pPr>
            <a:lvl6pPr marL="25514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6pPr>
            <a:lvl7pPr marL="30086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7pPr>
            <a:lvl8pPr marL="34658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8pPr>
            <a:lvl9pPr marL="3923030" indent="-398780" algn="l" rtl="0" fontAlgn="base">
              <a:spcBef>
                <a:spcPct val="20000"/>
              </a:spcBef>
              <a:spcAft>
                <a:spcPct val="0"/>
              </a:spcAft>
              <a:buClr>
                <a:schemeClr val="accent2"/>
              </a:buClr>
              <a:buFont typeface="Wingdings" panose="05000000000000000000" charset="0"/>
              <a:buChar char="§"/>
              <a:defRPr sz="1600">
                <a:solidFill>
                  <a:schemeClr val="tx1"/>
                </a:solidFill>
                <a:latin typeface="+mn-lt"/>
                <a:ea typeface="+mn-ea"/>
                <a:cs typeface="+mn-cs"/>
              </a:defRPr>
            </a:lvl9pPr>
          </a:lstStyle>
          <a:p>
            <a:pPr marL="0" indent="0">
              <a:buFont typeface="Wingdings" panose="05000000000000000000" pitchFamily="2" charset="2"/>
              <a:buNone/>
              <a:defRPr/>
            </a:pPr>
            <a:r>
              <a:rPr lang="zh-CN" altLang="en-US" sz="2800" kern="0" dirty="0"/>
              <a:t>局部平均法</a:t>
            </a:r>
            <a:endParaRPr lang="en-US" altLang="zh-CN" sz="2800" kern="0" dirty="0"/>
          </a:p>
          <a:p>
            <a:pPr marL="438150" lvl="1" indent="0">
              <a:buFont typeface="Wingdings" panose="05000000000000000000" pitchFamily="2" charset="2"/>
              <a:buNone/>
              <a:defRPr/>
            </a:pPr>
            <a:r>
              <a:rPr lang="zh-CN" altLang="en-US" sz="2400" kern="0" dirty="0">
                <a:latin typeface="宋体" panose="02010600030101010101" pitchFamily="2" charset="-122"/>
              </a:rPr>
              <a:t>局部平均法是用某象素邻域内的各点灰度的平均值来代替该象素原来的灰度值。</a:t>
            </a:r>
            <a:r>
              <a:rPr lang="zh-CN" altLang="en-US" sz="2400" kern="0" dirty="0"/>
              <a:t> </a:t>
            </a:r>
          </a:p>
        </p:txBody>
      </p:sp>
      <p:sp>
        <p:nvSpPr>
          <p:cNvPr id="2" name="标题 1"/>
          <p:cNvSpPr>
            <a:spLocks noGrp="1"/>
          </p:cNvSpPr>
          <p:nvPr>
            <p:ph type="title"/>
          </p:nvPr>
        </p:nvSpPr>
        <p:spPr/>
        <p:txBody>
          <a:bodyPr/>
          <a:lstStyle/>
          <a:p>
            <a:r>
              <a:rPr lang="zh-CN" altLang="en-US" dirty="0"/>
              <a:t>平滑滤波器</a:t>
            </a:r>
          </a:p>
        </p:txBody>
      </p:sp>
      <p:sp>
        <p:nvSpPr>
          <p:cNvPr id="3" name="灯片编号占位符 2"/>
          <p:cNvSpPr>
            <a:spLocks noGrp="1"/>
          </p:cNvSpPr>
          <p:nvPr>
            <p:ph type="sldNum" sz="quarter" idx="12"/>
          </p:nvPr>
        </p:nvSpPr>
        <p:spPr/>
        <p:txBody>
          <a:bodyPr/>
          <a:lstStyle/>
          <a:p>
            <a:pPr>
              <a:defRPr/>
            </a:pPr>
            <a:fld id="{BE59E6E9-16BB-4D46-A8D6-97CC594B8C57}" type="slidenum">
              <a:rPr lang="en-US" altLang="zh-CN" smtClean="0"/>
              <a:pPr>
                <a:defRPr/>
              </a:pPr>
              <a:t>37</a:t>
            </a:fld>
            <a:endParaRPr lang="en-US" altLang="zh-CN"/>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157" y="4436840"/>
            <a:ext cx="6191095"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文本框 4"/>
              <p:cNvSpPr txBox="1"/>
              <p:nvPr/>
            </p:nvSpPr>
            <p:spPr>
              <a:xfrm>
                <a:off x="1872680" y="3032842"/>
                <a:ext cx="4680520" cy="648447"/>
              </a:xfrm>
              <a:prstGeom prst="rect">
                <a:avLst/>
              </a:prstGeom>
              <a:noFill/>
            </p:spPr>
            <p:txBody>
              <a:bodyPr wrap="square" lIns="0" tIns="0" rIns="0" bIns="0" rtlCol="0">
                <a:spAutoFit/>
              </a:bodyPr>
              <a:lstStyle/>
              <a:p>
                <a:pPr>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𝑔</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f>
                        <m:fPr>
                          <m:ctrlPr>
                            <a:rPr lang="en-GB" altLang="zh-CN" i="1" smtClean="0">
                              <a:latin typeface="Cambria Math" panose="02040503050406030204" pitchFamily="18" charset="0"/>
                            </a:rPr>
                          </m:ctrlPr>
                        </m:fPr>
                        <m:num>
                          <m:nary>
                            <m:naryPr>
                              <m:chr m:val="∑"/>
                              <m:ctrlPr>
                                <a:rPr lang="en-GB" altLang="zh-CN" i="1">
                                  <a:latin typeface="Cambria Math" panose="02040503050406030204" pitchFamily="18" charset="0"/>
                                </a:rPr>
                              </m:ctrlPr>
                            </m:naryPr>
                            <m:sub>
                              <m:r>
                                <m:rPr>
                                  <m:sty m:val="p"/>
                                  <m:brk m:alnAt="23"/>
                                </m:rPr>
                                <a:rPr lang="en-US" altLang="zh-CN" i="1">
                                  <a:latin typeface="Cambria Math" panose="02040503050406030204" pitchFamily="18" charset="0"/>
                                </a:rPr>
                                <m:t>s</m:t>
                              </m:r>
                              <m:r>
                                <a:rPr lang="en-US" altLang="zh-CN" i="1">
                                  <a:latin typeface="Cambria Math" panose="02040503050406030204" pitchFamily="18" charset="0"/>
                                </a:rPr>
                                <m:t>=−</m:t>
                              </m:r>
                              <m:r>
                                <a:rPr lang="en-US" altLang="zh-CN" i="1">
                                  <a:latin typeface="Cambria Math" panose="02040503050406030204" pitchFamily="18" charset="0"/>
                                </a:rPr>
                                <m:t>𝑎</m:t>
                              </m:r>
                            </m:sub>
                            <m:sup>
                              <m:r>
                                <a:rPr lang="en-US" altLang="zh-CN" i="1">
                                  <a:latin typeface="Cambria Math" panose="02040503050406030204" pitchFamily="18" charset="0"/>
                                </a:rPr>
                                <m:t>𝑎</m:t>
                              </m:r>
                            </m:sup>
                            <m:e>
                              <m:nary>
                                <m:naryPr>
                                  <m:chr m:val="∑"/>
                                  <m:ctrlPr>
                                    <a:rPr lang="en-GB" altLang="zh-CN" i="1">
                                      <a:latin typeface="Cambria Math" panose="02040503050406030204" pitchFamily="18" charset="0"/>
                                    </a:rPr>
                                  </m:ctrlPr>
                                </m:naryPr>
                                <m:sub>
                                  <m:r>
                                    <m:rPr>
                                      <m:brk m:alnAt="23"/>
                                    </m:rP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𝑏</m:t>
                                  </m:r>
                                </m:sub>
                                <m:sup>
                                  <m:r>
                                    <a:rPr lang="en-US" altLang="zh-CN" i="1">
                                      <a:latin typeface="Cambria Math" panose="02040503050406030204" pitchFamily="18" charset="0"/>
                                    </a:rPr>
                                    <m:t>𝑏</m:t>
                                  </m:r>
                                </m:sup>
                                <m:e>
                                  <m:r>
                                    <a:rPr lang="en-US" altLang="zh-CN" i="1">
                                      <a:latin typeface="Cambria Math" panose="02040503050406030204" pitchFamily="18" charset="0"/>
                                    </a:rPr>
                                    <m:t>𝑤</m:t>
                                  </m:r>
                                  <m:d>
                                    <m:dPr>
                                      <m:ctrlPr>
                                        <a:rPr lang="en-US" altLang="zh-CN" i="1">
                                          <a:latin typeface="Cambria Math" panose="02040503050406030204" pitchFamily="18" charset="0"/>
                                        </a:rPr>
                                      </m:ctrlPr>
                                    </m:dPr>
                                    <m:e>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𝑡</m:t>
                                      </m:r>
                                    </m:e>
                                  </m:d>
                                  <m:r>
                                    <a:rPr lang="en-US" altLang="zh-CN" i="1">
                                      <a:latin typeface="Cambria Math" panose="02040503050406030204" pitchFamily="18" charset="0"/>
                                    </a:rPr>
                                    <m:t>𝑓</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e>
                              </m:nary>
                            </m:e>
                          </m:nary>
                        </m:num>
                        <m:den>
                          <m:nary>
                            <m:naryPr>
                              <m:chr m:val="∑"/>
                              <m:ctrlPr>
                                <a:rPr lang="en-GB" altLang="zh-CN" i="1">
                                  <a:latin typeface="Cambria Math" panose="02040503050406030204" pitchFamily="18" charset="0"/>
                                </a:rPr>
                              </m:ctrlPr>
                            </m:naryPr>
                            <m:sub>
                              <m:r>
                                <m:rPr>
                                  <m:sty m:val="p"/>
                                  <m:brk m:alnAt="23"/>
                                </m:rPr>
                                <a:rPr lang="en-US" altLang="zh-CN" i="1">
                                  <a:latin typeface="Cambria Math" panose="02040503050406030204" pitchFamily="18" charset="0"/>
                                </a:rPr>
                                <m:t>s</m:t>
                              </m:r>
                              <m:r>
                                <a:rPr lang="en-US" altLang="zh-CN" i="1">
                                  <a:latin typeface="Cambria Math" panose="02040503050406030204" pitchFamily="18" charset="0"/>
                                </a:rPr>
                                <m:t>=−</m:t>
                              </m:r>
                              <m:r>
                                <a:rPr lang="en-US" altLang="zh-CN" i="1">
                                  <a:latin typeface="Cambria Math" panose="02040503050406030204" pitchFamily="18" charset="0"/>
                                </a:rPr>
                                <m:t>𝑎</m:t>
                              </m:r>
                            </m:sub>
                            <m:sup>
                              <m:r>
                                <a:rPr lang="en-US" altLang="zh-CN" i="1">
                                  <a:latin typeface="Cambria Math" panose="02040503050406030204" pitchFamily="18" charset="0"/>
                                </a:rPr>
                                <m:t>𝑎</m:t>
                              </m:r>
                            </m:sup>
                            <m:e>
                              <m:nary>
                                <m:naryPr>
                                  <m:chr m:val="∑"/>
                                  <m:ctrlPr>
                                    <a:rPr lang="en-GB" altLang="zh-CN" i="1">
                                      <a:latin typeface="Cambria Math" panose="02040503050406030204" pitchFamily="18" charset="0"/>
                                    </a:rPr>
                                  </m:ctrlPr>
                                </m:naryPr>
                                <m:sub>
                                  <m:r>
                                    <m:rPr>
                                      <m:brk m:alnAt="23"/>
                                    </m:rP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𝑏</m:t>
                                  </m:r>
                                </m:sub>
                                <m:sup>
                                  <m:r>
                                    <a:rPr lang="en-US" altLang="zh-CN" i="1">
                                      <a:latin typeface="Cambria Math" panose="02040503050406030204" pitchFamily="18" charset="0"/>
                                    </a:rPr>
                                    <m:t>𝑏</m:t>
                                  </m:r>
                                </m:sup>
                                <m:e>
                                  <m:r>
                                    <a:rPr lang="en-US" altLang="zh-CN" i="1">
                                      <a:latin typeface="Cambria Math" panose="02040503050406030204" pitchFamily="18" charset="0"/>
                                    </a:rPr>
                                    <m:t>𝑤</m:t>
                                  </m:r>
                                  <m:d>
                                    <m:dPr>
                                      <m:ctrlPr>
                                        <a:rPr lang="en-US" altLang="zh-CN" i="1">
                                          <a:latin typeface="Cambria Math" panose="02040503050406030204" pitchFamily="18" charset="0"/>
                                        </a:rPr>
                                      </m:ctrlPr>
                                    </m:dPr>
                                    <m:e>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𝑡</m:t>
                                      </m:r>
                                    </m:e>
                                  </m:d>
                                </m:e>
                              </m:nary>
                            </m:e>
                          </m:nary>
                        </m:den>
                      </m:f>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1872680" y="3032842"/>
                <a:ext cx="4680520" cy="648447"/>
              </a:xfrm>
              <a:prstGeom prst="rect">
                <a:avLst/>
              </a:prstGeom>
              <a:blipFill rotWithShape="0">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1039842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灯片编号占位符 4"/>
          <p:cNvSpPr txBox="1">
            <a:spLocks noGrp="1"/>
          </p:cNvSpPr>
          <p:nvPr>
            <p:ph type="sldNum" sz="quarter" idx="4294967295"/>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A024C2E1-0C7F-4921-9056-660B33053591}"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38</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54275" name="Picture 8"/>
          <p:cNvPicPr>
            <a:picLocks noChangeAspect="1"/>
          </p:cNvPicPr>
          <p:nvPr/>
        </p:nvPicPr>
        <p:blipFill>
          <a:blip r:embed="rId2"/>
          <a:stretch>
            <a:fillRect/>
          </a:stretch>
        </p:blipFill>
        <p:spPr>
          <a:xfrm>
            <a:off x="611505" y="1268730"/>
            <a:ext cx="3730625" cy="5529580"/>
          </a:xfrm>
          <a:prstGeom prst="rect">
            <a:avLst/>
          </a:prstGeom>
          <a:noFill/>
          <a:ln w="9525">
            <a:noFill/>
          </a:ln>
        </p:spPr>
      </p:pic>
      <p:graphicFrame>
        <p:nvGraphicFramePr>
          <p:cNvPr id="76854" name="Group 54"/>
          <p:cNvGraphicFramePr>
            <a:graphicFrameLocks noGrp="1"/>
          </p:cNvGraphicFramePr>
          <p:nvPr/>
        </p:nvGraphicFramePr>
        <p:xfrm>
          <a:off x="4859338" y="2233613"/>
          <a:ext cx="3048000" cy="4624386"/>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154146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en-US" altLang="zh-CN" sz="2000" b="0" i="0" u="none" strike="noStrike" cap="none" normalizeH="0" baseline="0" dirty="0">
                        <a:ln>
                          <a:noFill/>
                        </a:ln>
                        <a:solidFill>
                          <a:schemeClr val="tx1"/>
                        </a:solidFill>
                        <a:effectLst/>
                        <a:latin typeface="Times New Roman" panose="0202060305040502030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Times New Roman" panose="02020603050405020304" charset="0"/>
                          <a:ea typeface="宋体" panose="02010600030101010101" pitchFamily="2" charset="-122"/>
                        </a:rPr>
                        <a:t>原图</a:t>
                      </a: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Times New Roman" panose="02020603050405020304" charset="0"/>
                          <a:ea typeface="宋体" panose="02010600030101010101" pitchFamily="2" charset="-122"/>
                        </a:rPr>
                        <a:t>n=3</a:t>
                      </a:r>
                      <a:r>
                        <a:rPr kumimoji="1" lang="zh-CN" altLang="en-US" sz="2000" b="0" i="0" u="none" strike="noStrike" cap="none" normalizeH="0" baseline="0" dirty="0">
                          <a:ln>
                            <a:noFill/>
                          </a:ln>
                          <a:solidFill>
                            <a:schemeClr val="tx1"/>
                          </a:solidFill>
                          <a:effectLst/>
                          <a:latin typeface="Times New Roman" panose="02020603050405020304" charset="0"/>
                          <a:ea typeface="宋体" panose="02010600030101010101" pitchFamily="2" charset="-122"/>
                        </a:rPr>
                        <a:t>方形均值滤波</a:t>
                      </a: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4146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charset="0"/>
                          <a:ea typeface="宋体" panose="02010600030101010101" pitchFamily="2" charset="-122"/>
                        </a:rPr>
                        <a:t>n=5</a:t>
                      </a:r>
                      <a:r>
                        <a:rPr kumimoji="1" lang="zh-CN" altLang="en-US" sz="2000" b="0" i="0" u="none" strike="noStrike" cap="none" normalizeH="0" baseline="0">
                          <a:ln>
                            <a:noFill/>
                          </a:ln>
                          <a:solidFill>
                            <a:schemeClr val="tx1"/>
                          </a:solidFill>
                          <a:effectLst/>
                          <a:latin typeface="Times New Roman" panose="02020603050405020304" charset="0"/>
                          <a:ea typeface="宋体" panose="02010600030101010101" pitchFamily="2" charset="-122"/>
                        </a:rPr>
                        <a:t>方形均值滤波</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charset="0"/>
                          <a:ea typeface="宋体" panose="02010600030101010101" pitchFamily="2" charset="-122"/>
                        </a:rPr>
                        <a:t>n=9</a:t>
                      </a:r>
                      <a:r>
                        <a:rPr kumimoji="1" lang="zh-CN" altLang="en-US" sz="2000" b="0" i="0" u="none" strike="noStrike" cap="none" normalizeH="0" baseline="0" dirty="0">
                          <a:ln>
                            <a:noFill/>
                          </a:ln>
                          <a:solidFill>
                            <a:schemeClr val="tx1"/>
                          </a:solidFill>
                          <a:effectLst/>
                          <a:latin typeface="Times New Roman" panose="02020603050405020304" charset="0"/>
                          <a:ea typeface="宋体" panose="02010600030101010101" pitchFamily="2" charset="-122"/>
                        </a:rPr>
                        <a:t>方形均值滤波</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4146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charset="0"/>
                          <a:ea typeface="宋体" panose="02010600030101010101" pitchFamily="2" charset="-122"/>
                        </a:rPr>
                        <a:t>n=15</a:t>
                      </a:r>
                      <a:r>
                        <a:rPr kumimoji="1" lang="zh-CN" altLang="en-US" sz="2000" b="0" i="0" u="none" strike="noStrike" cap="none" normalizeH="0" baseline="0">
                          <a:ln>
                            <a:noFill/>
                          </a:ln>
                          <a:solidFill>
                            <a:schemeClr val="tx1"/>
                          </a:solidFill>
                          <a:effectLst/>
                          <a:latin typeface="Times New Roman" panose="02020603050405020304" charset="0"/>
                          <a:ea typeface="宋体" panose="02010600030101010101" pitchFamily="2" charset="-122"/>
                        </a:rPr>
                        <a:t>方形均值滤波</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tx1"/>
                          </a:solidFill>
                          <a:effectLst/>
                          <a:latin typeface="Times New Roman" panose="02020603050405020304" charset="0"/>
                          <a:ea typeface="宋体" panose="02010600030101010101" pitchFamily="2" charset="-122"/>
                        </a:rPr>
                        <a:t>n=35</a:t>
                      </a:r>
                      <a:r>
                        <a:rPr kumimoji="1" lang="zh-CN" altLang="en-US" sz="2000" b="0" i="0" u="none" strike="noStrike" cap="none" normalizeH="0" baseline="0" dirty="0">
                          <a:ln>
                            <a:noFill/>
                          </a:ln>
                          <a:solidFill>
                            <a:schemeClr val="tx1"/>
                          </a:solidFill>
                          <a:effectLst/>
                          <a:latin typeface="Times New Roman" panose="02020603050405020304" charset="0"/>
                          <a:ea typeface="宋体" panose="02010600030101010101" pitchFamily="2" charset="-122"/>
                        </a:rPr>
                        <a:t>方形均值滤波</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标题 1"/>
          <p:cNvSpPr>
            <a:spLocks noGrp="1"/>
          </p:cNvSpPr>
          <p:nvPr>
            <p:ph type="title"/>
          </p:nvPr>
        </p:nvSpPr>
        <p:spPr/>
        <p:txBody>
          <a:bodyPr vert="horz" wrap="square" lIns="91440" tIns="45720" rIns="91440" bIns="45720" numCol="1" anchor="b" anchorCtr="0" compatLnSpc="1"/>
          <a:lstStyle/>
          <a:p>
            <a:pPr lvl="0">
              <a:defRPr/>
            </a:pPr>
            <a:r>
              <a:rPr lang="zh-CN" altLang="en-US" sz="3600" dirty="0"/>
              <a:t>图像平滑</a:t>
            </a:r>
            <a:endParaRPr kumimoji="1" lang="zh-CN" altLang="en-US" sz="3600" b="0"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val="1245651199"/>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图像平滑</a:t>
            </a:r>
          </a:p>
        </p:txBody>
      </p:sp>
      <p:sp>
        <p:nvSpPr>
          <p:cNvPr id="3" name="灯片编号占位符 2"/>
          <p:cNvSpPr>
            <a:spLocks noGrp="1"/>
          </p:cNvSpPr>
          <p:nvPr>
            <p:ph type="sldNum" sz="quarter" idx="12"/>
          </p:nvPr>
        </p:nvSpPr>
        <p:spPr>
          <a:xfrm>
            <a:off x="6517196" y="6104384"/>
            <a:ext cx="1905000" cy="457200"/>
          </a:xfrm>
        </p:spPr>
        <p:txBody>
          <a:bodyPr/>
          <a:lstStyle/>
          <a:p>
            <a:pPr>
              <a:defRPr/>
            </a:pPr>
            <a:fld id="{BE59E6E9-16BB-4D46-A8D6-97CC594B8C57}" type="slidenum">
              <a:rPr lang="en-US" altLang="zh-CN" smtClean="0"/>
              <a:pPr>
                <a:defRPr/>
              </a:pPr>
              <a:t>39</a:t>
            </a:fld>
            <a:endParaRPr lang="en-US" altLang="zh-CN"/>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700808"/>
            <a:ext cx="7803477"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4689140"/>
            <a:ext cx="7594612" cy="776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184982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3600" dirty="0">
                <a:latin typeface="+mj-ea"/>
              </a:rPr>
              <a:t>统计排序滤波器</a:t>
            </a:r>
            <a:endParaRPr kumimoji="1" lang="zh-CN" altLang="en-US" sz="3600" i="0" u="none" strike="noStrike" kern="0" cap="none" spc="0" normalizeH="0" baseline="0" noProof="0" dirty="0">
              <a:ln>
                <a:noFill/>
              </a:ln>
              <a:solidFill>
                <a:schemeClr val="tx2"/>
              </a:solidFill>
              <a:effectLst/>
              <a:uLnTx/>
              <a:uFillTx/>
              <a:latin typeface="Arial" panose="020B0604020202020204" pitchFamily="34" charset="0"/>
              <a:ea typeface="+mj-ea"/>
              <a:cs typeface="Arial" panose="020B0604020202020204" pitchFamily="34" charset="0"/>
            </a:endParaRPr>
          </a:p>
        </p:txBody>
      </p:sp>
      <p:sp>
        <p:nvSpPr>
          <p:cNvPr id="50179" name="Rectangle 3"/>
          <p:cNvSpPr>
            <a:spLocks noGrp="1" noChangeArrowheads="1"/>
          </p:cNvSpPr>
          <p:nvPr>
            <p:ph idx="1"/>
          </p:nvPr>
        </p:nvSpPr>
        <p:spPr/>
        <p:txBody>
          <a:bodyPr vert="horz" wrap="square" lIns="91440" tIns="45720" rIns="91440" bIns="45720" numCol="1" anchor="t" anchorCtr="0" compatLnSpc="1"/>
          <a:lstStyle/>
          <a:p>
            <a:pPr marR="0" lvl="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p"/>
              <a:defRPr/>
            </a:pPr>
            <a:r>
              <a:rPr kumimoji="1" lang="zh-CN" altLang="en-US" sz="2800" b="0" i="0" u="none" strike="noStrike" kern="0" cap="none" spc="0" normalizeH="0" baseline="0" noProof="0" dirty="0">
                <a:ln>
                  <a:noFill/>
                </a:ln>
                <a:solidFill>
                  <a:schemeClr val="tx1"/>
                </a:solidFill>
                <a:effectLst/>
                <a:uLnTx/>
                <a:uFillTx/>
                <a:ea typeface="+mn-ea"/>
                <a:cs typeface="+mn-cs"/>
              </a:rPr>
              <a:t>中值滤波</a:t>
            </a:r>
            <a:endParaRPr kumimoji="1" lang="en-US" altLang="zh-CN" sz="2800" b="0"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lvl="1">
              <a:buFont typeface="Wingdings" panose="05000000000000000000" pitchFamily="2" charset="2"/>
              <a:buChar char="n"/>
              <a:defRPr/>
            </a:pP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用局部邻域（窗口）里的中值来代替上述局部平均法中的局部平均值。即将以该点为中心的某个窗口框住的各象素的中间值作为处理后图象中该点象素的值。</a:t>
            </a:r>
          </a:p>
          <a:p>
            <a:pPr lvl="1">
              <a:buFont typeface="Wingdings" panose="05000000000000000000" pitchFamily="2" charset="2"/>
              <a:buChar char="n"/>
              <a:defRPr/>
            </a:pP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二维中值滤波的概念是一维的推广。 </a:t>
            </a:r>
          </a:p>
          <a:p>
            <a:pPr lvl="1">
              <a:buFont typeface="Wingdings" panose="05000000000000000000" pitchFamily="2" charset="2"/>
              <a:buChar char="n"/>
              <a:defRPr/>
            </a:pP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以一维为例：</a:t>
            </a:r>
          </a:p>
          <a:p>
            <a:pPr lvl="2">
              <a:buFont typeface="Wingdings" panose="05000000000000000000" pitchFamily="2" charset="2"/>
              <a:buChar char="Ø"/>
              <a:defRPr/>
            </a:pP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奇数窗口中五点的值为 </a:t>
            </a:r>
            <a:r>
              <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88</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95</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230</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110</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120</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，按大小重排这五个值得 </a:t>
            </a:r>
            <a:r>
              <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88</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95</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110</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120</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r>
              <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230</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，其位于中间位置上的</a:t>
            </a:r>
            <a:r>
              <a:rPr kumimoji="1" lang="zh-CN" altLang="en-US" sz="2200" b="0" i="0" u="none" strike="noStrike" kern="0" cap="none" spc="0" normalizeH="0" baseline="0" noProof="0" dirty="0">
                <a:ln>
                  <a:noFill/>
                </a:ln>
                <a:solidFill>
                  <a:schemeClr val="tx1"/>
                </a:solidFill>
                <a:effectLst/>
                <a:uLnTx/>
                <a:uFillTx/>
                <a:ea typeface="+mn-ea"/>
                <a:cs typeface="+mn-cs"/>
              </a:rPr>
              <a:t>“</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中值</a:t>
            </a:r>
            <a:r>
              <a:rPr kumimoji="1" lang="zh-CN" altLang="en-US" sz="2200" b="0" i="0" u="none" strike="noStrike" kern="0" cap="none" spc="0" normalizeH="0" baseline="0" noProof="0" dirty="0">
                <a:ln>
                  <a:noFill/>
                </a:ln>
                <a:solidFill>
                  <a:schemeClr val="tx1"/>
                </a:solidFill>
                <a:effectLst/>
                <a:uLnTx/>
                <a:uFillTx/>
                <a:ea typeface="+mn-ea"/>
                <a:cs typeface="+mn-cs"/>
              </a:rPr>
              <a:t>”</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是</a:t>
            </a:r>
            <a:r>
              <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110</a:t>
            </a:r>
            <a:r>
              <a:rPr kumimoji="1" lang="zh-CN" altLang="en-US"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a:t>
            </a:r>
            <a:endParaRPr kumimoji="1" lang="en-US" altLang="zh-CN" sz="2200" b="0"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lvl="2">
              <a:buFont typeface="Wingdings" panose="05000000000000000000" pitchFamily="2" charset="2"/>
              <a:buChar char="Ø"/>
              <a:defRPr/>
            </a:pPr>
            <a:r>
              <a:rPr lang="zh-CN" altLang="en-US" sz="2200" dirty="0">
                <a:latin typeface="宋体" panose="02010600030101010101" pitchFamily="2" charset="-122"/>
              </a:rPr>
              <a:t>典型应用：国民家庭收入统计（中位数）</a:t>
            </a:r>
            <a:endParaRPr lang="en-US" altLang="zh-CN" sz="2200" dirty="0">
              <a:latin typeface="宋体" panose="02010600030101010101" pitchFamily="2" charset="-122"/>
            </a:endParaRPr>
          </a:p>
          <a:p>
            <a:pPr>
              <a:buFont typeface="Wingdings" panose="05000000000000000000" pitchFamily="2" charset="2"/>
              <a:buChar char="p"/>
              <a:defRPr/>
            </a:pPr>
            <a:r>
              <a:rPr kumimoji="1" lang="zh-CN" altLang="en-US" sz="2800" b="0" i="0" u="none" strike="noStrike" kern="0" cap="none" spc="0" normalizeH="0" baseline="0" noProof="0" dirty="0">
                <a:ln>
                  <a:noFill/>
                </a:ln>
                <a:solidFill>
                  <a:schemeClr val="tx1"/>
                </a:solidFill>
                <a:effectLst/>
                <a:uLnTx/>
                <a:uFillTx/>
                <a:latin typeface="宋体" panose="02010600030101010101" pitchFamily="2" charset="-122"/>
              </a:rPr>
              <a:t>其他统计排序滤波器</a:t>
            </a:r>
            <a:endParaRPr lang="en-US" altLang="zh-CN" sz="2800" dirty="0"/>
          </a:p>
          <a:p>
            <a:pPr lvl="1">
              <a:buFont typeface="Wingdings" panose="05000000000000000000" pitchFamily="2" charset="2"/>
              <a:buChar char="n"/>
              <a:defRPr/>
            </a:pPr>
            <a:r>
              <a:rPr lang="zh-CN" altLang="en-US" sz="2200" dirty="0">
                <a:latin typeface="宋体" panose="02010600030101010101" pitchFamily="2" charset="-122"/>
              </a:rPr>
              <a:t>最大值滤波器，最小值滤波器</a:t>
            </a:r>
            <a:endParaRPr lang="en-US" altLang="zh-CN" sz="2200" dirty="0">
              <a:latin typeface="宋体" panose="02010600030101010101" pitchFamily="2" charset="-122"/>
            </a:endParaRPr>
          </a:p>
          <a:p>
            <a:pPr marL="471170" marR="0" lvl="1" indent="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None/>
              <a:defRPr/>
            </a:pPr>
            <a:endParaRPr kumimoji="1"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p:txBody>
      </p:sp>
      <p:sp>
        <p:nvSpPr>
          <p:cNvPr id="50180" name="灯片编号占位符 5"/>
          <p:cNvSpPr txBox="1">
            <a:spLocks noGrp="1"/>
          </p:cNvSpPr>
          <p:nvPr>
            <p:ph type="sldNum" sz="quarter" idx="4294967295"/>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63FDBAC5-B033-488E-94DC-77B3475E123C}"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40</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295513281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mj-lt"/>
                <a:ea typeface="+mj-ea"/>
                <a:cs typeface="+mj-cs"/>
              </a:rPr>
              <a:t>中值滤波保边缘的性能</a:t>
            </a:r>
          </a:p>
        </p:txBody>
      </p:sp>
      <p:sp>
        <p:nvSpPr>
          <p:cNvPr id="51203" name="灯片编号占位符 5"/>
          <p:cNvSpPr txBox="1">
            <a:spLocks noGrp="1"/>
          </p:cNvSpPr>
          <p:nvPr>
            <p:ph type="sldNum" sz="quarter" idx="4294967295"/>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2BAC9226-4EBB-46B0-9277-CD85F3B63B25}"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41</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graphicFrame>
        <p:nvGraphicFramePr>
          <p:cNvPr id="56324" name="Object 7"/>
          <p:cNvGraphicFramePr>
            <a:graphicFrameLocks/>
          </p:cNvGraphicFramePr>
          <p:nvPr/>
        </p:nvGraphicFramePr>
        <p:xfrm>
          <a:off x="2133600" y="3124200"/>
          <a:ext cx="4953000" cy="3427413"/>
        </p:xfrm>
        <a:graphic>
          <a:graphicData uri="http://schemas.openxmlformats.org/presentationml/2006/ole">
            <mc:AlternateContent xmlns:mc="http://schemas.openxmlformats.org/markup-compatibility/2006">
              <mc:Choice xmlns:v="urn:schemas-microsoft-com:vml" Requires="v">
                <p:oleObj spid="_x0000_s74042" r:id="rId3" imgW="2743200" imgH="1828800" progId="Word.Picture.8">
                  <p:embed/>
                </p:oleObj>
              </mc:Choice>
              <mc:Fallback>
                <p:oleObj r:id="rId3" imgW="2743200" imgH="1828800" progId="Word.Picture.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3124200"/>
                        <a:ext cx="4953000" cy="342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325" name="Object 8"/>
          <p:cNvGraphicFramePr>
            <a:graphicFrameLocks/>
          </p:cNvGraphicFramePr>
          <p:nvPr/>
        </p:nvGraphicFramePr>
        <p:xfrm>
          <a:off x="2133600" y="1371600"/>
          <a:ext cx="5029200" cy="3352800"/>
        </p:xfrm>
        <a:graphic>
          <a:graphicData uri="http://schemas.openxmlformats.org/presentationml/2006/ole">
            <mc:AlternateContent xmlns:mc="http://schemas.openxmlformats.org/markup-compatibility/2006">
              <mc:Choice xmlns:v="urn:schemas-microsoft-com:vml" Requires="v">
                <p:oleObj spid="_x0000_s74043" r:id="rId5" imgW="2743200" imgH="1828800" progId="Word.Picture.8">
                  <p:embed/>
                </p:oleObj>
              </mc:Choice>
              <mc:Fallback>
                <p:oleObj r:id="rId5" imgW="2743200" imgH="1828800" progId="Word.Picture.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1371600"/>
                        <a:ext cx="5029200" cy="3352800"/>
                      </a:xfrm>
                      <a:prstGeom prst="rect">
                        <a:avLst/>
                      </a:prstGeom>
                      <a:solidFill>
                        <a:srgbClr val="FFFFFF"/>
                      </a:solidFill>
                      <a:ln w="9525">
                        <a:solidFill>
                          <a:srgbClr val="000000"/>
                        </a:solidFill>
                        <a:miter lim="800000"/>
                        <a:headEnd/>
                        <a:tailEnd/>
                      </a:ln>
                    </p:spPr>
                  </p:pic>
                </p:oleObj>
              </mc:Fallback>
            </mc:AlternateContent>
          </a:graphicData>
        </a:graphic>
      </p:graphicFrame>
    </p:spTree>
    <p:extLst>
      <p:ext uri="{BB962C8B-B14F-4D97-AF65-F5344CB8AC3E}">
        <p14:creationId xmlns:p14="http://schemas.microsoft.com/office/powerpoint/2010/main" val="66513254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a:ln>
                  <a:noFill/>
                </a:ln>
                <a:solidFill>
                  <a:schemeClr val="tx2"/>
                </a:solidFill>
                <a:effectLst/>
                <a:uLnTx/>
                <a:uFillTx/>
                <a:latin typeface="+mj-lt"/>
                <a:ea typeface="+mj-ea"/>
                <a:cs typeface="+mj-cs"/>
              </a:rPr>
              <a:t>二维中值滤波窗口</a:t>
            </a:r>
          </a:p>
        </p:txBody>
      </p:sp>
      <p:sp>
        <p:nvSpPr>
          <p:cNvPr id="52226" name="灯片编号占位符 3"/>
          <p:cNvSpPr txBox="1">
            <a:spLocks noGrp="1"/>
          </p:cNvSpPr>
          <p:nvPr>
            <p:ph type="sldNum" sz="quarter" idx="4294967295"/>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84109AE9-995B-48AC-A8EC-E48FDE1D70FB}"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42</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sp>
        <p:nvSpPr>
          <p:cNvPr id="57350" name="Text Box 9"/>
          <p:cNvSpPr txBox="1"/>
          <p:nvPr/>
        </p:nvSpPr>
        <p:spPr>
          <a:xfrm>
            <a:off x="5801154" y="3185460"/>
            <a:ext cx="1295400" cy="1032510"/>
          </a:xfrm>
          <a:prstGeom prst="rect">
            <a:avLst/>
          </a:prstGeom>
          <a:noFill/>
          <a:ln w="9525">
            <a:noFill/>
          </a:ln>
        </p:spPr>
        <p:txBody>
          <a:bodyPr>
            <a:spAutoFit/>
          </a:bodyPr>
          <a:lstStyle/>
          <a:p>
            <a:pPr indent="0" eaLnBrk="1" hangingPunct="1">
              <a:buNone/>
            </a:pPr>
            <a:r>
              <a:rPr lang="en-US" altLang="zh-CN" dirty="0">
                <a:latin typeface="宋体" panose="02010600030101010101" pitchFamily="2" charset="-122"/>
              </a:rPr>
              <a:t>  </a:t>
            </a:r>
            <a:r>
              <a:rPr lang="en-US" altLang="zh-CN" sz="1800" dirty="0">
                <a:latin typeface="宋体" panose="02010600030101010101" pitchFamily="2" charset="-122"/>
              </a:rPr>
              <a:t> </a:t>
            </a:r>
            <a:r>
              <a:rPr lang="en-US" altLang="zh-CN" dirty="0">
                <a:latin typeface="宋体" panose="02010600030101010101" pitchFamily="2" charset="-122"/>
              </a:rPr>
              <a:t>█</a:t>
            </a:r>
            <a:r>
              <a:rPr lang="en-US" altLang="zh-CN" dirty="0">
                <a:latin typeface="Times New Roman" panose="02020603050405020304" charset="0"/>
              </a:rPr>
              <a:t>  </a:t>
            </a:r>
          </a:p>
          <a:p>
            <a:pPr indent="0" eaLnBrk="1" hangingPunct="1">
              <a:buNone/>
            </a:pPr>
            <a:r>
              <a:rPr lang="en-US" altLang="zh-CN" dirty="0">
                <a:latin typeface="宋体" panose="02010600030101010101" pitchFamily="2" charset="-122"/>
              </a:rPr>
              <a:t>█</a:t>
            </a:r>
            <a:r>
              <a:rPr lang="en-US" altLang="zh-CN" dirty="0">
                <a:latin typeface="Times New Roman" panose="02020603050405020304" charset="0"/>
              </a:rPr>
              <a:t>  </a:t>
            </a:r>
            <a:r>
              <a:rPr lang="en-US" altLang="zh-CN" dirty="0">
                <a:latin typeface="宋体" panose="02010600030101010101" pitchFamily="2" charset="-122"/>
              </a:rPr>
              <a:t>█</a:t>
            </a:r>
            <a:r>
              <a:rPr lang="en-US" altLang="zh-CN" dirty="0">
                <a:latin typeface="Times New Roman" panose="02020603050405020304" charset="0"/>
              </a:rPr>
              <a:t>  </a:t>
            </a:r>
            <a:r>
              <a:rPr lang="en-US" altLang="zh-CN" dirty="0">
                <a:latin typeface="宋体" panose="02010600030101010101" pitchFamily="2" charset="-122"/>
              </a:rPr>
              <a:t>█</a:t>
            </a:r>
            <a:r>
              <a:rPr lang="en-US" altLang="zh-CN" dirty="0">
                <a:latin typeface="Times New Roman" panose="02020603050405020304" charset="0"/>
              </a:rPr>
              <a:t> </a:t>
            </a:r>
          </a:p>
          <a:p>
            <a:pPr indent="0" eaLnBrk="1" hangingPunct="1">
              <a:buNone/>
            </a:pPr>
            <a:r>
              <a:rPr lang="en-US" altLang="zh-CN" dirty="0">
                <a:latin typeface="宋体" panose="02010600030101010101" pitchFamily="2" charset="-122"/>
              </a:rPr>
              <a:t> </a:t>
            </a:r>
            <a:r>
              <a:rPr lang="en-US" altLang="zh-CN" sz="1600" dirty="0">
                <a:latin typeface="宋体" panose="02010600030101010101" pitchFamily="2" charset="-122"/>
              </a:rPr>
              <a:t>  </a:t>
            </a:r>
            <a:r>
              <a:rPr lang="en-US" altLang="zh-CN" dirty="0">
                <a:latin typeface="宋体" panose="02010600030101010101" pitchFamily="2" charset="-122"/>
              </a:rPr>
              <a:t>█</a:t>
            </a:r>
            <a:r>
              <a:rPr lang="en-US" altLang="zh-CN" dirty="0">
                <a:latin typeface="Times New Roman" panose="02020603050405020304" charset="0"/>
              </a:rPr>
              <a:t>  </a:t>
            </a:r>
          </a:p>
        </p:txBody>
      </p:sp>
      <p:sp>
        <p:nvSpPr>
          <p:cNvPr id="57351" name="Text Box 10"/>
          <p:cNvSpPr txBox="1"/>
          <p:nvPr/>
        </p:nvSpPr>
        <p:spPr>
          <a:xfrm>
            <a:off x="5791200" y="1600200"/>
            <a:ext cx="1371600" cy="1032510"/>
          </a:xfrm>
          <a:prstGeom prst="rect">
            <a:avLst/>
          </a:prstGeom>
          <a:noFill/>
          <a:ln w="9525">
            <a:noFill/>
          </a:ln>
        </p:spPr>
        <p:txBody>
          <a:bodyPr>
            <a:spAutoFit/>
          </a:bodyPr>
          <a:lstStyle/>
          <a:p>
            <a:pPr indent="0" eaLnBrk="1" hangingPunct="1">
              <a:buNone/>
            </a:pPr>
            <a:r>
              <a:rPr lang="en-US" altLang="zh-CN" dirty="0">
                <a:latin typeface="宋体" panose="02010600030101010101" pitchFamily="2" charset="-122"/>
              </a:rPr>
              <a:t>█</a:t>
            </a:r>
            <a:r>
              <a:rPr lang="en-US" altLang="zh-CN" dirty="0">
                <a:latin typeface="Times New Roman" panose="02020603050405020304" charset="0"/>
              </a:rPr>
              <a:t> </a:t>
            </a:r>
            <a:r>
              <a:rPr lang="en-US" altLang="zh-CN" dirty="0">
                <a:latin typeface="宋体" panose="02010600030101010101" pitchFamily="2" charset="-122"/>
              </a:rPr>
              <a:t>█</a:t>
            </a:r>
            <a:r>
              <a:rPr lang="en-US" altLang="zh-CN" dirty="0">
                <a:latin typeface="Times New Roman" panose="02020603050405020304" charset="0"/>
              </a:rPr>
              <a:t> </a:t>
            </a:r>
            <a:r>
              <a:rPr lang="en-US" altLang="zh-CN" dirty="0">
                <a:latin typeface="宋体" panose="02010600030101010101" pitchFamily="2" charset="-122"/>
              </a:rPr>
              <a:t>█</a:t>
            </a:r>
            <a:r>
              <a:rPr lang="en-US" altLang="zh-CN" dirty="0">
                <a:latin typeface="Times New Roman" panose="02020603050405020304" charset="0"/>
              </a:rPr>
              <a:t> </a:t>
            </a:r>
          </a:p>
          <a:p>
            <a:pPr indent="0" eaLnBrk="1" hangingPunct="1">
              <a:buNone/>
            </a:pPr>
            <a:r>
              <a:rPr lang="en-US" altLang="zh-CN" dirty="0">
                <a:latin typeface="宋体" panose="02010600030101010101" pitchFamily="2" charset="-122"/>
              </a:rPr>
              <a:t>█</a:t>
            </a:r>
            <a:r>
              <a:rPr lang="en-US" altLang="zh-CN" dirty="0">
                <a:latin typeface="Times New Roman" panose="02020603050405020304" charset="0"/>
              </a:rPr>
              <a:t> </a:t>
            </a:r>
            <a:r>
              <a:rPr lang="en-US" altLang="zh-CN" dirty="0">
                <a:latin typeface="宋体" panose="02010600030101010101" pitchFamily="2" charset="-122"/>
              </a:rPr>
              <a:t>█</a:t>
            </a:r>
            <a:r>
              <a:rPr lang="en-US" altLang="zh-CN" dirty="0">
                <a:latin typeface="Times New Roman" panose="02020603050405020304" charset="0"/>
              </a:rPr>
              <a:t> </a:t>
            </a:r>
            <a:r>
              <a:rPr lang="en-US" altLang="zh-CN" dirty="0">
                <a:latin typeface="宋体" panose="02010600030101010101" pitchFamily="2" charset="-122"/>
              </a:rPr>
              <a:t>█</a:t>
            </a:r>
            <a:r>
              <a:rPr lang="en-US" altLang="zh-CN" dirty="0">
                <a:latin typeface="Times New Roman" panose="02020603050405020304" charset="0"/>
              </a:rPr>
              <a:t> </a:t>
            </a:r>
          </a:p>
          <a:p>
            <a:pPr indent="0" eaLnBrk="1" hangingPunct="1">
              <a:buNone/>
            </a:pPr>
            <a:r>
              <a:rPr lang="en-US" altLang="zh-CN" dirty="0">
                <a:latin typeface="宋体" panose="02010600030101010101" pitchFamily="2" charset="-122"/>
              </a:rPr>
              <a:t>█</a:t>
            </a:r>
            <a:r>
              <a:rPr lang="en-US" altLang="zh-CN" dirty="0">
                <a:latin typeface="Times New Roman" panose="02020603050405020304" charset="0"/>
              </a:rPr>
              <a:t> </a:t>
            </a:r>
            <a:r>
              <a:rPr lang="en-US" altLang="zh-CN" dirty="0">
                <a:latin typeface="宋体" panose="02010600030101010101" pitchFamily="2" charset="-122"/>
              </a:rPr>
              <a:t>█</a:t>
            </a:r>
            <a:r>
              <a:rPr lang="en-US" altLang="zh-CN" dirty="0">
                <a:latin typeface="Times New Roman" panose="02020603050405020304" charset="0"/>
              </a:rPr>
              <a:t> </a:t>
            </a:r>
            <a:r>
              <a:rPr lang="en-US" altLang="zh-CN" dirty="0">
                <a:latin typeface="宋体" panose="02010600030101010101" pitchFamily="2" charset="-122"/>
              </a:rPr>
              <a:t>█</a:t>
            </a:r>
            <a:r>
              <a:rPr lang="en-US" altLang="zh-CN" dirty="0">
                <a:latin typeface="Times New Roman" panose="02020603050405020304" charset="0"/>
              </a:rPr>
              <a:t> </a:t>
            </a:r>
          </a:p>
        </p:txBody>
      </p:sp>
      <p:sp>
        <p:nvSpPr>
          <p:cNvPr id="57352" name="Text Box 11"/>
          <p:cNvSpPr txBox="1"/>
          <p:nvPr/>
        </p:nvSpPr>
        <p:spPr>
          <a:xfrm>
            <a:off x="5688124" y="4689140"/>
            <a:ext cx="1981200" cy="1696720"/>
          </a:xfrm>
          <a:prstGeom prst="rect">
            <a:avLst/>
          </a:prstGeom>
          <a:noFill/>
          <a:ln w="9525">
            <a:noFill/>
          </a:ln>
        </p:spPr>
        <p:txBody>
          <a:bodyPr>
            <a:spAutoFit/>
          </a:bodyPr>
          <a:lstStyle/>
          <a:p>
            <a:pPr indent="0" eaLnBrk="1" hangingPunct="1">
              <a:buNone/>
            </a:pPr>
            <a:r>
              <a:rPr lang="en-US" altLang="zh-CN" dirty="0">
                <a:latin typeface="宋体" panose="02010600030101010101" pitchFamily="2" charset="-122"/>
              </a:rPr>
              <a:t>    █</a:t>
            </a:r>
            <a:r>
              <a:rPr lang="en-US" altLang="zh-CN" dirty="0">
                <a:latin typeface="Times New Roman" panose="02020603050405020304" charset="0"/>
              </a:rPr>
              <a:t> </a:t>
            </a:r>
          </a:p>
          <a:p>
            <a:pPr indent="0" eaLnBrk="1" hangingPunct="1">
              <a:buNone/>
            </a:pPr>
            <a:r>
              <a:rPr lang="en-US" altLang="zh-CN" dirty="0">
                <a:latin typeface="宋体" panose="02010600030101010101" pitchFamily="2" charset="-122"/>
              </a:rPr>
              <a:t>  ███</a:t>
            </a:r>
            <a:endParaRPr lang="en-US" altLang="zh-CN" dirty="0">
              <a:latin typeface="Times New Roman" panose="02020603050405020304" charset="0"/>
            </a:endParaRPr>
          </a:p>
          <a:p>
            <a:pPr indent="0" eaLnBrk="1" hangingPunct="1">
              <a:buNone/>
            </a:pPr>
            <a:r>
              <a:rPr lang="en-US" altLang="zh-CN" dirty="0">
                <a:latin typeface="宋体" panose="02010600030101010101" pitchFamily="2" charset="-122"/>
              </a:rPr>
              <a:t>█████</a:t>
            </a:r>
            <a:endParaRPr lang="en-US" altLang="zh-CN" dirty="0">
              <a:latin typeface="Times New Roman" panose="02020603050405020304" charset="0"/>
            </a:endParaRPr>
          </a:p>
          <a:p>
            <a:pPr indent="0" eaLnBrk="1" hangingPunct="1">
              <a:buNone/>
            </a:pPr>
            <a:r>
              <a:rPr lang="en-US" altLang="zh-CN" dirty="0">
                <a:latin typeface="宋体" panose="02010600030101010101" pitchFamily="2" charset="-122"/>
              </a:rPr>
              <a:t>  ███</a:t>
            </a:r>
            <a:r>
              <a:rPr lang="en-US" altLang="zh-CN" dirty="0">
                <a:latin typeface="Times New Roman" panose="02020603050405020304" charset="0"/>
              </a:rPr>
              <a:t> </a:t>
            </a:r>
          </a:p>
          <a:p>
            <a:pPr indent="0" eaLnBrk="1" hangingPunct="1">
              <a:buNone/>
            </a:pPr>
            <a:r>
              <a:rPr lang="en-US" altLang="zh-CN" dirty="0">
                <a:latin typeface="宋体" panose="02010600030101010101" pitchFamily="2" charset="-122"/>
              </a:rPr>
              <a:t>    █</a:t>
            </a:r>
          </a:p>
        </p:txBody>
      </p:sp>
      <p:sp>
        <p:nvSpPr>
          <p:cNvPr id="57353" name="Text Box 13"/>
          <p:cNvSpPr txBox="1"/>
          <p:nvPr/>
        </p:nvSpPr>
        <p:spPr>
          <a:xfrm>
            <a:off x="3733800" y="1892300"/>
            <a:ext cx="990600" cy="521970"/>
          </a:xfrm>
          <a:prstGeom prst="rect">
            <a:avLst/>
          </a:prstGeom>
          <a:noFill/>
          <a:ln w="9525">
            <a:noFill/>
          </a:ln>
        </p:spPr>
        <p:txBody>
          <a:bodyPr>
            <a:spAutoFit/>
          </a:bodyPr>
          <a:lstStyle/>
          <a:p>
            <a:pPr indent="0" eaLnBrk="1" hangingPunct="1">
              <a:spcBef>
                <a:spcPct val="50000"/>
              </a:spcBef>
              <a:buNone/>
            </a:pPr>
            <a:r>
              <a:rPr lang="zh-CN" altLang="en-US" sz="2800" b="1" dirty="0">
                <a:latin typeface="Times New Roman" panose="02020603050405020304" charset="0"/>
              </a:rPr>
              <a:t>方形</a:t>
            </a:r>
          </a:p>
        </p:txBody>
      </p:sp>
      <p:sp>
        <p:nvSpPr>
          <p:cNvPr id="57354" name="Text Box 14"/>
          <p:cNvSpPr txBox="1"/>
          <p:nvPr/>
        </p:nvSpPr>
        <p:spPr>
          <a:xfrm>
            <a:off x="3679825" y="3367088"/>
            <a:ext cx="1524000" cy="521970"/>
          </a:xfrm>
          <a:prstGeom prst="rect">
            <a:avLst/>
          </a:prstGeom>
          <a:noFill/>
          <a:ln w="9525">
            <a:noFill/>
          </a:ln>
        </p:spPr>
        <p:txBody>
          <a:bodyPr>
            <a:spAutoFit/>
          </a:bodyPr>
          <a:lstStyle/>
          <a:p>
            <a:pPr indent="0" eaLnBrk="1" hangingPunct="1">
              <a:spcBef>
                <a:spcPct val="50000"/>
              </a:spcBef>
              <a:buNone/>
            </a:pPr>
            <a:r>
              <a:rPr lang="zh-CN" altLang="en-US" sz="2800" b="1" dirty="0">
                <a:latin typeface="Times New Roman" panose="02020603050405020304" charset="0"/>
              </a:rPr>
              <a:t>十字形</a:t>
            </a:r>
          </a:p>
        </p:txBody>
      </p:sp>
      <p:sp>
        <p:nvSpPr>
          <p:cNvPr id="57355" name="Text Box 15"/>
          <p:cNvSpPr txBox="1"/>
          <p:nvPr/>
        </p:nvSpPr>
        <p:spPr>
          <a:xfrm>
            <a:off x="3733800" y="5248910"/>
            <a:ext cx="1143000" cy="521970"/>
          </a:xfrm>
          <a:prstGeom prst="rect">
            <a:avLst/>
          </a:prstGeom>
          <a:noFill/>
          <a:ln w="9525">
            <a:noFill/>
          </a:ln>
        </p:spPr>
        <p:txBody>
          <a:bodyPr>
            <a:spAutoFit/>
          </a:bodyPr>
          <a:lstStyle/>
          <a:p>
            <a:pPr indent="0" eaLnBrk="1" hangingPunct="1">
              <a:spcBef>
                <a:spcPct val="50000"/>
              </a:spcBef>
              <a:buNone/>
            </a:pPr>
            <a:r>
              <a:rPr lang="zh-CN" altLang="en-US" sz="2800" b="1" dirty="0">
                <a:latin typeface="Times New Roman" panose="02020603050405020304" charset="0"/>
              </a:rPr>
              <a:t>菱形</a:t>
            </a:r>
          </a:p>
        </p:txBody>
      </p:sp>
      <p:sp>
        <p:nvSpPr>
          <p:cNvPr id="57356" name="Text Box 16"/>
          <p:cNvSpPr txBox="1"/>
          <p:nvPr/>
        </p:nvSpPr>
        <p:spPr>
          <a:xfrm>
            <a:off x="990600" y="1676400"/>
            <a:ext cx="2133600" cy="953135"/>
          </a:xfrm>
          <a:prstGeom prst="rect">
            <a:avLst/>
          </a:prstGeom>
          <a:noFill/>
          <a:ln w="9525" cap="flat" cmpd="sng">
            <a:solidFill>
              <a:schemeClr val="accent1"/>
            </a:solidFill>
            <a:prstDash val="solid"/>
            <a:miter/>
            <a:headEnd type="none" w="med" len="med"/>
            <a:tailEnd type="none" w="med" len="med"/>
          </a:ln>
        </p:spPr>
        <p:txBody>
          <a:bodyPr>
            <a:spAutoFit/>
          </a:bodyPr>
          <a:lstStyle/>
          <a:p>
            <a:pPr indent="0" eaLnBrk="1" hangingPunct="1">
              <a:spcBef>
                <a:spcPct val="50000"/>
              </a:spcBef>
              <a:buNone/>
            </a:pPr>
            <a:r>
              <a:rPr lang="zh-CN" altLang="en-US" sz="2800" b="1" dirty="0">
                <a:latin typeface="Times New Roman" panose="02020603050405020304" charset="0"/>
              </a:rPr>
              <a:t>大小、形状均可调节</a:t>
            </a:r>
          </a:p>
        </p:txBody>
      </p:sp>
    </p:spTree>
    <p:extLst>
      <p:ext uri="{BB962C8B-B14F-4D97-AF65-F5344CB8AC3E}">
        <p14:creationId xmlns:p14="http://schemas.microsoft.com/office/powerpoint/2010/main" val="279886345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5"/>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GB" sz="3600" b="0" i="0" u="none" strike="noStrike" kern="0" cap="none" spc="0" normalizeH="0" baseline="0" noProof="0" dirty="0">
                <a:ln>
                  <a:noFill/>
                </a:ln>
                <a:solidFill>
                  <a:schemeClr val="tx2"/>
                </a:solidFill>
                <a:effectLst/>
                <a:uLnTx/>
                <a:uFillTx/>
                <a:latin typeface="+mj-lt"/>
                <a:ea typeface="+mj-ea"/>
                <a:cs typeface="+mj-cs"/>
              </a:rPr>
              <a:t>例</a:t>
            </a:r>
            <a:endParaRPr kumimoji="1" lang="zh-CN" altLang="en-US" sz="3600" b="0" i="0" u="none" strike="noStrike" kern="0" cap="none" spc="0" normalizeH="0" baseline="0" noProof="0" dirty="0">
              <a:ln>
                <a:noFill/>
              </a:ln>
              <a:solidFill>
                <a:schemeClr val="tx2"/>
              </a:solidFill>
              <a:effectLst/>
              <a:uLnTx/>
              <a:uFillTx/>
              <a:latin typeface="+mj-lt"/>
              <a:ea typeface="+mj-ea"/>
              <a:cs typeface="+mj-cs"/>
            </a:endParaRPr>
          </a:p>
        </p:txBody>
      </p:sp>
      <p:sp>
        <p:nvSpPr>
          <p:cNvPr id="2" name="内容占位符 1">
            <a:extLst>
              <a:ext uri="{FF2B5EF4-FFF2-40B4-BE49-F238E27FC236}">
                <a16:creationId xmlns:a16="http://schemas.microsoft.com/office/drawing/2014/main" id="{D9010127-D2A8-486A-9AE0-B41761EBD1D5}"/>
              </a:ext>
            </a:extLst>
          </p:cNvPr>
          <p:cNvSpPr>
            <a:spLocks noGrp="1"/>
          </p:cNvSpPr>
          <p:nvPr>
            <p:ph idx="1"/>
          </p:nvPr>
        </p:nvSpPr>
        <p:spPr>
          <a:xfrm>
            <a:off x="566738" y="1341438"/>
            <a:ext cx="8181726" cy="4967287"/>
          </a:xfrm>
        </p:spPr>
        <p:txBody>
          <a:bodyPr/>
          <a:lstStyle/>
          <a:p>
            <a:r>
              <a:rPr lang="zh-CN" altLang="en-US" dirty="0">
                <a:latin typeface="Times New Roman" panose="02020603050405020304" charset="0"/>
              </a:rPr>
              <a:t>椒盐噪声：一种脉冲噪声，以黑白点形式叠加在图像上</a:t>
            </a:r>
            <a:endParaRPr lang="zh-CN" altLang="en-US" dirty="0"/>
          </a:p>
        </p:txBody>
      </p:sp>
      <p:sp>
        <p:nvSpPr>
          <p:cNvPr id="53251" name="灯片编号占位符 4"/>
          <p:cNvSpPr txBox="1">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72F0295B-EE50-4993-927D-6E8277884CEE}"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43</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pic>
        <p:nvPicPr>
          <p:cNvPr id="58372" name="Picture 14"/>
          <p:cNvPicPr>
            <a:picLocks noChangeAspect="1"/>
          </p:cNvPicPr>
          <p:nvPr/>
        </p:nvPicPr>
        <p:blipFill>
          <a:blip r:embed="rId2"/>
          <a:stretch>
            <a:fillRect/>
          </a:stretch>
        </p:blipFill>
        <p:spPr>
          <a:xfrm>
            <a:off x="672278" y="2132856"/>
            <a:ext cx="7850187" cy="2524125"/>
          </a:xfrm>
          <a:prstGeom prst="rect">
            <a:avLst/>
          </a:prstGeom>
          <a:noFill/>
          <a:ln w="9525">
            <a:noFill/>
          </a:ln>
        </p:spPr>
      </p:pic>
      <p:sp>
        <p:nvSpPr>
          <p:cNvPr id="58373" name="Text Box 16"/>
          <p:cNvSpPr txBox="1"/>
          <p:nvPr/>
        </p:nvSpPr>
        <p:spPr>
          <a:xfrm>
            <a:off x="959615" y="4868118"/>
            <a:ext cx="4537075" cy="1614805"/>
          </a:xfrm>
          <a:prstGeom prst="rect">
            <a:avLst/>
          </a:prstGeom>
          <a:noFill/>
          <a:ln w="9525">
            <a:noFill/>
          </a:ln>
        </p:spPr>
        <p:txBody>
          <a:bodyPr>
            <a:spAutoFit/>
          </a:bodyPr>
          <a:lstStyle/>
          <a:p>
            <a:pPr indent="0" eaLnBrk="1" hangingPunct="1">
              <a:spcBef>
                <a:spcPct val="50000"/>
              </a:spcBef>
              <a:buNone/>
            </a:pPr>
            <a:r>
              <a:rPr lang="zh-CN" altLang="en-US" dirty="0">
                <a:latin typeface="Times New Roman" panose="02020603050405020304" charset="0"/>
              </a:rPr>
              <a:t>从左到右依次分别为</a:t>
            </a:r>
          </a:p>
          <a:p>
            <a:pPr indent="0" eaLnBrk="1" hangingPunct="1">
              <a:spcBef>
                <a:spcPct val="50000"/>
              </a:spcBef>
              <a:buNone/>
            </a:pPr>
            <a:r>
              <a:rPr lang="zh-CN" altLang="en-US" dirty="0">
                <a:latin typeface="Times New Roman" panose="02020603050405020304" charset="0"/>
              </a:rPr>
              <a:t>椒盐噪声污染的电路板</a:t>
            </a:r>
            <a:r>
              <a:rPr lang="en-US" altLang="zh-CN" dirty="0">
                <a:latin typeface="Times New Roman" panose="02020603050405020304" charset="0"/>
              </a:rPr>
              <a:t>X</a:t>
            </a:r>
            <a:r>
              <a:rPr lang="zh-CN" altLang="en-US" dirty="0">
                <a:latin typeface="Times New Roman" panose="02020603050405020304" charset="0"/>
              </a:rPr>
              <a:t>光图像</a:t>
            </a:r>
          </a:p>
          <a:p>
            <a:pPr indent="0" eaLnBrk="1" hangingPunct="1">
              <a:spcBef>
                <a:spcPct val="50000"/>
              </a:spcBef>
              <a:buNone/>
            </a:pPr>
            <a:r>
              <a:rPr lang="zh-CN" altLang="en-US" dirty="0">
                <a:latin typeface="Times New Roman" panose="02020603050405020304" charset="0"/>
              </a:rPr>
              <a:t>用</a:t>
            </a:r>
            <a:r>
              <a:rPr lang="en-US" altLang="zh-CN" dirty="0">
                <a:latin typeface="Times New Roman" panose="02020603050405020304" charset="0"/>
              </a:rPr>
              <a:t>3*3</a:t>
            </a:r>
            <a:r>
              <a:rPr lang="zh-CN" altLang="en-US" dirty="0">
                <a:latin typeface="Times New Roman" panose="02020603050405020304" charset="0"/>
              </a:rPr>
              <a:t>均值掩模去除噪声</a:t>
            </a:r>
          </a:p>
          <a:p>
            <a:pPr indent="0" eaLnBrk="1" hangingPunct="1">
              <a:spcBef>
                <a:spcPct val="50000"/>
              </a:spcBef>
              <a:buNone/>
            </a:pPr>
            <a:r>
              <a:rPr lang="zh-CN" altLang="en-US" dirty="0">
                <a:latin typeface="Times New Roman" panose="02020603050405020304" charset="0"/>
              </a:rPr>
              <a:t>用</a:t>
            </a:r>
            <a:r>
              <a:rPr lang="en-US" altLang="zh-CN" dirty="0">
                <a:latin typeface="Times New Roman" panose="02020603050405020304" charset="0"/>
              </a:rPr>
              <a:t>3*3</a:t>
            </a:r>
            <a:r>
              <a:rPr lang="zh-CN" altLang="en-US" dirty="0">
                <a:latin typeface="Times New Roman" panose="02020603050405020304" charset="0"/>
              </a:rPr>
              <a:t>中值滤波器去除噪声</a:t>
            </a:r>
          </a:p>
        </p:txBody>
      </p:sp>
      <p:sp>
        <p:nvSpPr>
          <p:cNvPr id="58374" name="Text Box 17"/>
          <p:cNvSpPr txBox="1"/>
          <p:nvPr/>
        </p:nvSpPr>
        <p:spPr>
          <a:xfrm>
            <a:off x="5496690" y="5157043"/>
            <a:ext cx="2881313" cy="1015663"/>
          </a:xfrm>
          <a:prstGeom prst="rect">
            <a:avLst/>
          </a:prstGeom>
          <a:noFill/>
          <a:ln w="9525">
            <a:noFill/>
          </a:ln>
        </p:spPr>
        <p:txBody>
          <a:bodyPr>
            <a:spAutoFit/>
          </a:bodyPr>
          <a:lstStyle/>
          <a:p>
            <a:pPr indent="0" eaLnBrk="1" hangingPunct="1">
              <a:spcBef>
                <a:spcPct val="50000"/>
              </a:spcBef>
              <a:buNone/>
            </a:pPr>
            <a:r>
              <a:rPr lang="zh-CN" altLang="en-US" sz="2000" dirty="0">
                <a:latin typeface="Times New Roman" panose="02020603050405020304" charset="0"/>
              </a:rPr>
              <a:t>去除椒盐噪声使用自适应中值滤波器的效果会更好一些</a:t>
            </a:r>
          </a:p>
        </p:txBody>
      </p:sp>
    </p:spTree>
    <p:extLst>
      <p:ext uri="{BB962C8B-B14F-4D97-AF65-F5344CB8AC3E}">
        <p14:creationId xmlns:p14="http://schemas.microsoft.com/office/powerpoint/2010/main" val="174927039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zh-CN" altLang="en-US" sz="3600" dirty="0">
                <a:latin typeface="+mj-ea"/>
              </a:rPr>
              <a:t>第</a:t>
            </a:r>
            <a:r>
              <a:rPr lang="en-US" altLang="zh-CN" sz="3600" dirty="0">
                <a:latin typeface="+mj-ea"/>
              </a:rPr>
              <a:t>3</a:t>
            </a:r>
            <a:r>
              <a:rPr lang="zh-CN" altLang="en-US" sz="3600" dirty="0">
                <a:latin typeface="+mj-ea"/>
              </a:rPr>
              <a:t>章  灰度变换与空域滤波</a:t>
            </a:r>
            <a:endParaRPr lang="en-US" altLang="zh-CN" sz="3600" dirty="0">
              <a:latin typeface="+mj-ea"/>
            </a:endParaRPr>
          </a:p>
        </p:txBody>
      </p:sp>
      <p:sp>
        <p:nvSpPr>
          <p:cNvPr id="198659" name="Text Box 3"/>
          <p:cNvSpPr txBox="1">
            <a:spLocks noChangeArrowheads="1"/>
          </p:cNvSpPr>
          <p:nvPr/>
        </p:nvSpPr>
        <p:spPr bwMode="auto">
          <a:xfrm>
            <a:off x="575556" y="1464945"/>
            <a:ext cx="7990205" cy="4592347"/>
          </a:xfrm>
          <a:prstGeom prst="rect">
            <a:avLst/>
          </a:prstGeom>
          <a:noFill/>
          <a:ln w="9525">
            <a:noFill/>
            <a:miter lim="800000"/>
          </a:ln>
          <a:effectLst/>
        </p:spPr>
        <p:txBody>
          <a:bodyPr/>
          <a:lstStyle/>
          <a:p>
            <a:pPr>
              <a:spcBef>
                <a:spcPct val="50000"/>
              </a:spcBef>
              <a:buClr>
                <a:schemeClr val="tx1"/>
              </a:buClr>
              <a:buNone/>
              <a:defRPr/>
            </a:pPr>
            <a:r>
              <a:rPr lang="en-US" altLang="zh-CN" sz="3200" dirty="0">
                <a:sym typeface="Wingdings" panose="05000000000000000000" pitchFamily="2" charset="2"/>
              </a:rPr>
              <a:t>3.1	</a:t>
            </a:r>
            <a:r>
              <a:rPr lang="zh-CN" altLang="en-US" sz="3200" dirty="0">
                <a:sym typeface="Wingdings" panose="05000000000000000000" pitchFamily="2" charset="2"/>
              </a:rPr>
              <a:t>背景知识</a:t>
            </a:r>
          </a:p>
          <a:p>
            <a:pPr>
              <a:spcBef>
                <a:spcPct val="50000"/>
              </a:spcBef>
              <a:buClr>
                <a:schemeClr val="tx1"/>
              </a:buClr>
              <a:buNone/>
              <a:defRPr/>
            </a:pPr>
            <a:r>
              <a:rPr lang="en-US" altLang="zh-CN" sz="3200" dirty="0">
                <a:latin typeface="+mn-lt"/>
                <a:ea typeface="+mn-ea"/>
                <a:sym typeface="Wingdings" panose="05000000000000000000" pitchFamily="2" charset="2"/>
              </a:rPr>
              <a:t>3.2	</a:t>
            </a:r>
            <a:r>
              <a:rPr lang="zh-CN" altLang="en-US" sz="3200" dirty="0">
                <a:latin typeface="+mn-lt"/>
                <a:ea typeface="+mn-ea"/>
                <a:sym typeface="Wingdings" panose="05000000000000000000" pitchFamily="2" charset="2"/>
              </a:rPr>
              <a:t>基本灰度变换</a:t>
            </a:r>
          </a:p>
          <a:p>
            <a:pPr>
              <a:spcBef>
                <a:spcPct val="50000"/>
              </a:spcBef>
              <a:buClr>
                <a:schemeClr val="tx1"/>
              </a:buClr>
              <a:buNone/>
              <a:defRPr/>
            </a:pPr>
            <a:r>
              <a:rPr lang="en-US" altLang="zh-CN" sz="3200" dirty="0">
                <a:latin typeface="+mn-lt"/>
                <a:ea typeface="+mn-ea"/>
                <a:sym typeface="Wingdings" panose="05000000000000000000" pitchFamily="2" charset="2"/>
              </a:rPr>
              <a:t>3.3	</a:t>
            </a:r>
            <a:r>
              <a:rPr lang="zh-CN" altLang="en-US" sz="3200" dirty="0">
                <a:latin typeface="+mn-lt"/>
                <a:ea typeface="+mn-ea"/>
                <a:sym typeface="Wingdings" panose="05000000000000000000" pitchFamily="2" charset="2"/>
              </a:rPr>
              <a:t>直方图处理</a:t>
            </a:r>
          </a:p>
          <a:p>
            <a:pPr>
              <a:spcBef>
                <a:spcPct val="50000"/>
              </a:spcBef>
              <a:buClr>
                <a:schemeClr val="tx1"/>
              </a:buClr>
              <a:buNone/>
              <a:defRPr/>
            </a:pPr>
            <a:r>
              <a:rPr lang="en-US" altLang="zh-CN" sz="3200" dirty="0">
                <a:sym typeface="Wingdings" panose="05000000000000000000" pitchFamily="2" charset="2"/>
              </a:rPr>
              <a:t>3.4    </a:t>
            </a:r>
            <a:r>
              <a:rPr lang="zh-CN" altLang="en-US" sz="3200" dirty="0">
                <a:sym typeface="Wingdings" panose="05000000000000000000" pitchFamily="2" charset="2"/>
              </a:rPr>
              <a:t>空间滤波基础</a:t>
            </a:r>
          </a:p>
          <a:p>
            <a:pPr>
              <a:spcBef>
                <a:spcPct val="50000"/>
              </a:spcBef>
              <a:buClr>
                <a:schemeClr val="tx1"/>
              </a:buClr>
              <a:buNone/>
              <a:defRPr/>
            </a:pPr>
            <a:r>
              <a:rPr lang="en-US" altLang="zh-CN" sz="3200" dirty="0">
                <a:sym typeface="Wingdings" panose="05000000000000000000" pitchFamily="2" charset="2"/>
              </a:rPr>
              <a:t>3.5	</a:t>
            </a:r>
            <a:r>
              <a:rPr lang="zh-CN" altLang="en-US" sz="3200" dirty="0">
                <a:sym typeface="Wingdings" panose="05000000000000000000" pitchFamily="2" charset="2"/>
              </a:rPr>
              <a:t>空域平滑</a:t>
            </a:r>
          </a:p>
          <a:p>
            <a:pPr>
              <a:spcBef>
                <a:spcPct val="50000"/>
              </a:spcBef>
              <a:buClr>
                <a:schemeClr val="tx1"/>
              </a:buClr>
              <a:buNone/>
              <a:defRPr/>
            </a:pPr>
            <a:r>
              <a:rPr lang="en-US" altLang="zh-CN" sz="3200" dirty="0">
                <a:solidFill>
                  <a:srgbClr val="FF0000"/>
                </a:solidFill>
                <a:sym typeface="Wingdings" panose="05000000000000000000" pitchFamily="2" charset="2"/>
              </a:rPr>
              <a:t>3.6    </a:t>
            </a:r>
            <a:r>
              <a:rPr lang="zh-CN" altLang="en-US" sz="3200" dirty="0">
                <a:solidFill>
                  <a:srgbClr val="FF0000"/>
                </a:solidFill>
                <a:sym typeface="Wingdings" panose="05000000000000000000" pitchFamily="2" charset="2"/>
              </a:rPr>
              <a:t>空域锐化</a:t>
            </a:r>
          </a:p>
          <a:p>
            <a:pPr>
              <a:spcBef>
                <a:spcPct val="50000"/>
              </a:spcBef>
              <a:buClr>
                <a:schemeClr val="tx1"/>
              </a:buClr>
              <a:buNone/>
              <a:defRPr/>
            </a:pPr>
            <a:endParaRPr lang="zh-CN" altLang="en-US" sz="2800" dirty="0">
              <a:latin typeface="+mn-lt"/>
              <a:ea typeface="+mn-ea"/>
              <a:sym typeface="Wingdings" panose="05000000000000000000" pitchFamily="2" charset="2"/>
            </a:endParaRPr>
          </a:p>
          <a:p>
            <a:pPr>
              <a:spcBef>
                <a:spcPct val="50000"/>
              </a:spcBef>
              <a:buClr>
                <a:schemeClr val="tx1"/>
              </a:buClr>
              <a:buNone/>
              <a:defRPr/>
            </a:pPr>
            <a:endParaRPr kumimoji="1" lang="zh-CN" altLang="en-US" sz="2800" b="0" i="0" u="none" strike="noStrike" kern="0" cap="none" spc="0" normalizeH="0" baseline="0" noProof="0" dirty="0">
              <a:ln>
                <a:noFill/>
              </a:ln>
              <a:solidFill>
                <a:schemeClr val="tx1"/>
              </a:solidFill>
              <a:effectLst/>
              <a:uLnTx/>
              <a:uFillTx/>
              <a:latin typeface="+mn-ea"/>
              <a:ea typeface="+mn-ea"/>
              <a:cs typeface="+mn-cs"/>
              <a:sym typeface="+mn-ea"/>
            </a:endParaRPr>
          </a:p>
          <a:p>
            <a:pPr>
              <a:spcBef>
                <a:spcPct val="50000"/>
              </a:spcBef>
              <a:buClr>
                <a:schemeClr val="tx1"/>
              </a:buClr>
              <a:buNone/>
              <a:defRPr/>
            </a:pPr>
            <a:endParaRPr lang="en-US" altLang="zh-CN" sz="3200" dirty="0">
              <a:latin typeface="+mn-lt"/>
              <a:ea typeface="+mn-ea"/>
              <a:sym typeface="Wingdings" panose="05000000000000000000" pitchFamily="2" charset="2"/>
            </a:endParaRPr>
          </a:p>
        </p:txBody>
      </p:sp>
      <p:sp>
        <p:nvSpPr>
          <p:cNvPr id="2" name="灯片编号占位符 1">
            <a:extLst>
              <a:ext uri="{FF2B5EF4-FFF2-40B4-BE49-F238E27FC236}">
                <a16:creationId xmlns:a16="http://schemas.microsoft.com/office/drawing/2014/main" id="{4B0EB716-E2A8-47EF-AE3D-F8ACB7C2F6EE}"/>
              </a:ext>
            </a:extLst>
          </p:cNvPr>
          <p:cNvSpPr>
            <a:spLocks noGrp="1"/>
          </p:cNvSpPr>
          <p:nvPr>
            <p:ph type="sldNum" sz="quarter" idx="12"/>
          </p:nvPr>
        </p:nvSpPr>
        <p:spPr/>
        <p:txBody>
          <a:bodyPr/>
          <a:lstStyle/>
          <a:p>
            <a:pPr>
              <a:defRPr/>
            </a:pPr>
            <a:fld id="{BE59E6E9-16BB-4D46-A8D6-97CC594B8C57}" type="slidenum">
              <a:rPr lang="en-US" altLang="zh-CN" smtClean="0"/>
              <a:pPr>
                <a:defRPr/>
              </a:pPr>
              <a:t>44</a:t>
            </a:fld>
            <a:endParaRPr lang="en-US" altLang="zh-CN"/>
          </a:p>
        </p:txBody>
      </p:sp>
    </p:spTree>
    <p:extLst>
      <p:ext uri="{BB962C8B-B14F-4D97-AF65-F5344CB8AC3E}">
        <p14:creationId xmlns:p14="http://schemas.microsoft.com/office/powerpoint/2010/main" val="167569431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a:sym typeface="Wingdings" panose="05000000000000000000" pitchFamily="2" charset="2"/>
              </a:rPr>
              <a:t>空域锐化</a:t>
            </a:r>
            <a:endParaRPr lang="zh-CN" altLang="en-US" dirty="0">
              <a:sym typeface="Wingdings" panose="05000000000000000000" pitchFamily="2" charset="2"/>
            </a:endParaRPr>
          </a:p>
        </p:txBody>
      </p:sp>
      <p:sp>
        <p:nvSpPr>
          <p:cNvPr id="27651" name="Rectangle 3"/>
          <p:cNvSpPr>
            <a:spLocks noGrp="1" noChangeArrowheads="1"/>
          </p:cNvSpPr>
          <p:nvPr>
            <p:ph idx="1"/>
          </p:nvPr>
        </p:nvSpPr>
        <p:spPr/>
        <p:txBody>
          <a:bodyPr/>
          <a:lstStyle/>
          <a:p>
            <a:pPr lvl="0"/>
            <a:r>
              <a:rPr lang="zh-CN" altLang="en-US" noProof="0" dirty="0"/>
              <a:t>图象锐化针对常见的图像模糊、边缘不清晰所采取的处理方法</a:t>
            </a:r>
            <a:endParaRPr lang="en-US" altLang="zh-CN" noProof="0" dirty="0"/>
          </a:p>
          <a:p>
            <a:pPr lvl="0"/>
            <a:r>
              <a:rPr lang="zh-CN" altLang="en-US" dirty="0"/>
              <a:t>图象锐化能</a:t>
            </a:r>
            <a:r>
              <a:rPr lang="zh-CN" altLang="en-US" noProof="0" dirty="0"/>
              <a:t>加强图象的轮廓，使图象看起来比较清楚。</a:t>
            </a:r>
            <a:endParaRPr lang="en-US" altLang="zh-CN" noProof="0" dirty="0"/>
          </a:p>
          <a:p>
            <a:pPr lvl="0"/>
            <a:r>
              <a:rPr lang="zh-CN" altLang="en-US" dirty="0"/>
              <a:t>锐化处理的主要目的：突出灰度的过渡部分</a:t>
            </a:r>
            <a:endParaRPr lang="en-US" altLang="zh-CN" dirty="0"/>
          </a:p>
          <a:p>
            <a:pPr lvl="1"/>
            <a:r>
              <a:rPr lang="zh-CN" altLang="en-US" noProof="0" dirty="0"/>
              <a:t>常用一阶微分和二阶微分的锐化滤波器</a:t>
            </a:r>
          </a:p>
          <a:p>
            <a:pPr lvl="0"/>
            <a:endParaRPr lang="zh-CN" altLang="en-US" noProof="0" dirty="0"/>
          </a:p>
        </p:txBody>
      </p:sp>
      <p:sp>
        <p:nvSpPr>
          <p:cNvPr id="27652" name="灯片编号占位符 5"/>
          <p:cNvSpPr txBox="1">
            <a:spLocks noGrp="1"/>
          </p:cNvSpPr>
          <p:nvPr>
            <p:ph type="sldNum" sz="quarter" idx="4294967295"/>
          </p:nvPr>
        </p:nvSpPr>
        <p:spPr bwMode="auto">
          <a:xfrm>
            <a:off x="72390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84363C74-1626-463A-86A3-A37F31559D63}"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45</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2" name="文本框 1"/>
              <p:cNvSpPr txBox="1"/>
              <p:nvPr/>
            </p:nvSpPr>
            <p:spPr>
              <a:xfrm>
                <a:off x="2875314" y="3717032"/>
                <a:ext cx="2455224" cy="585288"/>
              </a:xfrm>
              <a:prstGeom prst="rect">
                <a:avLst/>
              </a:prstGeom>
              <a:noFill/>
            </p:spPr>
            <p:txBody>
              <a:bodyPr wrap="none" lIns="0" tIns="0" rIns="0" bIns="0" rtlCol="0">
                <a:spAutoFit/>
              </a:bodyPr>
              <a:lstStyle/>
              <a:p>
                <a:pPr>
                  <a:buNone/>
                </a:pPr>
                <a14:m>
                  <m:oMathPara xmlns:m="http://schemas.openxmlformats.org/officeDocument/2006/math">
                    <m:oMathParaPr>
                      <m:jc m:val="centerGroup"/>
                    </m:oMathParaPr>
                    <m:oMath xmlns:m="http://schemas.openxmlformats.org/officeDocument/2006/math">
                      <m:f>
                        <m:fPr>
                          <m:ctrlPr>
                            <a:rPr lang="en-GB" altLang="zh-CN" sz="2000" i="1" smtClean="0">
                              <a:latin typeface="Cambria Math" panose="02040503050406030204" pitchFamily="18" charset="0"/>
                            </a:rPr>
                          </m:ctrlPr>
                        </m:fPr>
                        <m:num>
                          <m:r>
                            <a:rPr lang="zh-CN" altLang="en-GB" sz="2000" i="1" smtClean="0">
                              <a:latin typeface="Cambria Math" panose="02040503050406030204" pitchFamily="18" charset="0"/>
                            </a:rPr>
                            <m:t>𝜕</m:t>
                          </m:r>
                          <m:r>
                            <a:rPr lang="en-US" altLang="zh-CN" sz="2000" b="0" i="1" smtClean="0">
                              <a:latin typeface="Cambria Math" panose="02040503050406030204" pitchFamily="18" charset="0"/>
                            </a:rPr>
                            <m:t>𝑓</m:t>
                          </m:r>
                        </m:num>
                        <m:den>
                          <m:r>
                            <a:rPr lang="zh-CN" altLang="en-GB" sz="2000" i="1" smtClean="0">
                              <a:latin typeface="Cambria Math" panose="02040503050406030204" pitchFamily="18" charset="0"/>
                            </a:rPr>
                            <m:t>𝜕</m:t>
                          </m:r>
                          <m:r>
                            <a:rPr lang="en-US" altLang="zh-CN" sz="2000" b="0" i="1" smtClean="0">
                              <a:latin typeface="Cambria Math" panose="02040503050406030204" pitchFamily="18" charset="0"/>
                            </a:rPr>
                            <m:t>𝑥</m:t>
                          </m:r>
                        </m:den>
                      </m:f>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𝑓</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+1</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𝑓</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m:t>
                      </m:r>
                    </m:oMath>
                  </m:oMathPara>
                </a14:m>
                <a:endParaRPr lang="zh-CN" altLang="en-US"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2875314" y="3717032"/>
                <a:ext cx="2455224" cy="58528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2807804" y="4617132"/>
                <a:ext cx="3988656" cy="617605"/>
              </a:xfrm>
              <a:prstGeom prst="rect">
                <a:avLst/>
              </a:prstGeom>
              <a:noFill/>
            </p:spPr>
            <p:txBody>
              <a:bodyPr wrap="none" lIns="0" tIns="0" rIns="0" bIns="0" rtlCol="0">
                <a:spAutoFit/>
              </a:bodyPr>
              <a:lstStyle/>
              <a:p>
                <a:pPr>
                  <a:buNone/>
                </a:pPr>
                <a14:m>
                  <m:oMathPara xmlns:m="http://schemas.openxmlformats.org/officeDocument/2006/math">
                    <m:oMathParaPr>
                      <m:jc m:val="centerGroup"/>
                    </m:oMathParaPr>
                    <m:oMath xmlns:m="http://schemas.openxmlformats.org/officeDocument/2006/math">
                      <m:f>
                        <m:fPr>
                          <m:ctrlPr>
                            <a:rPr lang="en-GB" altLang="zh-CN" sz="2000" i="1" smtClean="0">
                              <a:latin typeface="Cambria Math" panose="02040503050406030204" pitchFamily="18" charset="0"/>
                            </a:rPr>
                          </m:ctrlPr>
                        </m:fPr>
                        <m:num>
                          <m:sSup>
                            <m:sSupPr>
                              <m:ctrlPr>
                                <a:rPr lang="en-GB" altLang="zh-CN" sz="2000" i="1" smtClean="0">
                                  <a:latin typeface="Cambria Math" panose="02040503050406030204" pitchFamily="18" charset="0"/>
                                </a:rPr>
                              </m:ctrlPr>
                            </m:sSupPr>
                            <m:e>
                              <m:r>
                                <a:rPr lang="zh-CN" altLang="en-GB" sz="2000" i="1">
                                  <a:latin typeface="Cambria Math" panose="02040503050406030204" pitchFamily="18" charset="0"/>
                                </a:rPr>
                                <m:t>𝜕</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𝑓</m:t>
                          </m:r>
                        </m:num>
                        <m:den>
                          <m:r>
                            <a:rPr lang="zh-CN" altLang="en-GB" sz="2000" i="1" smtClean="0">
                              <a:latin typeface="Cambria Math" panose="02040503050406030204" pitchFamily="18" charset="0"/>
                            </a:rPr>
                            <m:t>𝜕</m:t>
                          </m:r>
                          <m:sSup>
                            <m:sSupPr>
                              <m:ctrlPr>
                                <a:rPr lang="en-US" altLang="zh-CN" sz="2000" i="1" smtClean="0">
                                  <a:latin typeface="Cambria Math" panose="02040503050406030204" pitchFamily="18" charset="0"/>
                                </a:rPr>
                              </m:ctrlPr>
                            </m:sSupPr>
                            <m:e>
                              <m:r>
                                <a:rPr lang="en-US" altLang="zh-CN" sz="2000" i="1">
                                  <a:latin typeface="Cambria Math" panose="02040503050406030204" pitchFamily="18" charset="0"/>
                                </a:rPr>
                                <m:t>𝑥</m:t>
                              </m:r>
                            </m:e>
                            <m:sup>
                              <m:r>
                                <a:rPr lang="en-US" altLang="zh-CN" sz="2000" b="0" i="1" smtClean="0">
                                  <a:latin typeface="Cambria Math" panose="02040503050406030204" pitchFamily="18" charset="0"/>
                                </a:rPr>
                                <m:t>2</m:t>
                              </m:r>
                            </m:sup>
                          </m:sSup>
                        </m:den>
                      </m:f>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𝑓</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+1</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𝑓</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−1)−2</m:t>
                      </m:r>
                      <m:r>
                        <a:rPr lang="en-US" altLang="zh-CN" sz="2000" b="0" i="1" smtClean="0">
                          <a:latin typeface="Cambria Math" panose="02040503050406030204" pitchFamily="18" charset="0"/>
                        </a:rPr>
                        <m:t>𝑓</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m:t>
                      </m:r>
                    </m:oMath>
                  </m:oMathPara>
                </a14:m>
                <a:endParaRPr lang="zh-CN" altLang="en-US" sz="2000" dirty="0"/>
              </a:p>
            </p:txBody>
          </p:sp>
        </mc:Choice>
        <mc:Fallback xmlns="">
          <p:sp>
            <p:nvSpPr>
              <p:cNvPr id="6" name="文本框 5"/>
              <p:cNvSpPr txBox="1">
                <a:spLocks noRot="1" noChangeAspect="1" noMove="1" noResize="1" noEditPoints="1" noAdjustHandles="1" noChangeArrowheads="1" noChangeShapeType="1" noTextEdit="1"/>
              </p:cNvSpPr>
              <p:nvPr/>
            </p:nvSpPr>
            <p:spPr>
              <a:xfrm>
                <a:off x="2807804" y="4617132"/>
                <a:ext cx="3988656" cy="61760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77584F33-C81C-4D66-9E96-3FE102838EC5}"/>
                  </a:ext>
                </a:extLst>
              </p:cNvPr>
              <p:cNvSpPr/>
              <p:nvPr/>
            </p:nvSpPr>
            <p:spPr>
              <a:xfrm>
                <a:off x="1007604" y="5625244"/>
                <a:ext cx="7668852" cy="725070"/>
              </a:xfrm>
              <a:prstGeom prst="rect">
                <a:avLst/>
              </a:prstGeom>
            </p:spPr>
            <p:txBody>
              <a:bodyPr wrap="square">
                <a:spAutoFit/>
              </a:bodyPr>
              <a:lstStyle/>
              <a:p>
                <a:pPr marL="471170" lvl="1" indent="0">
                  <a:spcAft>
                    <a:spcPts val="600"/>
                  </a:spcAft>
                  <a:buNone/>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sSup>
                            <m:sSupPr>
                              <m:ctrlPr>
                                <a:rPr lang="en-US" altLang="zh-CN" i="1">
                                  <a:latin typeface="Cambria Math" panose="02040503050406030204" pitchFamily="18" charset="0"/>
                                </a:rPr>
                              </m:ctrlPr>
                            </m:sSupPr>
                            <m:e>
                              <m:r>
                                <a:rPr lang="zh-CN" altLang="en-US"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𝑓</m:t>
                          </m:r>
                        </m:num>
                        <m:den>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den>
                      </m:f>
                      <m:r>
                        <a:rPr lang="en-US" altLang="zh-CN" i="1">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smtClean="0">
                              <a:latin typeface="Cambria Math" panose="02040503050406030204" pitchFamily="18" charset="0"/>
                              <a:ea typeface="Cambria Math" panose="02040503050406030204" pitchFamily="18" charset="0"/>
                            </a:rPr>
                            <m:t>𝑥</m:t>
                          </m:r>
                        </m:sub>
                      </m:sSub>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+0.5</m:t>
                          </m:r>
                        </m:e>
                      </m:d>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a:latin typeface="Cambria Math" panose="02040503050406030204" pitchFamily="18" charset="0"/>
                              <a:ea typeface="Cambria Math" panose="02040503050406030204" pitchFamily="18" charset="0"/>
                            </a:rPr>
                            <m:t>𝑥</m:t>
                          </m:r>
                        </m:sub>
                      </m:sSub>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−0.5</m:t>
                          </m:r>
                        </m:e>
                      </m:d>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𝑓</m:t>
                      </m:r>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+1,</m:t>
                          </m:r>
                          <m:r>
                            <a:rPr lang="en-US" altLang="zh-CN" i="1">
                              <a:latin typeface="Cambria Math" panose="02040503050406030204" pitchFamily="18" charset="0"/>
                              <a:ea typeface="Cambria Math" panose="02040503050406030204" pitchFamily="18" charset="0"/>
                            </a:rPr>
                            <m:t>𝑦</m:t>
                          </m:r>
                        </m:e>
                      </m:d>
                      <m:r>
                        <a:rPr lang="en-US" altLang="zh-CN" i="1">
                          <a:latin typeface="Cambria Math" panose="02040503050406030204" pitchFamily="18" charset="0"/>
                          <a:ea typeface="Cambria Math" panose="02040503050406030204" pitchFamily="18" charset="0"/>
                        </a:rPr>
                        <m:t>−2</m:t>
                      </m:r>
                      <m:r>
                        <a:rPr lang="en-US" altLang="zh-CN" i="1">
                          <a:latin typeface="Cambria Math" panose="02040503050406030204" pitchFamily="18" charset="0"/>
                          <a:ea typeface="Cambria Math" panose="02040503050406030204" pitchFamily="18" charset="0"/>
                        </a:rPr>
                        <m:t>𝑓</m:t>
                      </m:r>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e>
                      </m:d>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𝑓</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−1,</m:t>
                      </m:r>
                      <m:r>
                        <a:rPr lang="en-US" altLang="zh-CN" i="1">
                          <a:latin typeface="Cambria Math" panose="02040503050406030204" pitchFamily="18" charset="0"/>
                          <a:ea typeface="Cambria Math" panose="02040503050406030204" pitchFamily="18" charset="0"/>
                        </a:rPr>
                        <m:t>𝑦</m:t>
                      </m:r>
                      <m:r>
                        <a:rPr lang="en-US" altLang="zh-CN" i="1">
                          <a:latin typeface="Cambria Math" panose="02040503050406030204" pitchFamily="18" charset="0"/>
                          <a:ea typeface="Cambria Math" panose="02040503050406030204" pitchFamily="18" charset="0"/>
                        </a:rPr>
                        <m:t>)</m:t>
                      </m:r>
                    </m:oMath>
                  </m:oMathPara>
                </a14:m>
                <a:endParaRPr lang="en-US" altLang="zh-CN" dirty="0"/>
              </a:p>
            </p:txBody>
          </p:sp>
        </mc:Choice>
        <mc:Fallback xmlns="">
          <p:sp>
            <p:nvSpPr>
              <p:cNvPr id="3" name="矩形 2">
                <a:extLst>
                  <a:ext uri="{FF2B5EF4-FFF2-40B4-BE49-F238E27FC236}">
                    <a16:creationId xmlns:a16="http://schemas.microsoft.com/office/drawing/2014/main" id="{77584F33-C81C-4D66-9E96-3FE102838EC5}"/>
                  </a:ext>
                </a:extLst>
              </p:cNvPr>
              <p:cNvSpPr>
                <a:spLocks noRot="1" noChangeAspect="1" noMove="1" noResize="1" noEditPoints="1" noAdjustHandles="1" noChangeArrowheads="1" noChangeShapeType="1" noTextEdit="1"/>
              </p:cNvSpPr>
              <p:nvPr/>
            </p:nvSpPr>
            <p:spPr>
              <a:xfrm>
                <a:off x="1007604" y="5625244"/>
                <a:ext cx="7668852" cy="725070"/>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solidFill>
                  <a:schemeClr val="tx1"/>
                </a:solidFill>
                <a:sym typeface="Wingdings" panose="05000000000000000000" pitchFamily="2" charset="2"/>
              </a:rPr>
              <a:t>空域锐化</a:t>
            </a:r>
            <a:endParaRPr lang="zh-CN" altLang="en-US" dirty="0"/>
          </a:p>
        </p:txBody>
      </p:sp>
      <p:sp>
        <p:nvSpPr>
          <p:cNvPr id="4" name="灯片编号占位符 3"/>
          <p:cNvSpPr>
            <a:spLocks noGrp="1"/>
          </p:cNvSpPr>
          <p:nvPr>
            <p:ph type="sldNum" sz="quarter" idx="12"/>
          </p:nvPr>
        </p:nvSpPr>
        <p:spPr/>
        <p:txBody>
          <a:bodyPr/>
          <a:lstStyle/>
          <a:p>
            <a:pPr>
              <a:defRPr/>
            </a:pPr>
            <a:fld id="{BE59E6E9-16BB-4D46-A8D6-97CC594B8C57}" type="slidenum">
              <a:rPr lang="en-US" altLang="zh-CN" smtClean="0"/>
              <a:pPr>
                <a:defRPr/>
              </a:pPr>
              <a:t>46</a:t>
            </a:fld>
            <a:endParaRPr lang="en-US" altLang="zh-CN"/>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4" y="1373324"/>
            <a:ext cx="5617505" cy="5354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8930" y="1520788"/>
            <a:ext cx="1548172" cy="3891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123525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Grp="1" noChangeArrowheads="1"/>
          </p:cNvSpPr>
          <p:nvPr>
            <p:ph type="title"/>
          </p:nvPr>
        </p:nvSpPr>
        <p:spPr/>
        <p:txBody>
          <a:bodyPr vert="horz" wrap="square" lIns="91440" tIns="45720" rIns="91440" bIns="45720" numCol="1" anchor="b" anchorCtr="0" compatLnSpc="1"/>
          <a:lstStyle/>
          <a:p>
            <a:pPr lvl="0">
              <a:defRPr/>
            </a:pPr>
            <a:r>
              <a:rPr lang="zh-CN" altLang="en-US" sz="3600" dirty="0"/>
              <a:t>一阶微分锐化图像</a:t>
            </a:r>
            <a:endParaRPr kumimoji="1" lang="zh-CN" altLang="en-US" sz="3600" i="0" u="none" strike="noStrike" kern="0" cap="none" spc="0" normalizeH="0" baseline="0" noProof="0" dirty="0">
              <a:ln>
                <a:noFill/>
              </a:ln>
              <a:solidFill>
                <a:schemeClr val="tx2"/>
              </a:solidFill>
              <a:effectLst/>
              <a:uLnTx/>
              <a:uFillTx/>
              <a:latin typeface="+mj-ea"/>
              <a:ea typeface="+mj-ea"/>
              <a:cs typeface="Arial" panose="020B0604020202020204" pitchFamily="34" charset="0"/>
            </a:endParaRPr>
          </a:p>
        </p:txBody>
      </p:sp>
      <p:sp>
        <p:nvSpPr>
          <p:cNvPr id="3379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25000"/>
              </a:lnSpc>
              <a:spcBef>
                <a:spcPct val="20000"/>
              </a:spcBef>
              <a:spcAft>
                <a:spcPct val="0"/>
              </a:spcAft>
              <a:buClr>
                <a:srgbClr val="3399FF"/>
              </a:buClr>
              <a:buSzTx/>
              <a:buFont typeface="Wingdings" panose="05000000000000000000" pitchFamily="2" charset="2"/>
              <a:buChar char="o"/>
              <a:defRPr/>
            </a:pPr>
            <a:r>
              <a:rPr kumimoji="1" lang="zh-CN" altLang="en-US" sz="28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分析表明微分可以</a:t>
            </a:r>
            <a:r>
              <a:rPr kumimoji="1" lang="zh-CN" altLang="en-US" sz="2800" b="1" i="0" u="none" strike="noStrike" kern="0" cap="none" spc="0" normalizeH="0" baseline="0" noProof="0" dirty="0">
                <a:ln>
                  <a:noFill/>
                </a:ln>
                <a:solidFill>
                  <a:srgbClr val="0070C0"/>
                </a:solidFill>
                <a:effectLst/>
                <a:uLnTx/>
                <a:uFillTx/>
                <a:latin typeface="Arial" panose="020B0604020202020204" pitchFamily="34" charset="0"/>
                <a:ea typeface="+mn-ea"/>
                <a:cs typeface="+mn-cs"/>
              </a:rPr>
              <a:t>突出高频成分</a:t>
            </a:r>
            <a:r>
              <a:rPr kumimoji="1" lang="zh-CN" altLang="en-US" sz="28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，从而使图象轮廓清晰。因此在空间域可用</a:t>
            </a:r>
            <a:r>
              <a:rPr kumimoji="1" lang="zh-CN" altLang="en-US" sz="2800" b="1" i="0" u="none" strike="noStrike" kern="0" cap="none" spc="0" normalizeH="0" baseline="0" noProof="0" dirty="0">
                <a:ln>
                  <a:noFill/>
                </a:ln>
                <a:solidFill>
                  <a:schemeClr val="tx1"/>
                </a:solidFill>
                <a:effectLst/>
                <a:uLnTx/>
                <a:uFillTx/>
                <a:latin typeface="Arial" panose="020B0604020202020204" pitchFamily="34" charset="0"/>
                <a:ea typeface="+mn-ea"/>
                <a:cs typeface="+mn-cs"/>
              </a:rPr>
              <a:t>微分法</a:t>
            </a:r>
            <a:r>
              <a:rPr kumimoji="1" lang="zh-CN" altLang="en-US" sz="28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锐化图象。</a:t>
            </a:r>
          </a:p>
          <a:p>
            <a:pPr marL="469900" marR="0" lvl="0" indent="-469900" algn="l" defTabSz="914400" rtl="0" eaLnBrk="1" fontAlgn="base" latinLnBrk="0" hangingPunct="1">
              <a:lnSpc>
                <a:spcPct val="125000"/>
              </a:lnSpc>
              <a:spcBef>
                <a:spcPct val="20000"/>
              </a:spcBef>
              <a:spcAft>
                <a:spcPct val="0"/>
              </a:spcAft>
              <a:buClr>
                <a:srgbClr val="3399FF"/>
              </a:buClr>
              <a:buSzTx/>
              <a:buFont typeface="Wingdings" panose="05000000000000000000" pitchFamily="2" charset="2"/>
              <a:buChar char="o"/>
              <a:defRPr/>
            </a:pPr>
            <a:r>
              <a:rPr kumimoji="1" lang="zh-CN" altLang="en-US" sz="28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图象处理中常用的微分方法是“梯度法”，即用梯度作为锐化图象的度量。</a:t>
            </a:r>
            <a:endParaRPr kumimoji="1" lang="en-US" altLang="zh-CN" sz="2800" b="0" i="0" u="none" strike="noStrike" kern="0" cap="none" spc="0" normalizeH="0" baseline="0" noProof="0" dirty="0">
              <a:ln>
                <a:noFill/>
              </a:ln>
              <a:solidFill>
                <a:schemeClr val="tx1"/>
              </a:solidFill>
              <a:effectLst/>
              <a:uLnTx/>
              <a:uFillTx/>
              <a:latin typeface="Arial" panose="020B0604020202020204" pitchFamily="34" charset="0"/>
              <a:ea typeface="+mn-ea"/>
              <a:cs typeface="+mn-cs"/>
            </a:endParaRPr>
          </a:p>
          <a:p>
            <a:pPr lvl="1" indent="-469900">
              <a:lnSpc>
                <a:spcPct val="125000"/>
              </a:lnSpc>
              <a:buFont typeface="Wingdings" panose="05000000000000000000" pitchFamily="2" charset="2"/>
              <a:buChar char="n"/>
              <a:defRPr/>
            </a:pPr>
            <a:r>
              <a:rPr kumimoji="1" lang="zh-CN" altLang="en-US" sz="24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对于数字图象，则用差分来表示梯度。 </a:t>
            </a:r>
          </a:p>
          <a:p>
            <a:pPr marL="469900" marR="0" lvl="0" indent="-469900" algn="l" defTabSz="914400" rtl="0" eaLnBrk="1" fontAlgn="base" latinLnBrk="0" hangingPunct="1">
              <a:lnSpc>
                <a:spcPct val="125000"/>
              </a:lnSpc>
              <a:spcBef>
                <a:spcPct val="20000"/>
              </a:spcBef>
              <a:spcAft>
                <a:spcPct val="0"/>
              </a:spcAft>
              <a:buClr>
                <a:srgbClr val="3399FF"/>
              </a:buClr>
              <a:buSzTx/>
              <a:buFont typeface="Wingdings" panose="05000000000000000000" pitchFamily="2" charset="2"/>
              <a:buChar char="o"/>
              <a:defRPr/>
            </a:pPr>
            <a:r>
              <a:rPr kumimoji="1" lang="zh-CN" altLang="en-US" sz="2800" b="0" i="0" u="none" strike="noStrike" kern="0" cap="none" spc="0" normalizeH="0" baseline="0" noProof="0" dirty="0">
                <a:ln>
                  <a:noFill/>
                </a:ln>
                <a:solidFill>
                  <a:schemeClr val="tx1"/>
                </a:solidFill>
                <a:effectLst/>
                <a:uLnTx/>
                <a:uFillTx/>
                <a:latin typeface="Arial" panose="020B0604020202020204" pitchFamily="34" charset="0"/>
                <a:ea typeface="+mn-ea"/>
                <a:cs typeface="+mn-cs"/>
              </a:rPr>
              <a:t>实际应用中，为了获得各向同性的度量，用梯度的模代替梯度。</a:t>
            </a:r>
          </a:p>
        </p:txBody>
      </p:sp>
      <p:sp>
        <p:nvSpPr>
          <p:cNvPr id="33796" name="灯片编号占位符 5"/>
          <p:cNvSpPr txBox="1">
            <a:spLocks noGrp="1"/>
          </p:cNvSpPr>
          <p:nvPr>
            <p:ph type="sldNum" sz="quarter" idx="4294967295"/>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00D43530-CE2A-4CF9-9BA0-542A9103F5E9}"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47</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115027655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lvl="0">
              <a:defRPr/>
            </a:pPr>
            <a:r>
              <a:rPr lang="zh-CN" altLang="en-US" sz="3600" dirty="0"/>
              <a:t>一阶微分锐化图像</a:t>
            </a:r>
            <a:endParaRPr kumimoji="1" lang="zh-CN" altLang="en-US" sz="3600" b="0" i="0" u="none" strike="noStrike" kern="0" cap="none" spc="0" normalizeH="0" baseline="0" noProof="0" dirty="0">
              <a:ln>
                <a:noFill/>
              </a:ln>
              <a:solidFill>
                <a:schemeClr val="tx2"/>
              </a:solidFill>
              <a:effectLst/>
              <a:uLnTx/>
              <a:uFillTx/>
              <a:latin typeface="Arial" panose="020B0604020202020204" pitchFamily="34" charset="0"/>
              <a:ea typeface="+mj-ea"/>
              <a:cs typeface="Arial" panose="020B0604020202020204" pitchFamily="34" charset="0"/>
            </a:endParaRPr>
          </a:p>
        </p:txBody>
      </p:sp>
      <p:sp>
        <p:nvSpPr>
          <p:cNvPr id="35842" name="Rectangle 2"/>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r>
              <a:rPr kumimoji="1" lang="zh-CN" altLang="en-US" sz="2800" b="0" i="0" u="none" strike="noStrike" kern="0" cap="none" spc="0" normalizeH="0" baseline="0" noProof="0" dirty="0">
                <a:ln>
                  <a:noFill/>
                </a:ln>
                <a:solidFill>
                  <a:schemeClr val="tx1"/>
                </a:solidFill>
                <a:effectLst/>
                <a:uLnTx/>
                <a:uFillTx/>
                <a:latin typeface="宋体" panose="02010600030101010101" pitchFamily="2" charset="-122"/>
                <a:ea typeface="+mn-ea"/>
                <a:cs typeface="+mn-cs"/>
              </a:rPr>
              <a:t>典型的差分运算，可表示为：</a:t>
            </a:r>
            <a:endParaRPr kumimoji="1" lang="en-US" altLang="zh-CN" sz="2800" b="0"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endParaRPr lang="en-US" altLang="zh-CN" sz="2800" dirty="0">
              <a:latin typeface="宋体" panose="02010600030101010101" pitchFamily="2" charset="-122"/>
            </a:endParaRPr>
          </a:p>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endParaRPr kumimoji="1" lang="en-US" altLang="zh-CN" sz="2800" b="0" i="0" u="none" strike="noStrike" kern="0" cap="none" spc="0" normalizeH="0" baseline="0" noProof="0" dirty="0">
              <a:ln>
                <a:noFill/>
              </a:ln>
              <a:solidFill>
                <a:schemeClr val="tx1"/>
              </a:solidFill>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100000"/>
              </a:lnSpc>
              <a:spcBef>
                <a:spcPct val="20000"/>
              </a:spcBef>
              <a:spcAft>
                <a:spcPct val="0"/>
              </a:spcAft>
              <a:buClr>
                <a:srgbClr val="3399FF"/>
              </a:buClr>
              <a:buSzTx/>
              <a:buFont typeface="Wingdings" panose="05000000000000000000" pitchFamily="2" charset="2"/>
              <a:buChar char="o"/>
              <a:defRPr/>
            </a:pPr>
            <a:endParaRPr lang="en-US" altLang="zh-CN" sz="2800" dirty="0">
              <a:latin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rgbClr val="3399FF"/>
              </a:buClr>
              <a:buSzTx/>
              <a:buNone/>
              <a:defRPr/>
            </a:pPr>
            <a:endParaRPr kumimoji="1" lang="zh-CN" altLang="en-US" sz="2800" b="0" i="0" u="none" strike="noStrike" kern="0" cap="none" spc="0" normalizeH="0" baseline="0" noProof="0" dirty="0">
              <a:ln>
                <a:noFill/>
              </a:ln>
              <a:solidFill>
                <a:schemeClr val="tx1"/>
              </a:solidFill>
              <a:effectLst/>
              <a:uLnTx/>
              <a:uFillTx/>
              <a:latin typeface="+mn-lt"/>
              <a:ea typeface="+mn-ea"/>
              <a:cs typeface="+mn-cs"/>
            </a:endParaRPr>
          </a:p>
        </p:txBody>
      </p:sp>
      <p:sp>
        <p:nvSpPr>
          <p:cNvPr id="35843" name="灯片编号占位符 5"/>
          <p:cNvSpPr txBox="1">
            <a:spLocks noGrp="1"/>
          </p:cNvSpPr>
          <p:nvPr>
            <p:ph type="sldNum" sz="quarter" idx="4294967295"/>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1E21E9DD-B937-4C90-AB51-905296B85853}"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48</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graphicFrame>
        <p:nvGraphicFramePr>
          <p:cNvPr id="41989" name="Object 4"/>
          <p:cNvGraphicFramePr>
            <a:graphicFrameLocks/>
          </p:cNvGraphicFramePr>
          <p:nvPr>
            <p:extLst>
              <p:ext uri="{D42A27DB-BD31-4B8C-83A1-F6EECF244321}">
                <p14:modId xmlns:p14="http://schemas.microsoft.com/office/powerpoint/2010/main" val="424756773"/>
              </p:ext>
            </p:extLst>
          </p:nvPr>
        </p:nvGraphicFramePr>
        <p:xfrm>
          <a:off x="574675" y="2168860"/>
          <a:ext cx="8064000" cy="592138"/>
        </p:xfrm>
        <a:graphic>
          <a:graphicData uri="http://schemas.openxmlformats.org/presentationml/2006/ole">
            <mc:AlternateContent xmlns:mc="http://schemas.openxmlformats.org/markup-compatibility/2006">
              <mc:Choice xmlns:v="urn:schemas-microsoft-com:vml" Requires="v">
                <p:oleObj spid="_x0000_s75066" r:id="rId3" imgW="3581400" imgH="254000" progId="">
                  <p:embed/>
                </p:oleObj>
              </mc:Choice>
              <mc:Fallback>
                <p:oleObj r:id="rId3" imgW="3581400" imgH="254000" progId="">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675" y="2168860"/>
                        <a:ext cx="8064000" cy="592138"/>
                      </a:xfrm>
                      <a:prstGeom prst="rect">
                        <a:avLst/>
                      </a:prstGeom>
                      <a:solidFill>
                        <a:srgbClr val="FFFFFF"/>
                      </a:solidFill>
                      <a:ln>
                        <a:noFill/>
                      </a:ln>
                    </p:spPr>
                  </p:pic>
                </p:oleObj>
              </mc:Fallback>
            </mc:AlternateContent>
          </a:graphicData>
        </a:graphic>
      </p:graphicFrame>
      <p:graphicFrame>
        <p:nvGraphicFramePr>
          <p:cNvPr id="41990" name="Object 5"/>
          <p:cNvGraphicFramePr>
            <a:graphicFrameLocks/>
          </p:cNvGraphicFramePr>
          <p:nvPr/>
        </p:nvGraphicFramePr>
        <p:xfrm>
          <a:off x="2122805" y="3269615"/>
          <a:ext cx="4236085" cy="2726690"/>
        </p:xfrm>
        <a:graphic>
          <a:graphicData uri="http://schemas.openxmlformats.org/presentationml/2006/ole">
            <mc:AlternateContent xmlns:mc="http://schemas.openxmlformats.org/markup-compatibility/2006">
              <mc:Choice xmlns:v="urn:schemas-microsoft-com:vml" Requires="v">
                <p:oleObj spid="_x0000_s75067" r:id="rId5" imgW="2741679" imgH="1828800" progId="Word.Picture.8">
                  <p:embed/>
                </p:oleObj>
              </mc:Choice>
              <mc:Fallback>
                <p:oleObj r:id="rId5" imgW="2741679" imgH="1828800" progId="Word.Picture.8">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2805" y="3269615"/>
                        <a:ext cx="4236085" cy="2726690"/>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6231593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50"/>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Arial" panose="020B0604020202020204" pitchFamily="34" charset="0"/>
                <a:ea typeface="+mj-ea"/>
                <a:cs typeface="Arial" panose="020B0604020202020204" pitchFamily="34" charset="0"/>
              </a:rPr>
              <a:t>梯度算子</a:t>
            </a:r>
          </a:p>
        </p:txBody>
      </p:sp>
      <p:sp>
        <p:nvSpPr>
          <p:cNvPr id="3686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o"/>
              <a:defRPr/>
            </a:pPr>
            <a:r>
              <a:rPr kumimoji="1" lang="en-US" altLang="zh-CN" sz="2800" i="0" u="none" strike="noStrike" kern="0" cap="none" spc="0" normalizeH="0" baseline="0" noProof="0" dirty="0">
                <a:ln>
                  <a:noFill/>
                </a:ln>
                <a:solidFill>
                  <a:schemeClr val="tx1"/>
                </a:solidFill>
                <a:effectLst/>
                <a:uLnTx/>
                <a:uFillTx/>
                <a:latin typeface="+mn-lt"/>
                <a:ea typeface="+mn-ea"/>
                <a:cs typeface="+mn-cs"/>
              </a:rPr>
              <a:t>Roberts</a:t>
            </a:r>
            <a:r>
              <a:rPr kumimoji="1" lang="zh-CN" altLang="en-US" sz="2800" i="0" u="none" strike="noStrike" kern="0" cap="none" spc="0" normalizeH="0" baseline="0" noProof="0" dirty="0">
                <a:ln>
                  <a:noFill/>
                </a:ln>
                <a:solidFill>
                  <a:schemeClr val="tx1"/>
                </a:solidFill>
                <a:effectLst/>
                <a:uLnTx/>
                <a:uFillTx/>
                <a:latin typeface="+mn-lt"/>
                <a:ea typeface="+mn-ea"/>
                <a:cs typeface="+mn-cs"/>
              </a:rPr>
              <a:t>算子</a:t>
            </a:r>
          </a:p>
          <a:p>
            <a:pPr marL="469900" marR="0" lvl="0" indent="-469900" algn="l"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o"/>
              <a:defRPr/>
            </a:pPr>
            <a:r>
              <a:rPr kumimoji="1" lang="en-US" altLang="zh-CN" sz="2800" i="0" u="none" strike="noStrike" kern="0" cap="none" spc="0" normalizeH="0" baseline="0" noProof="0" dirty="0">
                <a:ln>
                  <a:noFill/>
                </a:ln>
                <a:solidFill>
                  <a:schemeClr val="tx1"/>
                </a:solidFill>
                <a:effectLst/>
                <a:uLnTx/>
                <a:uFillTx/>
                <a:latin typeface="+mn-lt"/>
                <a:ea typeface="+mn-ea"/>
                <a:cs typeface="+mn-cs"/>
              </a:rPr>
              <a:t>Sobel</a:t>
            </a:r>
            <a:r>
              <a:rPr kumimoji="1" lang="zh-CN" altLang="en-US" sz="2800" i="0" u="none" strike="noStrike" kern="0" cap="none" spc="0" normalizeH="0" baseline="0" noProof="0" dirty="0">
                <a:ln>
                  <a:noFill/>
                </a:ln>
                <a:solidFill>
                  <a:schemeClr val="tx1"/>
                </a:solidFill>
                <a:effectLst/>
                <a:uLnTx/>
                <a:uFillTx/>
                <a:latin typeface="+mn-lt"/>
                <a:ea typeface="+mn-ea"/>
                <a:cs typeface="+mn-cs"/>
              </a:rPr>
              <a:t>算子</a:t>
            </a:r>
          </a:p>
          <a:p>
            <a:pPr marL="469900" marR="0" lvl="0" indent="-469900" algn="l"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o"/>
              <a:defRPr/>
            </a:pPr>
            <a:r>
              <a:rPr kumimoji="1" lang="en-US" altLang="zh-CN" sz="2800" i="0" u="none" strike="noStrike" kern="0" cap="none" spc="0" normalizeH="0" baseline="0" noProof="0" dirty="0">
                <a:ln>
                  <a:noFill/>
                </a:ln>
                <a:solidFill>
                  <a:schemeClr val="tx1"/>
                </a:solidFill>
                <a:effectLst/>
                <a:uLnTx/>
                <a:uFillTx/>
                <a:latin typeface="+mn-lt"/>
                <a:ea typeface="+mn-ea"/>
                <a:cs typeface="+mn-cs"/>
              </a:rPr>
              <a:t>Prewitt</a:t>
            </a:r>
            <a:r>
              <a:rPr kumimoji="1" lang="zh-CN" altLang="en-US" sz="2800" i="0" u="none" strike="noStrike" kern="0" cap="none" spc="0" normalizeH="0" baseline="0" noProof="0" dirty="0">
                <a:ln>
                  <a:noFill/>
                </a:ln>
                <a:solidFill>
                  <a:schemeClr val="tx1"/>
                </a:solidFill>
                <a:effectLst/>
                <a:uLnTx/>
                <a:uFillTx/>
                <a:latin typeface="+mn-lt"/>
                <a:ea typeface="+mn-ea"/>
                <a:cs typeface="+mn-cs"/>
              </a:rPr>
              <a:t>算子</a:t>
            </a:r>
          </a:p>
          <a:p>
            <a:pPr marL="469900" marR="0" lvl="0" indent="-469900" algn="l"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o"/>
              <a:defRPr/>
            </a:pPr>
            <a:r>
              <a:rPr kumimoji="1" lang="en-US" altLang="zh-CN" sz="2800" i="0" u="none" strike="noStrike" kern="0" cap="none" spc="0" normalizeH="0" baseline="0" noProof="0" dirty="0">
                <a:ln>
                  <a:noFill/>
                </a:ln>
                <a:solidFill>
                  <a:schemeClr val="tx1"/>
                </a:solidFill>
                <a:effectLst/>
                <a:uLnTx/>
                <a:uFillTx/>
                <a:latin typeface="+mn-lt"/>
                <a:ea typeface="+mn-ea"/>
                <a:cs typeface="+mn-cs"/>
              </a:rPr>
              <a:t>Kirsch</a:t>
            </a:r>
            <a:r>
              <a:rPr kumimoji="1" lang="zh-CN" altLang="en-US" sz="2800" i="0" u="none" strike="noStrike" kern="0" cap="none" spc="0" normalizeH="0" baseline="0" noProof="0" dirty="0">
                <a:ln>
                  <a:noFill/>
                </a:ln>
                <a:solidFill>
                  <a:schemeClr val="tx1"/>
                </a:solidFill>
                <a:effectLst/>
                <a:uLnTx/>
                <a:uFillTx/>
                <a:latin typeface="+mn-lt"/>
                <a:ea typeface="+mn-ea"/>
                <a:cs typeface="+mn-cs"/>
              </a:rPr>
              <a:t>算子</a:t>
            </a:r>
          </a:p>
        </p:txBody>
      </p:sp>
      <p:graphicFrame>
        <p:nvGraphicFramePr>
          <p:cNvPr id="51205" name="Group 5"/>
          <p:cNvGraphicFramePr>
            <a:graphicFrameLocks noGrp="1"/>
          </p:cNvGraphicFramePr>
          <p:nvPr/>
        </p:nvGraphicFramePr>
        <p:xfrm>
          <a:off x="5148263" y="1746250"/>
          <a:ext cx="1676400" cy="1524000"/>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1224" name="Group 24"/>
          <p:cNvGraphicFramePr>
            <a:graphicFrameLocks noGrp="1"/>
          </p:cNvGraphicFramePr>
          <p:nvPr/>
        </p:nvGraphicFramePr>
        <p:xfrm>
          <a:off x="7053263" y="1746250"/>
          <a:ext cx="1676400" cy="1524000"/>
        </p:xfrm>
        <a:graphic>
          <a:graphicData uri="http://schemas.openxmlformats.org/drawingml/2006/table">
            <a:tbl>
              <a:tblPr/>
              <a:tblGrid>
                <a:gridCol w="5588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tblGrid>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1243" name="Group 43"/>
          <p:cNvGraphicFramePr>
            <a:graphicFrameLocks noGrp="1"/>
          </p:cNvGraphicFramePr>
          <p:nvPr/>
        </p:nvGraphicFramePr>
        <p:xfrm>
          <a:off x="5153025" y="3498850"/>
          <a:ext cx="1676400" cy="1524000"/>
        </p:xfrm>
        <a:graphic>
          <a:graphicData uri="http://schemas.openxmlformats.org/drawingml/2006/table">
            <a:tbl>
              <a:tblPr/>
              <a:tblGrid>
                <a:gridCol w="5588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tblGrid>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1262" name="Group 62"/>
          <p:cNvGraphicFramePr>
            <a:graphicFrameLocks noGrp="1"/>
          </p:cNvGraphicFramePr>
          <p:nvPr/>
        </p:nvGraphicFramePr>
        <p:xfrm>
          <a:off x="7058025" y="3498850"/>
          <a:ext cx="1676400" cy="1524000"/>
        </p:xfrm>
        <a:graphic>
          <a:graphicData uri="http://schemas.openxmlformats.org/drawingml/2006/table">
            <a:tbl>
              <a:tblPr/>
              <a:tblGrid>
                <a:gridCol w="5588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tblGrid>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1281" name="Group 81"/>
          <p:cNvGraphicFramePr>
            <a:graphicFrameLocks noGrp="1"/>
          </p:cNvGraphicFramePr>
          <p:nvPr/>
        </p:nvGraphicFramePr>
        <p:xfrm>
          <a:off x="6748463" y="603250"/>
          <a:ext cx="990600" cy="91440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tblGrid>
              <a:tr h="381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1349" name="Group 149"/>
          <p:cNvGraphicFramePr>
            <a:graphicFrameLocks noGrp="1"/>
          </p:cNvGraphicFramePr>
          <p:nvPr/>
        </p:nvGraphicFramePr>
        <p:xfrm>
          <a:off x="5376863" y="603250"/>
          <a:ext cx="990600" cy="949325"/>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tblGrid>
              <a:tr h="492125">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88">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1307" name="Group 107"/>
          <p:cNvGraphicFramePr>
            <a:graphicFrameLocks noGrp="1"/>
          </p:cNvGraphicFramePr>
          <p:nvPr/>
        </p:nvGraphicFramePr>
        <p:xfrm>
          <a:off x="5148263" y="5251450"/>
          <a:ext cx="1676400" cy="1524000"/>
        </p:xfrm>
        <a:graphic>
          <a:graphicData uri="http://schemas.openxmlformats.org/drawingml/2006/table">
            <a:tbl>
              <a:tblPr/>
              <a:tblGrid>
                <a:gridCol w="5588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tblGrid>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1326" name="Group 126"/>
          <p:cNvGraphicFramePr>
            <a:graphicFrameLocks noGrp="1"/>
          </p:cNvGraphicFramePr>
          <p:nvPr/>
        </p:nvGraphicFramePr>
        <p:xfrm>
          <a:off x="7053263" y="5251450"/>
          <a:ext cx="1676400" cy="1524000"/>
        </p:xfrm>
        <a:graphic>
          <a:graphicData uri="http://schemas.openxmlformats.org/drawingml/2006/table">
            <a:tbl>
              <a:tblPr/>
              <a:tblGrid>
                <a:gridCol w="5588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tblGrid>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43152" name="Text Box 152"/>
          <p:cNvSpPr txBox="1"/>
          <p:nvPr/>
        </p:nvSpPr>
        <p:spPr>
          <a:xfrm>
            <a:off x="419930" y="4329100"/>
            <a:ext cx="4332089" cy="830997"/>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wrap="square">
            <a:spAutoFit/>
          </a:bodyPr>
          <a:lstStyle/>
          <a:p>
            <a:pPr marL="342900" indent="-342900">
              <a:spcBef>
                <a:spcPct val="50000"/>
              </a:spcBef>
              <a:buClr>
                <a:srgbClr val="0000FF"/>
              </a:buClr>
              <a:buFont typeface="Arial" panose="020B0604020202020204" pitchFamily="34" charset="0"/>
              <a:buChar char="•"/>
            </a:pPr>
            <a:r>
              <a:rPr lang="zh-CN" altLang="en-US" sz="2400" dirty="0"/>
              <a:t>模板中，所有系数之和为零，使灰度恒定区域的响应为零</a:t>
            </a:r>
            <a:endParaRPr lang="zh-CN" altLang="en-US" sz="2400" dirty="0">
              <a:latin typeface="Times New Roman" panose="02020603050405020304" charset="0"/>
            </a:endParaRPr>
          </a:p>
        </p:txBody>
      </p:sp>
      <p:sp>
        <p:nvSpPr>
          <p:cNvPr id="2" name="灯片编号占位符 1">
            <a:extLst>
              <a:ext uri="{FF2B5EF4-FFF2-40B4-BE49-F238E27FC236}">
                <a16:creationId xmlns:a16="http://schemas.microsoft.com/office/drawing/2014/main" id="{EA8BC0EF-452E-4B70-B56E-6D358871E4CB}"/>
              </a:ext>
            </a:extLst>
          </p:cNvPr>
          <p:cNvSpPr>
            <a:spLocks noGrp="1"/>
          </p:cNvSpPr>
          <p:nvPr>
            <p:ph type="sldNum" sz="quarter" idx="12"/>
          </p:nvPr>
        </p:nvSpPr>
        <p:spPr/>
        <p:txBody>
          <a:bodyPr/>
          <a:lstStyle/>
          <a:p>
            <a:pPr>
              <a:defRPr/>
            </a:pPr>
            <a:fld id="{BE59E6E9-16BB-4D46-A8D6-97CC594B8C57}" type="slidenum">
              <a:rPr lang="en-US" altLang="zh-CN" smtClean="0"/>
              <a:pPr>
                <a:defRPr/>
              </a:pPr>
              <a:t>49</a:t>
            </a:fld>
            <a:endParaRPr lang="en-US" altLang="zh-CN"/>
          </a:p>
        </p:txBody>
      </p:sp>
    </p:spTree>
    <p:extLst>
      <p:ext uri="{BB962C8B-B14F-4D97-AF65-F5344CB8AC3E}">
        <p14:creationId xmlns:p14="http://schemas.microsoft.com/office/powerpoint/2010/main" val="1168773607"/>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mj-lt"/>
                <a:ea typeface="+mj-ea"/>
                <a:cs typeface="+mj-cs"/>
              </a:rPr>
              <a:t>梯度算子</a:t>
            </a:r>
          </a:p>
        </p:txBody>
      </p:sp>
      <p:sp>
        <p:nvSpPr>
          <p:cNvPr id="37890" name="灯片编号占位符 3"/>
          <p:cNvSpPr txBox="1">
            <a:spLocks noGrp="1"/>
          </p:cNvSpPr>
          <p:nvPr>
            <p:ph type="sldNum" sz="quarter" idx="4294967295"/>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32F758E8-D017-44C8-A84C-FAFFE691F6A7}"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50</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sp>
        <p:nvSpPr>
          <p:cNvPr id="44036" name="Text Box 9"/>
          <p:cNvSpPr txBox="1"/>
          <p:nvPr/>
        </p:nvSpPr>
        <p:spPr>
          <a:xfrm>
            <a:off x="623253" y="1844675"/>
            <a:ext cx="613410" cy="1079500"/>
          </a:xfrm>
          <a:prstGeom prst="rect">
            <a:avLst/>
          </a:prstGeom>
          <a:noFill/>
          <a:ln w="9525">
            <a:noFill/>
          </a:ln>
        </p:spPr>
        <p:txBody>
          <a:bodyPr vert="eaVert">
            <a:spAutoFit/>
          </a:bodyPr>
          <a:lstStyle/>
          <a:p>
            <a:pPr indent="0" eaLnBrk="1" hangingPunct="1">
              <a:spcBef>
                <a:spcPct val="50000"/>
              </a:spcBef>
              <a:buNone/>
            </a:pPr>
            <a:r>
              <a:rPr lang="zh-CN" altLang="en-US" sz="2800" dirty="0">
                <a:latin typeface="Times New Roman" panose="02020603050405020304" charset="0"/>
              </a:rPr>
              <a:t>原图</a:t>
            </a:r>
          </a:p>
        </p:txBody>
      </p:sp>
      <p:pic>
        <p:nvPicPr>
          <p:cNvPr id="44037" name="Picture 13"/>
          <p:cNvPicPr>
            <a:picLocks noChangeAspect="1"/>
          </p:cNvPicPr>
          <p:nvPr/>
        </p:nvPicPr>
        <p:blipFill>
          <a:blip r:embed="rId2"/>
          <a:stretch>
            <a:fillRect/>
          </a:stretch>
        </p:blipFill>
        <p:spPr>
          <a:xfrm>
            <a:off x="1430938" y="1504950"/>
            <a:ext cx="6276975" cy="4743450"/>
          </a:xfrm>
          <a:prstGeom prst="rect">
            <a:avLst/>
          </a:prstGeom>
          <a:noFill/>
          <a:ln w="9525">
            <a:noFill/>
          </a:ln>
        </p:spPr>
      </p:pic>
      <p:sp>
        <p:nvSpPr>
          <p:cNvPr id="44038" name="Text Box 14"/>
          <p:cNvSpPr txBox="1"/>
          <p:nvPr/>
        </p:nvSpPr>
        <p:spPr>
          <a:xfrm>
            <a:off x="7882255" y="2125028"/>
            <a:ext cx="865188" cy="461665"/>
          </a:xfrm>
          <a:prstGeom prst="rect">
            <a:avLst/>
          </a:prstGeom>
          <a:noFill/>
          <a:ln w="9525">
            <a:noFill/>
          </a:ln>
        </p:spPr>
        <p:txBody>
          <a:bodyPr>
            <a:spAutoFit/>
          </a:bodyPr>
          <a:lstStyle/>
          <a:p>
            <a:pPr indent="0" eaLnBrk="1" hangingPunct="1">
              <a:spcBef>
                <a:spcPct val="50000"/>
              </a:spcBef>
              <a:buNone/>
            </a:pPr>
            <a:r>
              <a:rPr lang="en-US" altLang="zh-CN" sz="2400" dirty="0">
                <a:latin typeface="Times New Roman" panose="02020603050405020304" charset="0"/>
              </a:rPr>
              <a:t>|Gy|</a:t>
            </a:r>
          </a:p>
        </p:txBody>
      </p:sp>
      <p:sp>
        <p:nvSpPr>
          <p:cNvPr id="44039" name="Text Box 15"/>
          <p:cNvSpPr txBox="1"/>
          <p:nvPr/>
        </p:nvSpPr>
        <p:spPr>
          <a:xfrm>
            <a:off x="574675" y="4433253"/>
            <a:ext cx="865188" cy="461665"/>
          </a:xfrm>
          <a:prstGeom prst="rect">
            <a:avLst/>
          </a:prstGeom>
          <a:noFill/>
          <a:ln w="9525">
            <a:noFill/>
          </a:ln>
        </p:spPr>
        <p:txBody>
          <a:bodyPr>
            <a:spAutoFit/>
          </a:bodyPr>
          <a:lstStyle/>
          <a:p>
            <a:pPr indent="0" eaLnBrk="1" hangingPunct="1">
              <a:spcBef>
                <a:spcPct val="50000"/>
              </a:spcBef>
              <a:buNone/>
            </a:pPr>
            <a:r>
              <a:rPr lang="en-US" altLang="zh-CN" sz="2400" dirty="0">
                <a:latin typeface="Times New Roman" panose="02020603050405020304" charset="0"/>
              </a:rPr>
              <a:t>|Gx|</a:t>
            </a:r>
          </a:p>
        </p:txBody>
      </p:sp>
      <p:sp>
        <p:nvSpPr>
          <p:cNvPr id="44040" name="Text Box 16"/>
          <p:cNvSpPr txBox="1"/>
          <p:nvPr/>
        </p:nvSpPr>
        <p:spPr>
          <a:xfrm>
            <a:off x="7881938" y="4322128"/>
            <a:ext cx="790575" cy="1384995"/>
          </a:xfrm>
          <a:prstGeom prst="rect">
            <a:avLst/>
          </a:prstGeom>
          <a:noFill/>
          <a:ln w="9525">
            <a:noFill/>
          </a:ln>
        </p:spPr>
        <p:txBody>
          <a:bodyPr>
            <a:spAutoFit/>
          </a:bodyPr>
          <a:lstStyle/>
          <a:p>
            <a:pPr indent="0" eaLnBrk="1" hangingPunct="1">
              <a:spcBef>
                <a:spcPct val="50000"/>
              </a:spcBef>
              <a:buNone/>
            </a:pPr>
            <a:r>
              <a:rPr lang="en-US" altLang="zh-CN" sz="2400" dirty="0">
                <a:latin typeface="Times New Roman" panose="02020603050405020304" charset="0"/>
              </a:rPr>
              <a:t>|Gx|</a:t>
            </a:r>
          </a:p>
          <a:p>
            <a:pPr indent="0" eaLnBrk="1" hangingPunct="1">
              <a:spcBef>
                <a:spcPct val="50000"/>
              </a:spcBef>
              <a:buNone/>
            </a:pPr>
            <a:r>
              <a:rPr lang="en-US" altLang="zh-CN" sz="2400" dirty="0">
                <a:latin typeface="Times New Roman" panose="02020603050405020304" charset="0"/>
              </a:rPr>
              <a:t> + |Gy|</a:t>
            </a:r>
          </a:p>
        </p:txBody>
      </p:sp>
    </p:spTree>
    <p:extLst>
      <p:ext uri="{BB962C8B-B14F-4D97-AF65-F5344CB8AC3E}">
        <p14:creationId xmlns:p14="http://schemas.microsoft.com/office/powerpoint/2010/main" val="285301206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sz="4000" dirty="0">
                <a:latin typeface="Arial" panose="020B0604020202020204" pitchFamily="34" charset="0"/>
                <a:cs typeface="Arial" panose="020B0604020202020204" pitchFamily="34" charset="0"/>
              </a:rPr>
              <a:t>一阶微分锐化图像</a:t>
            </a:r>
            <a:endParaRPr lang="zh-CN" altLang="en-US" dirty="0"/>
          </a:p>
        </p:txBody>
      </p:sp>
      <p:sp>
        <p:nvSpPr>
          <p:cNvPr id="2" name="内容占位符 1"/>
          <p:cNvSpPr>
            <a:spLocks noGrp="1"/>
          </p:cNvSpPr>
          <p:nvPr>
            <p:ph idx="1"/>
          </p:nvPr>
        </p:nvSpPr>
        <p:spPr/>
        <p:txBody>
          <a:bodyPr/>
          <a:lstStyle/>
          <a:p>
            <a:r>
              <a:rPr lang="zh-CN" altLang="en-US" dirty="0"/>
              <a:t>基于</a:t>
            </a:r>
            <a:r>
              <a:rPr lang="en-US" altLang="zh-CN" dirty="0"/>
              <a:t>Sobel</a:t>
            </a:r>
            <a:r>
              <a:rPr lang="zh-CN" altLang="en-US" dirty="0"/>
              <a:t>算子的一阶锐化</a:t>
            </a:r>
            <a:endParaRPr lang="en-US" altLang="zh-CN" dirty="0"/>
          </a:p>
          <a:p>
            <a:pPr lvl="1"/>
            <a:r>
              <a:rPr lang="zh-CN" altLang="en-US" dirty="0"/>
              <a:t>对图象施加了平滑和差分操作</a:t>
            </a:r>
          </a:p>
        </p:txBody>
      </p:sp>
      <p:sp>
        <p:nvSpPr>
          <p:cNvPr id="4" name="灯片编号占位符 3"/>
          <p:cNvSpPr>
            <a:spLocks noGrp="1"/>
          </p:cNvSpPr>
          <p:nvPr>
            <p:ph type="sldNum" sz="quarter" idx="12"/>
          </p:nvPr>
        </p:nvSpPr>
        <p:spPr/>
        <p:txBody>
          <a:bodyPr/>
          <a:lstStyle/>
          <a:p>
            <a:pPr>
              <a:defRPr/>
            </a:pPr>
            <a:fld id="{BE59E6E9-16BB-4D46-A8D6-97CC594B8C57}" type="slidenum">
              <a:rPr lang="en-US" altLang="zh-CN" smtClean="0"/>
              <a:pPr>
                <a:defRPr/>
              </a:pPr>
              <a:t>51</a:t>
            </a:fld>
            <a:endParaRPr lang="en-US" altLang="zh-CN"/>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7604" y="3753036"/>
            <a:ext cx="6091238" cy="301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0965" y="3816710"/>
            <a:ext cx="927100"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Group 5"/>
          <p:cNvGraphicFramePr>
            <a:graphicFrameLocks noGrp="1"/>
          </p:cNvGraphicFramePr>
          <p:nvPr>
            <p:extLst>
              <p:ext uri="{D42A27DB-BD31-4B8C-83A1-F6EECF244321}">
                <p14:modId xmlns:p14="http://schemas.microsoft.com/office/powerpoint/2010/main" val="1070553741"/>
              </p:ext>
            </p:extLst>
          </p:nvPr>
        </p:nvGraphicFramePr>
        <p:xfrm>
          <a:off x="5184068" y="1948774"/>
          <a:ext cx="1676400" cy="1524000"/>
        </p:xfrm>
        <a:graphic>
          <a:graphicData uri="http://schemas.openxmlformats.org/drawingml/2006/table">
            <a:tbl>
              <a:tblPr/>
              <a:tblGrid>
                <a:gridCol w="609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7" name="Group 24"/>
          <p:cNvGraphicFramePr>
            <a:graphicFrameLocks noGrp="1"/>
          </p:cNvGraphicFramePr>
          <p:nvPr>
            <p:extLst>
              <p:ext uri="{D42A27DB-BD31-4B8C-83A1-F6EECF244321}">
                <p14:modId xmlns:p14="http://schemas.microsoft.com/office/powerpoint/2010/main" val="2975569887"/>
              </p:ext>
            </p:extLst>
          </p:nvPr>
        </p:nvGraphicFramePr>
        <p:xfrm>
          <a:off x="7089068" y="1948774"/>
          <a:ext cx="1676400" cy="1524000"/>
        </p:xfrm>
        <a:graphic>
          <a:graphicData uri="http://schemas.openxmlformats.org/drawingml/2006/table">
            <a:tbl>
              <a:tblPr/>
              <a:tblGrid>
                <a:gridCol w="5588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tblGrid>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1800" b="0" i="0" u="none" strike="noStrike" cap="none" normalizeH="0" baseline="0">
                          <a:ln>
                            <a:noFill/>
                          </a:ln>
                          <a:solidFill>
                            <a:schemeClr val="tx1"/>
                          </a:solidFill>
                          <a:effectLst/>
                          <a:latin typeface="Times New Roman" panose="02020603050405020304"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1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7709739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mj-lt"/>
                <a:ea typeface="+mj-ea"/>
                <a:cs typeface="+mj-cs"/>
              </a:rPr>
              <a:t>拉普拉斯算子</a:t>
            </a: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566738" y="1341438"/>
                <a:ext cx="8541766" cy="4967287"/>
              </a:xfrm>
            </p:spPr>
            <p:txBody>
              <a:bodyPr/>
              <a:lstStyle/>
              <a:p>
                <a:r>
                  <a:rPr lang="zh-CN" altLang="en-US" dirty="0">
                    <a:latin typeface="Times New Roman" panose="02020603050405020304" charset="0"/>
                  </a:rPr>
                  <a:t>图像函数</a:t>
                </a:r>
                <a:r>
                  <a:rPr lang="en-US" altLang="zh-CN" dirty="0">
                    <a:latin typeface="Times New Roman" panose="02020603050405020304" charset="0"/>
                  </a:rPr>
                  <a:t>f(x, y)</a:t>
                </a:r>
                <a:r>
                  <a:rPr lang="zh-CN" altLang="en-US" dirty="0">
                    <a:latin typeface="Times New Roman" panose="02020603050405020304" charset="0"/>
                  </a:rPr>
                  <a:t>的拉普拉斯变换定义为</a:t>
                </a:r>
              </a:p>
              <a:p>
                <a:endParaRPr lang="en-US" altLang="zh-CN" dirty="0"/>
              </a:p>
              <a:p>
                <a:endParaRPr lang="en-US" altLang="zh-CN" dirty="0"/>
              </a:p>
              <a:p>
                <a:r>
                  <a:rPr lang="zh-CN" altLang="en-US" dirty="0">
                    <a:latin typeface="Arial" panose="020B0604020202020204" pitchFamily="34" charset="0"/>
                  </a:rPr>
                  <a:t>几种常用的拉普拉斯算子模板：</a:t>
                </a:r>
                <a:endParaRPr lang="zh-CN" altLang="en-US" dirty="0">
                  <a:latin typeface="Times New Roman" panose="02020603050405020304" charset="0"/>
                </a:endParaRPr>
              </a:p>
              <a:p>
                <a:pPr lvl="1">
                  <a:spcAft>
                    <a:spcPts val="600"/>
                  </a:spcAft>
                </a:pPr>
                <a:r>
                  <a:rPr lang="zh-CN" altLang="en-US" dirty="0"/>
                  <a:t>如何基于上面定义，得到下面模板形式？</a:t>
                </a:r>
                <a:endParaRPr lang="en-US" altLang="zh-CN" dirty="0"/>
              </a:p>
              <a:p>
                <a:pPr marL="471170" lvl="1" indent="0">
                  <a:spcAft>
                    <a:spcPts val="600"/>
                  </a:spcAft>
                  <a:buNone/>
                </a:pPr>
                <a14:m>
                  <m:oMathPara xmlns:m="http://schemas.openxmlformats.org/officeDocument/2006/math">
                    <m:oMathParaPr>
                      <m:jc m:val="centerGroup"/>
                    </m:oMathParaPr>
                    <m:oMath xmlns:m="http://schemas.openxmlformats.org/officeDocument/2006/math">
                      <m:f>
                        <m:fPr>
                          <m:ctrlPr>
                            <a:rPr lang="en-US" altLang="zh-CN" sz="1800" i="1" smtClean="0">
                              <a:latin typeface="Cambria Math" panose="02040503050406030204" pitchFamily="18" charset="0"/>
                            </a:rPr>
                          </m:ctrlPr>
                        </m:fPr>
                        <m:num>
                          <m:sSup>
                            <m:sSupPr>
                              <m:ctrlPr>
                                <a:rPr lang="en-US" altLang="zh-CN" sz="1800" i="1" smtClean="0">
                                  <a:latin typeface="Cambria Math" panose="02040503050406030204" pitchFamily="18" charset="0"/>
                                </a:rPr>
                              </m:ctrlPr>
                            </m:sSupPr>
                            <m:e>
                              <m:r>
                                <a:rPr lang="zh-CN" altLang="en-US" sz="1800" i="1">
                                  <a:latin typeface="Cambria Math" panose="02040503050406030204" pitchFamily="18" charset="0"/>
                                </a:rPr>
                                <m:t>𝜕</m:t>
                              </m:r>
                            </m:e>
                            <m:sup>
                              <m:r>
                                <a:rPr lang="en-US" altLang="zh-CN" sz="1800" b="0" i="1" smtClean="0">
                                  <a:latin typeface="Cambria Math" panose="02040503050406030204" pitchFamily="18" charset="0"/>
                                </a:rPr>
                                <m:t>2</m:t>
                              </m:r>
                            </m:sup>
                          </m:sSup>
                          <m:r>
                            <a:rPr lang="en-US" altLang="zh-CN" sz="1800" b="0" i="1" smtClean="0">
                              <a:latin typeface="Cambria Math" panose="02040503050406030204" pitchFamily="18" charset="0"/>
                            </a:rPr>
                            <m:t>𝑓</m:t>
                          </m:r>
                        </m:num>
                        <m:den>
                          <m:r>
                            <a:rPr lang="zh-CN" altLang="en-US" sz="1800" i="1" smtClean="0">
                              <a:latin typeface="Cambria Math" panose="02040503050406030204" pitchFamily="18" charset="0"/>
                            </a:rPr>
                            <m:t>𝜕</m:t>
                          </m:r>
                          <m:sSup>
                            <m:sSupPr>
                              <m:ctrlPr>
                                <a:rPr lang="en-US" altLang="zh-CN" sz="1800" i="1" smtClean="0">
                                  <a:latin typeface="Cambria Math" panose="02040503050406030204" pitchFamily="18" charset="0"/>
                                </a:rPr>
                              </m:ctrlPr>
                            </m:sSupPr>
                            <m:e>
                              <m:r>
                                <a:rPr lang="en-US" altLang="zh-CN" sz="1800" b="0" i="1" smtClean="0">
                                  <a:latin typeface="Cambria Math" panose="02040503050406030204" pitchFamily="18" charset="0"/>
                                </a:rPr>
                                <m:t>𝑥</m:t>
                              </m:r>
                            </m:e>
                            <m:sup>
                              <m:r>
                                <a:rPr lang="en-US" altLang="zh-CN" sz="1800" b="0" i="1" smtClean="0">
                                  <a:latin typeface="Cambria Math" panose="02040503050406030204" pitchFamily="18" charset="0"/>
                                </a:rPr>
                                <m:t>2</m:t>
                              </m:r>
                            </m:sup>
                          </m:sSup>
                        </m:den>
                      </m:f>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𝑓</m:t>
                          </m:r>
                        </m:e>
                        <m:sub>
                          <m:r>
                            <a:rPr lang="en-US" altLang="zh-CN" sz="1800" i="1">
                              <a:latin typeface="Cambria Math" panose="02040503050406030204" pitchFamily="18" charset="0"/>
                              <a:ea typeface="Cambria Math" panose="02040503050406030204" pitchFamily="18" charset="0"/>
                            </a:rPr>
                            <m:t>𝑥</m:t>
                          </m:r>
                        </m:sub>
                      </m:sSub>
                      <m:d>
                        <m:dPr>
                          <m:ctrlPr>
                            <a:rPr lang="en-US" altLang="zh-CN" sz="1800" i="1">
                              <a:latin typeface="Cambria Math" panose="02040503050406030204" pitchFamily="18" charset="0"/>
                              <a:ea typeface="Cambria Math" panose="02040503050406030204" pitchFamily="18" charset="0"/>
                            </a:rPr>
                          </m:ctrlPr>
                        </m:dPr>
                        <m:e>
                          <m:r>
                            <a:rPr lang="en-US" altLang="zh-CN" sz="1800" i="1">
                              <a:latin typeface="Cambria Math" panose="02040503050406030204" pitchFamily="18" charset="0"/>
                              <a:ea typeface="Cambria Math" panose="02040503050406030204" pitchFamily="18" charset="0"/>
                            </a:rPr>
                            <m:t>𝑥</m:t>
                          </m:r>
                          <m:r>
                            <a:rPr lang="en-US" altLang="zh-CN" sz="1800" i="1">
                              <a:latin typeface="Cambria Math" panose="02040503050406030204" pitchFamily="18" charset="0"/>
                              <a:ea typeface="Cambria Math" panose="02040503050406030204" pitchFamily="18" charset="0"/>
                            </a:rPr>
                            <m:t>+0.5,</m:t>
                          </m:r>
                          <m:r>
                            <a:rPr lang="en-US" altLang="zh-CN" sz="1800" b="0" i="1" smtClean="0">
                              <a:latin typeface="Cambria Math" panose="02040503050406030204" pitchFamily="18" charset="0"/>
                              <a:ea typeface="Cambria Math" panose="02040503050406030204" pitchFamily="18" charset="0"/>
                            </a:rPr>
                            <m:t>𝑦</m:t>
                          </m:r>
                        </m:e>
                      </m:d>
                      <m:r>
                        <a:rPr lang="en-US" altLang="zh-CN" sz="1800" b="0" i="1" smtClean="0">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𝑓</m:t>
                          </m:r>
                        </m:e>
                        <m:sub>
                          <m:r>
                            <a:rPr lang="en-US" altLang="zh-CN" sz="1800" i="1">
                              <a:latin typeface="Cambria Math" panose="02040503050406030204" pitchFamily="18" charset="0"/>
                              <a:ea typeface="Cambria Math" panose="02040503050406030204" pitchFamily="18" charset="0"/>
                            </a:rPr>
                            <m:t>𝑥</m:t>
                          </m:r>
                        </m:sub>
                      </m:sSub>
                      <m:d>
                        <m:dPr>
                          <m:ctrlPr>
                            <a:rPr lang="en-US" altLang="zh-CN" sz="1800" b="0" i="1" smtClean="0">
                              <a:latin typeface="Cambria Math" panose="02040503050406030204" pitchFamily="18" charset="0"/>
                              <a:ea typeface="Cambria Math" panose="02040503050406030204" pitchFamily="18" charset="0"/>
                            </a:rPr>
                          </m:ctrlPr>
                        </m:dPr>
                        <m:e>
                          <m:r>
                            <a:rPr lang="en-US" altLang="zh-CN" sz="1800" b="0" i="1" smtClean="0">
                              <a:latin typeface="Cambria Math" panose="02040503050406030204" pitchFamily="18" charset="0"/>
                              <a:ea typeface="Cambria Math" panose="02040503050406030204" pitchFamily="18" charset="0"/>
                            </a:rPr>
                            <m:t>𝑥</m:t>
                          </m:r>
                          <m:r>
                            <a:rPr lang="en-US" altLang="zh-CN" sz="1800" b="0" i="1" smtClean="0">
                              <a:latin typeface="Cambria Math" panose="02040503050406030204" pitchFamily="18" charset="0"/>
                              <a:ea typeface="Cambria Math" panose="02040503050406030204" pitchFamily="18" charset="0"/>
                            </a:rPr>
                            <m:t>−0.5,</m:t>
                          </m:r>
                          <m:r>
                            <a:rPr lang="en-US" altLang="zh-CN" sz="1800" b="0" i="1" smtClean="0">
                              <a:latin typeface="Cambria Math" panose="02040503050406030204" pitchFamily="18" charset="0"/>
                              <a:ea typeface="Cambria Math" panose="02040503050406030204" pitchFamily="18" charset="0"/>
                            </a:rPr>
                            <m:t>𝑦</m:t>
                          </m:r>
                        </m:e>
                      </m:d>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𝑓</m:t>
                      </m:r>
                      <m:d>
                        <m:dPr>
                          <m:ctrlPr>
                            <a:rPr lang="en-US" altLang="zh-CN" sz="1800" b="0" i="1" smtClean="0">
                              <a:latin typeface="Cambria Math" panose="02040503050406030204" pitchFamily="18" charset="0"/>
                              <a:ea typeface="Cambria Math" panose="02040503050406030204" pitchFamily="18" charset="0"/>
                            </a:rPr>
                          </m:ctrlPr>
                        </m:dPr>
                        <m:e>
                          <m:r>
                            <a:rPr lang="en-US" altLang="zh-CN" sz="1800" b="0" i="1" smtClean="0">
                              <a:latin typeface="Cambria Math" panose="02040503050406030204" pitchFamily="18" charset="0"/>
                              <a:ea typeface="Cambria Math" panose="02040503050406030204" pitchFamily="18" charset="0"/>
                            </a:rPr>
                            <m:t>𝑥</m:t>
                          </m:r>
                          <m:r>
                            <a:rPr lang="en-US" altLang="zh-CN" sz="1800" b="0" i="1" smtClean="0">
                              <a:latin typeface="Cambria Math" panose="02040503050406030204" pitchFamily="18" charset="0"/>
                              <a:ea typeface="Cambria Math" panose="02040503050406030204" pitchFamily="18" charset="0"/>
                            </a:rPr>
                            <m:t>+1,</m:t>
                          </m:r>
                          <m:r>
                            <a:rPr lang="en-US" altLang="zh-CN" sz="1800" b="0" i="1" smtClean="0">
                              <a:latin typeface="Cambria Math" panose="02040503050406030204" pitchFamily="18" charset="0"/>
                              <a:ea typeface="Cambria Math" panose="02040503050406030204" pitchFamily="18" charset="0"/>
                            </a:rPr>
                            <m:t>𝑦</m:t>
                          </m:r>
                        </m:e>
                      </m:d>
                      <m:r>
                        <a:rPr lang="en-US" altLang="zh-CN" sz="1800" b="0" i="1" smtClean="0">
                          <a:latin typeface="Cambria Math" panose="02040503050406030204" pitchFamily="18" charset="0"/>
                          <a:ea typeface="Cambria Math" panose="02040503050406030204" pitchFamily="18" charset="0"/>
                        </a:rPr>
                        <m:t>−2</m:t>
                      </m:r>
                      <m:r>
                        <a:rPr lang="en-US" altLang="zh-CN" sz="1800" b="0" i="1" smtClean="0">
                          <a:latin typeface="Cambria Math" panose="02040503050406030204" pitchFamily="18" charset="0"/>
                          <a:ea typeface="Cambria Math" panose="02040503050406030204" pitchFamily="18" charset="0"/>
                        </a:rPr>
                        <m:t>𝑓</m:t>
                      </m:r>
                      <m:d>
                        <m:dPr>
                          <m:ctrlPr>
                            <a:rPr lang="en-US" altLang="zh-CN" sz="1800" b="0" i="1" smtClean="0">
                              <a:latin typeface="Cambria Math" panose="02040503050406030204" pitchFamily="18" charset="0"/>
                              <a:ea typeface="Cambria Math" panose="02040503050406030204" pitchFamily="18" charset="0"/>
                            </a:rPr>
                          </m:ctrlPr>
                        </m:dPr>
                        <m:e>
                          <m:r>
                            <a:rPr lang="en-US" altLang="zh-CN" sz="1800" b="0" i="1" smtClean="0">
                              <a:latin typeface="Cambria Math" panose="02040503050406030204" pitchFamily="18" charset="0"/>
                              <a:ea typeface="Cambria Math" panose="02040503050406030204" pitchFamily="18" charset="0"/>
                            </a:rPr>
                            <m:t>𝑥</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𝑦</m:t>
                          </m:r>
                        </m:e>
                      </m:d>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𝑓</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𝑥</m:t>
                      </m:r>
                      <m:r>
                        <a:rPr lang="en-US" altLang="zh-CN" sz="1800" b="0" i="1" smtClean="0">
                          <a:latin typeface="Cambria Math" panose="02040503050406030204" pitchFamily="18" charset="0"/>
                          <a:ea typeface="Cambria Math" panose="02040503050406030204" pitchFamily="18" charset="0"/>
                        </a:rPr>
                        <m:t>−1,</m:t>
                      </m:r>
                      <m:r>
                        <a:rPr lang="en-US" altLang="zh-CN" sz="1800" b="0" i="1" smtClean="0">
                          <a:latin typeface="Cambria Math" panose="02040503050406030204" pitchFamily="18" charset="0"/>
                          <a:ea typeface="Cambria Math" panose="02040503050406030204" pitchFamily="18" charset="0"/>
                        </a:rPr>
                        <m:t>𝑦</m:t>
                      </m:r>
                      <m:r>
                        <a:rPr lang="en-US" altLang="zh-CN" sz="1800" b="0" i="1" smtClean="0">
                          <a:latin typeface="Cambria Math" panose="02040503050406030204" pitchFamily="18" charset="0"/>
                          <a:ea typeface="Cambria Math" panose="02040503050406030204" pitchFamily="18" charset="0"/>
                        </a:rPr>
                        <m:t>)</m:t>
                      </m:r>
                    </m:oMath>
                  </m:oMathPara>
                </a14:m>
                <a:endParaRPr lang="en-US" altLang="zh-CN" sz="1800" dirty="0"/>
              </a:p>
              <a:p>
                <a:pPr marL="471170" lvl="1" indent="0">
                  <a:spcAft>
                    <a:spcPts val="600"/>
                  </a:spcAft>
                  <a:buNone/>
                </a:pPr>
                <a14:m>
                  <m:oMathPara xmlns:m="http://schemas.openxmlformats.org/officeDocument/2006/math">
                    <m:oMathParaPr>
                      <m:jc m:val="centerGroup"/>
                    </m:oMathParaPr>
                    <m:oMath xmlns:m="http://schemas.openxmlformats.org/officeDocument/2006/math">
                      <m:f>
                        <m:fPr>
                          <m:ctrlPr>
                            <a:rPr lang="en-US" altLang="zh-CN" sz="1800" i="1">
                              <a:latin typeface="Cambria Math" panose="02040503050406030204" pitchFamily="18" charset="0"/>
                            </a:rPr>
                          </m:ctrlPr>
                        </m:fPr>
                        <m:num>
                          <m:sSup>
                            <m:sSupPr>
                              <m:ctrlPr>
                                <a:rPr lang="en-US" altLang="zh-CN" sz="1800" i="1">
                                  <a:latin typeface="Cambria Math" panose="02040503050406030204" pitchFamily="18" charset="0"/>
                                </a:rPr>
                              </m:ctrlPr>
                            </m:sSupPr>
                            <m:e>
                              <m:r>
                                <a:rPr lang="zh-CN" altLang="en-US" sz="1800" i="1">
                                  <a:latin typeface="Cambria Math" panose="02040503050406030204" pitchFamily="18" charset="0"/>
                                </a:rPr>
                                <m:t>𝜕</m:t>
                              </m:r>
                            </m:e>
                            <m:sup>
                              <m:r>
                                <a:rPr lang="en-US" altLang="zh-CN" sz="1800" i="1">
                                  <a:latin typeface="Cambria Math" panose="02040503050406030204" pitchFamily="18" charset="0"/>
                                </a:rPr>
                                <m:t>2</m:t>
                              </m:r>
                            </m:sup>
                          </m:sSup>
                          <m:r>
                            <a:rPr lang="en-US" altLang="zh-CN" sz="1800" i="1">
                              <a:latin typeface="Cambria Math" panose="02040503050406030204" pitchFamily="18" charset="0"/>
                            </a:rPr>
                            <m:t>𝑓</m:t>
                          </m:r>
                        </m:num>
                        <m:den>
                          <m:r>
                            <a:rPr lang="zh-CN" altLang="en-US" sz="1800" i="1">
                              <a:latin typeface="Cambria Math" panose="02040503050406030204" pitchFamily="18" charset="0"/>
                            </a:rPr>
                            <m:t>𝜕</m:t>
                          </m:r>
                          <m:sSup>
                            <m:sSupPr>
                              <m:ctrlPr>
                                <a:rPr lang="en-US" altLang="zh-CN" sz="1800" i="1">
                                  <a:latin typeface="Cambria Math" panose="02040503050406030204" pitchFamily="18" charset="0"/>
                                </a:rPr>
                              </m:ctrlPr>
                            </m:sSupPr>
                            <m:e>
                              <m:r>
                                <a:rPr lang="en-US" altLang="zh-CN" sz="1800" b="0" i="1" smtClean="0">
                                  <a:latin typeface="Cambria Math" panose="02040503050406030204" pitchFamily="18" charset="0"/>
                                </a:rPr>
                                <m:t>𝑦</m:t>
                              </m:r>
                            </m:e>
                            <m:sup>
                              <m:r>
                                <a:rPr lang="en-US" altLang="zh-CN" sz="1800" i="1">
                                  <a:latin typeface="Cambria Math" panose="02040503050406030204" pitchFamily="18" charset="0"/>
                                </a:rPr>
                                <m:t>2</m:t>
                              </m:r>
                            </m:sup>
                          </m:sSup>
                        </m:den>
                      </m:f>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𝑓</m:t>
                          </m:r>
                        </m:e>
                        <m:sub>
                          <m:r>
                            <a:rPr lang="en-US" altLang="zh-CN" sz="1800" b="0" i="1" smtClean="0">
                              <a:latin typeface="Cambria Math" panose="02040503050406030204" pitchFamily="18" charset="0"/>
                              <a:ea typeface="Cambria Math" panose="02040503050406030204" pitchFamily="18" charset="0"/>
                            </a:rPr>
                            <m:t>𝑦</m:t>
                          </m:r>
                        </m:sub>
                      </m:sSub>
                      <m:d>
                        <m:dPr>
                          <m:ctrlPr>
                            <a:rPr lang="en-US" altLang="zh-CN" sz="1800" i="1">
                              <a:latin typeface="Cambria Math" panose="02040503050406030204" pitchFamily="18" charset="0"/>
                              <a:ea typeface="Cambria Math" panose="02040503050406030204" pitchFamily="18" charset="0"/>
                            </a:rPr>
                          </m:ctrlPr>
                        </m:dPr>
                        <m:e>
                          <m:r>
                            <a:rPr lang="en-US" altLang="zh-CN" sz="1800" b="0" i="1" smtClean="0">
                              <a:latin typeface="Cambria Math" panose="02040503050406030204" pitchFamily="18" charset="0"/>
                              <a:ea typeface="Cambria Math" panose="02040503050406030204" pitchFamily="18" charset="0"/>
                            </a:rPr>
                            <m:t>𝑥</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𝑦</m:t>
                          </m:r>
                          <m:r>
                            <a:rPr lang="en-US" altLang="zh-CN" sz="1800" i="1">
                              <a:latin typeface="Cambria Math" panose="02040503050406030204" pitchFamily="18" charset="0"/>
                              <a:ea typeface="Cambria Math" panose="02040503050406030204" pitchFamily="18" charset="0"/>
                            </a:rPr>
                            <m:t>+0.5</m:t>
                          </m:r>
                        </m:e>
                      </m:d>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𝑓</m:t>
                          </m:r>
                        </m:e>
                        <m:sub>
                          <m:r>
                            <a:rPr lang="en-US" altLang="zh-CN" sz="1800" b="0" i="1" smtClean="0">
                              <a:latin typeface="Cambria Math" panose="02040503050406030204" pitchFamily="18" charset="0"/>
                              <a:ea typeface="Cambria Math" panose="02040503050406030204" pitchFamily="18" charset="0"/>
                            </a:rPr>
                            <m:t>𝑦</m:t>
                          </m:r>
                        </m:sub>
                      </m:sSub>
                      <m:d>
                        <m:dPr>
                          <m:ctrlPr>
                            <a:rPr lang="en-US" altLang="zh-CN" sz="1800" i="1">
                              <a:latin typeface="Cambria Math" panose="02040503050406030204" pitchFamily="18" charset="0"/>
                              <a:ea typeface="Cambria Math" panose="02040503050406030204" pitchFamily="18" charset="0"/>
                            </a:rPr>
                          </m:ctrlPr>
                        </m:dPr>
                        <m:e>
                          <m:r>
                            <a:rPr lang="en-US" altLang="zh-CN" sz="1800" b="0" i="1" smtClean="0">
                              <a:latin typeface="Cambria Math" panose="02040503050406030204" pitchFamily="18" charset="0"/>
                              <a:ea typeface="Cambria Math" panose="02040503050406030204" pitchFamily="18" charset="0"/>
                            </a:rPr>
                            <m:t>𝑥</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𝑦</m:t>
                          </m:r>
                          <m:r>
                            <a:rPr lang="en-US" altLang="zh-CN" sz="1800" i="1">
                              <a:latin typeface="Cambria Math" panose="02040503050406030204" pitchFamily="18" charset="0"/>
                              <a:ea typeface="Cambria Math" panose="02040503050406030204" pitchFamily="18" charset="0"/>
                            </a:rPr>
                            <m:t>−0.5</m:t>
                          </m:r>
                        </m:e>
                      </m:d>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𝑓</m:t>
                      </m:r>
                      <m:d>
                        <m:dPr>
                          <m:ctrlPr>
                            <a:rPr lang="en-US" altLang="zh-CN" sz="1800" i="1">
                              <a:latin typeface="Cambria Math" panose="02040503050406030204" pitchFamily="18" charset="0"/>
                              <a:ea typeface="Cambria Math" panose="02040503050406030204" pitchFamily="18" charset="0"/>
                            </a:rPr>
                          </m:ctrlPr>
                        </m:dPr>
                        <m:e>
                          <m:r>
                            <a:rPr lang="en-US" altLang="zh-CN" sz="1800" b="0" i="1" smtClean="0">
                              <a:latin typeface="Cambria Math" panose="02040503050406030204" pitchFamily="18" charset="0"/>
                              <a:ea typeface="Cambria Math" panose="02040503050406030204" pitchFamily="18" charset="0"/>
                            </a:rPr>
                            <m:t>𝑥</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𝑦</m:t>
                          </m:r>
                          <m:r>
                            <a:rPr lang="en-US" altLang="zh-CN" sz="1800" i="1">
                              <a:latin typeface="Cambria Math" panose="02040503050406030204" pitchFamily="18" charset="0"/>
                              <a:ea typeface="Cambria Math" panose="02040503050406030204" pitchFamily="18" charset="0"/>
                            </a:rPr>
                            <m:t>+1</m:t>
                          </m:r>
                        </m:e>
                      </m:d>
                      <m:r>
                        <a:rPr lang="en-US" altLang="zh-CN" sz="1800" i="1">
                          <a:latin typeface="Cambria Math" panose="02040503050406030204" pitchFamily="18" charset="0"/>
                          <a:ea typeface="Cambria Math" panose="02040503050406030204" pitchFamily="18" charset="0"/>
                        </a:rPr>
                        <m:t>−2</m:t>
                      </m:r>
                      <m:r>
                        <a:rPr lang="en-US" altLang="zh-CN" sz="1800" i="1">
                          <a:latin typeface="Cambria Math" panose="02040503050406030204" pitchFamily="18" charset="0"/>
                          <a:ea typeface="Cambria Math" panose="02040503050406030204" pitchFamily="18" charset="0"/>
                        </a:rPr>
                        <m:t>𝑓</m:t>
                      </m:r>
                      <m:d>
                        <m:dPr>
                          <m:ctrlPr>
                            <a:rPr lang="en-US" altLang="zh-CN" sz="1800" i="1">
                              <a:latin typeface="Cambria Math" panose="02040503050406030204" pitchFamily="18" charset="0"/>
                              <a:ea typeface="Cambria Math" panose="02040503050406030204" pitchFamily="18" charset="0"/>
                            </a:rPr>
                          </m:ctrlPr>
                        </m:dPr>
                        <m:e>
                          <m:r>
                            <a:rPr lang="en-US" altLang="zh-CN" sz="1800" i="1">
                              <a:latin typeface="Cambria Math" panose="02040503050406030204" pitchFamily="18" charset="0"/>
                              <a:ea typeface="Cambria Math" panose="02040503050406030204" pitchFamily="18" charset="0"/>
                            </a:rPr>
                            <m:t>𝑥</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𝑦</m:t>
                          </m:r>
                        </m:e>
                      </m:d>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𝑓</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𝑥</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𝑦</m:t>
                      </m:r>
                      <m:r>
                        <a:rPr lang="en-US" altLang="zh-CN" sz="1800" i="1">
                          <a:latin typeface="Cambria Math" panose="02040503050406030204" pitchFamily="18" charset="0"/>
                          <a:ea typeface="Cambria Math" panose="02040503050406030204" pitchFamily="18" charset="0"/>
                        </a:rPr>
                        <m:t>−1)</m:t>
                      </m:r>
                    </m:oMath>
                  </m:oMathPara>
                </a14:m>
                <a:endParaRPr lang="zh-CN" altLang="en-US" sz="1800" dirty="0"/>
              </a:p>
              <a:p>
                <a:pPr marL="471170" lvl="1" indent="0">
                  <a:buNone/>
                </a:pPr>
                <a:endParaRPr lang="zh-CN" altLang="en-US" sz="1800"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566738" y="1341438"/>
                <a:ext cx="8541766" cy="4967287"/>
              </a:xfrm>
              <a:blipFill>
                <a:blip r:embed="rId2"/>
                <a:stretch>
                  <a:fillRect l="-999" t="-1350"/>
                </a:stretch>
              </a:blipFill>
            </p:spPr>
            <p:txBody>
              <a:bodyPr/>
              <a:lstStyle/>
              <a:p>
                <a:r>
                  <a:rPr lang="zh-CN" altLang="en-US">
                    <a:noFill/>
                  </a:rPr>
                  <a:t> </a:t>
                </a:r>
              </a:p>
            </p:txBody>
          </p:sp>
        </mc:Fallback>
      </mc:AlternateContent>
      <p:sp>
        <p:nvSpPr>
          <p:cNvPr id="45059" name="灯片编号占位符 6"/>
          <p:cNvSpPr txBox="1">
            <a:spLocks noGrp="1"/>
          </p:cNvSpPr>
          <p:nvPr>
            <p:ph type="sldNum" sz="quarter" idx="4294967295"/>
          </p:nvPr>
        </p:nvSpPr>
        <p:spPr>
          <a:xfrm>
            <a:off x="7086600" y="6356350"/>
            <a:ext cx="2057400" cy="365125"/>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charset="0"/>
                <a:ea typeface="宋体" panose="02010600030101010101" pitchFamily="2" charset="-122"/>
                <a:cs typeface="+mn-cs"/>
              </a:defRPr>
            </a:lvl5pPr>
          </a:lstStyle>
          <a:p>
            <a:pPr lvl="0" algn="ctr"/>
            <a:fld id="{9A0DB2DC-4C9A-4742-B13C-FB6460FD3503}" type="slidenum">
              <a:rPr lang="en-US" altLang="zh-CN" sz="1400" dirty="0"/>
              <a:pPr lvl="0" algn="ctr"/>
              <a:t>52</a:t>
            </a:fld>
            <a:endParaRPr lang="en-US" altLang="zh-CN" sz="1400" dirty="0"/>
          </a:p>
        </p:txBody>
      </p:sp>
      <p:sp>
        <p:nvSpPr>
          <p:cNvPr id="45060" name="Rectangle 4"/>
          <p:cNvSpPr/>
          <p:nvPr/>
        </p:nvSpPr>
        <p:spPr>
          <a:xfrm>
            <a:off x="3195638" y="3200400"/>
            <a:ext cx="9144000" cy="0"/>
          </a:xfrm>
          <a:prstGeom prst="rect">
            <a:avLst/>
          </a:prstGeom>
          <a:noFill/>
          <a:ln w="9525">
            <a:noFill/>
          </a:ln>
        </p:spPr>
        <p:txBody>
          <a:bodyPr>
            <a:spAutoFit/>
          </a:bodyPr>
          <a:lstStyle/>
          <a:p>
            <a:pPr eaLnBrk="1" hangingPunct="1"/>
            <a:endParaRPr lang="zh-CN" altLang="en-US" dirty="0">
              <a:latin typeface="Times New Roman" panose="02020603050405020304" charset="0"/>
            </a:endParaRPr>
          </a:p>
        </p:txBody>
      </p:sp>
      <p:sp>
        <p:nvSpPr>
          <p:cNvPr id="45061" name="Rectangle 6"/>
          <p:cNvSpPr/>
          <p:nvPr/>
        </p:nvSpPr>
        <p:spPr>
          <a:xfrm>
            <a:off x="3414713" y="3186113"/>
            <a:ext cx="9144000" cy="0"/>
          </a:xfrm>
          <a:prstGeom prst="rect">
            <a:avLst/>
          </a:prstGeom>
          <a:noFill/>
          <a:ln w="9525">
            <a:noFill/>
          </a:ln>
        </p:spPr>
        <p:txBody>
          <a:bodyPr>
            <a:spAutoFit/>
          </a:bodyPr>
          <a:lstStyle/>
          <a:p>
            <a:pPr eaLnBrk="1" hangingPunct="1"/>
            <a:endParaRPr lang="zh-CN" altLang="en-US" dirty="0">
              <a:latin typeface="Times New Roman" panose="02020603050405020304" charset="0"/>
            </a:endParaRPr>
          </a:p>
        </p:txBody>
      </p:sp>
      <p:pic>
        <p:nvPicPr>
          <p:cNvPr id="45062" name="Picture 32"/>
          <p:cNvPicPr>
            <a:picLocks noChangeAspect="1"/>
          </p:cNvPicPr>
          <p:nvPr/>
        </p:nvPicPr>
        <p:blipFill>
          <a:blip r:embed="rId3"/>
          <a:stretch>
            <a:fillRect/>
          </a:stretch>
        </p:blipFill>
        <p:spPr>
          <a:xfrm>
            <a:off x="3635896" y="1844824"/>
            <a:ext cx="1959043" cy="760187"/>
          </a:xfrm>
          <a:prstGeom prst="rect">
            <a:avLst/>
          </a:prstGeom>
          <a:noFill/>
          <a:ln w="9525">
            <a:noFill/>
          </a:ln>
        </p:spPr>
      </p:pic>
      <p:graphicFrame>
        <p:nvGraphicFramePr>
          <p:cNvPr id="8" name="Group 4"/>
          <p:cNvGraphicFramePr>
            <a:graphicFrameLocks noGrp="1"/>
          </p:cNvGraphicFramePr>
          <p:nvPr>
            <p:extLst>
              <p:ext uri="{D42A27DB-BD31-4B8C-83A1-F6EECF244321}">
                <p14:modId xmlns:p14="http://schemas.microsoft.com/office/powerpoint/2010/main" val="3674885816"/>
              </p:ext>
            </p:extLst>
          </p:nvPr>
        </p:nvGraphicFramePr>
        <p:xfrm>
          <a:off x="1123863" y="5042504"/>
          <a:ext cx="1619980" cy="1554666"/>
        </p:xfrm>
        <a:graphic>
          <a:graphicData uri="http://schemas.openxmlformats.org/drawingml/2006/table">
            <a:tbl>
              <a:tblPr/>
              <a:tblGrid>
                <a:gridCol w="539993">
                  <a:extLst>
                    <a:ext uri="{9D8B030D-6E8A-4147-A177-3AD203B41FA5}">
                      <a16:colId xmlns:a16="http://schemas.microsoft.com/office/drawing/2014/main" val="20000"/>
                    </a:ext>
                  </a:extLst>
                </a:gridCol>
                <a:gridCol w="539994">
                  <a:extLst>
                    <a:ext uri="{9D8B030D-6E8A-4147-A177-3AD203B41FA5}">
                      <a16:colId xmlns:a16="http://schemas.microsoft.com/office/drawing/2014/main" val="20001"/>
                    </a:ext>
                  </a:extLst>
                </a:gridCol>
                <a:gridCol w="539993">
                  <a:extLst>
                    <a:ext uri="{9D8B030D-6E8A-4147-A177-3AD203B41FA5}">
                      <a16:colId xmlns:a16="http://schemas.microsoft.com/office/drawing/2014/main" val="20002"/>
                    </a:ext>
                  </a:extLst>
                </a:gridCol>
              </a:tblGrid>
              <a:tr h="471133">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0</a:t>
                      </a:r>
                    </a:p>
                  </a:txBody>
                  <a:tcPr marL="91424" marR="91424" marT="45751" marB="457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marL="91424" marR="91424" marT="45751" marB="457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1133">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-4</a:t>
                      </a:r>
                    </a:p>
                  </a:txBody>
                  <a:tcPr marL="91424" marR="91424" marT="45751" marB="457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133">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0</a:t>
                      </a:r>
                    </a:p>
                  </a:txBody>
                  <a:tcPr marL="91424" marR="91424" marT="45751" marB="457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0</a:t>
                      </a:r>
                    </a:p>
                  </a:txBody>
                  <a:tcPr marL="91424" marR="91424" marT="45751" marB="457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9" name="Group 23"/>
          <p:cNvGraphicFramePr>
            <a:graphicFrameLocks noGrp="1"/>
          </p:cNvGraphicFramePr>
          <p:nvPr>
            <p:extLst>
              <p:ext uri="{D42A27DB-BD31-4B8C-83A1-F6EECF244321}">
                <p14:modId xmlns:p14="http://schemas.microsoft.com/office/powerpoint/2010/main" val="1653172997"/>
              </p:ext>
            </p:extLst>
          </p:nvPr>
        </p:nvGraphicFramePr>
        <p:xfrm>
          <a:off x="4912315" y="5041399"/>
          <a:ext cx="1619981" cy="1554666"/>
        </p:xfrm>
        <a:graphic>
          <a:graphicData uri="http://schemas.openxmlformats.org/drawingml/2006/table">
            <a:tbl>
              <a:tblPr/>
              <a:tblGrid>
                <a:gridCol w="539994">
                  <a:extLst>
                    <a:ext uri="{9D8B030D-6E8A-4147-A177-3AD203B41FA5}">
                      <a16:colId xmlns:a16="http://schemas.microsoft.com/office/drawing/2014/main" val="20000"/>
                    </a:ext>
                  </a:extLst>
                </a:gridCol>
                <a:gridCol w="539993">
                  <a:extLst>
                    <a:ext uri="{9D8B030D-6E8A-4147-A177-3AD203B41FA5}">
                      <a16:colId xmlns:a16="http://schemas.microsoft.com/office/drawing/2014/main" val="20001"/>
                    </a:ext>
                  </a:extLst>
                </a:gridCol>
                <a:gridCol w="539994">
                  <a:extLst>
                    <a:ext uri="{9D8B030D-6E8A-4147-A177-3AD203B41FA5}">
                      <a16:colId xmlns:a16="http://schemas.microsoft.com/office/drawing/2014/main" val="20002"/>
                    </a:ext>
                  </a:extLst>
                </a:gridCol>
              </a:tblGrid>
              <a:tr h="471133">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1133">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-8</a:t>
                      </a:r>
                    </a:p>
                  </a:txBody>
                  <a:tcPr marL="91424" marR="91424" marT="45751" marB="457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133">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51" marB="457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0" name="Group 41"/>
          <p:cNvGraphicFramePr>
            <a:graphicFrameLocks noGrp="1"/>
          </p:cNvGraphicFramePr>
          <p:nvPr>
            <p:extLst>
              <p:ext uri="{D42A27DB-BD31-4B8C-83A1-F6EECF244321}">
                <p14:modId xmlns:p14="http://schemas.microsoft.com/office/powerpoint/2010/main" val="3283726936"/>
              </p:ext>
            </p:extLst>
          </p:nvPr>
        </p:nvGraphicFramePr>
        <p:xfrm>
          <a:off x="3026367" y="5045297"/>
          <a:ext cx="1619980" cy="1554396"/>
        </p:xfrm>
        <a:graphic>
          <a:graphicData uri="http://schemas.openxmlformats.org/drawingml/2006/table">
            <a:tbl>
              <a:tblPr/>
              <a:tblGrid>
                <a:gridCol w="539993">
                  <a:extLst>
                    <a:ext uri="{9D8B030D-6E8A-4147-A177-3AD203B41FA5}">
                      <a16:colId xmlns:a16="http://schemas.microsoft.com/office/drawing/2014/main" val="20000"/>
                    </a:ext>
                  </a:extLst>
                </a:gridCol>
                <a:gridCol w="539994">
                  <a:extLst>
                    <a:ext uri="{9D8B030D-6E8A-4147-A177-3AD203B41FA5}">
                      <a16:colId xmlns:a16="http://schemas.microsoft.com/office/drawing/2014/main" val="20001"/>
                    </a:ext>
                  </a:extLst>
                </a:gridCol>
                <a:gridCol w="539993">
                  <a:extLst>
                    <a:ext uri="{9D8B030D-6E8A-4147-A177-3AD203B41FA5}">
                      <a16:colId xmlns:a16="http://schemas.microsoft.com/office/drawing/2014/main" val="20002"/>
                    </a:ext>
                  </a:extLst>
                </a:gridCol>
              </a:tblGrid>
              <a:tr h="470669">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0</a:t>
                      </a:r>
                    </a:p>
                  </a:txBody>
                  <a:tcPr marL="91424" marR="91424"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marL="91424" marR="91424"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0669">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4</a:t>
                      </a:r>
                    </a:p>
                  </a:txBody>
                  <a:tcPr marL="91424" marR="91424"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0669">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0</a:t>
                      </a:r>
                    </a:p>
                  </a:txBody>
                  <a:tcPr marL="91424" marR="91424"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0</a:t>
                      </a:r>
                    </a:p>
                  </a:txBody>
                  <a:tcPr marL="91424" marR="91424"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1" name="Group 59"/>
          <p:cNvGraphicFramePr>
            <a:graphicFrameLocks noGrp="1"/>
          </p:cNvGraphicFramePr>
          <p:nvPr>
            <p:extLst>
              <p:ext uri="{D42A27DB-BD31-4B8C-83A1-F6EECF244321}">
                <p14:modId xmlns:p14="http://schemas.microsoft.com/office/powerpoint/2010/main" val="2666761217"/>
              </p:ext>
            </p:extLst>
          </p:nvPr>
        </p:nvGraphicFramePr>
        <p:xfrm>
          <a:off x="6803753" y="5041399"/>
          <a:ext cx="1619981" cy="1554396"/>
        </p:xfrm>
        <a:graphic>
          <a:graphicData uri="http://schemas.openxmlformats.org/drawingml/2006/table">
            <a:tbl>
              <a:tblPr/>
              <a:tblGrid>
                <a:gridCol w="539994">
                  <a:extLst>
                    <a:ext uri="{9D8B030D-6E8A-4147-A177-3AD203B41FA5}">
                      <a16:colId xmlns:a16="http://schemas.microsoft.com/office/drawing/2014/main" val="20000"/>
                    </a:ext>
                  </a:extLst>
                </a:gridCol>
                <a:gridCol w="539993">
                  <a:extLst>
                    <a:ext uri="{9D8B030D-6E8A-4147-A177-3AD203B41FA5}">
                      <a16:colId xmlns:a16="http://schemas.microsoft.com/office/drawing/2014/main" val="20001"/>
                    </a:ext>
                  </a:extLst>
                </a:gridCol>
                <a:gridCol w="539994">
                  <a:extLst>
                    <a:ext uri="{9D8B030D-6E8A-4147-A177-3AD203B41FA5}">
                      <a16:colId xmlns:a16="http://schemas.microsoft.com/office/drawing/2014/main" val="20002"/>
                    </a:ext>
                  </a:extLst>
                </a:gridCol>
              </a:tblGrid>
              <a:tr h="470669">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70669">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8</a:t>
                      </a:r>
                    </a:p>
                  </a:txBody>
                  <a:tcPr marL="91424" marR="91424"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70669">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2"/>
                        </a:buClr>
                        <a:buSzPct val="80000"/>
                        <a:buFont typeface="Wingdings" panose="05000000000000000000" pitchFamily="2" charset="2"/>
                        <a:defRPr kumimoji="1" sz="2800">
                          <a:solidFill>
                            <a:schemeClr val="tx1"/>
                          </a:solidFill>
                          <a:latin typeface="Times New Roman" panose="02020603050405020304" charset="0"/>
                          <a:ea typeface="宋体" panose="02010600030101010101" pitchFamily="2" charset="-122"/>
                        </a:defRPr>
                      </a:lvl1pPr>
                      <a:lvl2pPr marL="742950" indent="-285750" eaLnBrk="0" hangingPunct="0">
                        <a:spcBef>
                          <a:spcPct val="20000"/>
                        </a:spcBef>
                        <a:buClr>
                          <a:schemeClr val="tx1"/>
                        </a:buClr>
                        <a:buSzPct val="90000"/>
                        <a:defRPr kumimoji="1" sz="2400">
                          <a:solidFill>
                            <a:schemeClr val="tx1"/>
                          </a:solidFill>
                          <a:latin typeface="Times New Roman" panose="02020603050405020304" charset="0"/>
                          <a:ea typeface="宋体" panose="02010600030101010101" pitchFamily="2" charset="-122"/>
                        </a:defRPr>
                      </a:lvl2pPr>
                      <a:lvl3pPr marL="1143000" indent="-228600" eaLnBrk="0" hangingPunct="0">
                        <a:spcBef>
                          <a:spcPct val="20000"/>
                        </a:spcBef>
                        <a:buClr>
                          <a:schemeClr val="accent1"/>
                        </a:buClr>
                        <a:buSzPct val="60000"/>
                        <a:buFont typeface="Wingdings" panose="05000000000000000000" pitchFamily="2" charset="2"/>
                        <a:defRPr kumimoji="1" sz="2000">
                          <a:solidFill>
                            <a:schemeClr val="tx1"/>
                          </a:solidFill>
                          <a:latin typeface="Times New Roman" panose="02020603050405020304" charset="0"/>
                          <a:ea typeface="宋体" panose="02010600030101010101" pitchFamily="2" charset="-122"/>
                        </a:defRPr>
                      </a:lvl3pPr>
                      <a:lvl4pPr marL="1600200" indent="-228600" eaLnBrk="0" hangingPunct="0">
                        <a:spcBef>
                          <a:spcPct val="20000"/>
                        </a:spcBef>
                        <a:buClr>
                          <a:schemeClr val="tx1"/>
                        </a:buClr>
                        <a:defRPr kumimoji="1">
                          <a:solidFill>
                            <a:schemeClr val="tx1"/>
                          </a:solidFill>
                          <a:latin typeface="Times New Roman" panose="02020603050405020304" charset="0"/>
                          <a:ea typeface="宋体" panose="02010600030101010101" pitchFamily="2" charset="-122"/>
                        </a:defRPr>
                      </a:lvl4pPr>
                      <a:lvl5pPr marL="2057400" indent="-228600" eaLnBrk="0" hangingPunct="0">
                        <a:spcBef>
                          <a:spcPct val="20000"/>
                        </a:spcBef>
                        <a:buClr>
                          <a:schemeClr val="accent1"/>
                        </a:buClr>
                        <a:defRPr kumimoji="1">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lr>
                          <a:schemeClr val="accent1"/>
                        </a:buClr>
                        <a:defRPr kumimoji="1">
                          <a:solidFill>
                            <a:schemeClr val="tx1"/>
                          </a:solidFill>
                          <a:latin typeface="Times New Roman" panose="0202060305040502030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800" b="0" i="0" u="none" strike="noStrike" cap="none" normalizeH="0" baseline="0" dirty="0">
                          <a:ln>
                            <a:noFill/>
                          </a:ln>
                          <a:solidFill>
                            <a:schemeClr val="tx1"/>
                          </a:solidFill>
                          <a:effectLst/>
                          <a:latin typeface="Times New Roman" panose="02020603050405020304" charset="0"/>
                          <a:ea typeface="宋体" panose="02010600030101010101" pitchFamily="2" charset="-122"/>
                        </a:rPr>
                        <a:t>-1</a:t>
                      </a:r>
                    </a:p>
                  </a:txBody>
                  <a:tcPr marL="91424" marR="91424"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931411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dirty="0">
                <a:ln>
                  <a:noFill/>
                </a:ln>
                <a:solidFill>
                  <a:schemeClr val="tx2"/>
                </a:solidFill>
                <a:effectLst/>
                <a:uLnTx/>
                <a:uFillTx/>
                <a:latin typeface="Arial" panose="020B0604020202020204" pitchFamily="34" charset="0"/>
                <a:ea typeface="+mj-ea"/>
                <a:cs typeface="Arial" panose="020B0604020202020204" pitchFamily="34" charset="0"/>
              </a:rPr>
              <a:t>使用拉普拉斯算子进行图像增强</a:t>
            </a:r>
          </a:p>
        </p:txBody>
      </p:sp>
      <p:pic>
        <p:nvPicPr>
          <p:cNvPr id="40963" name="Picture 10"/>
          <p:cNvPicPr>
            <a:picLocks noGrp="1" noChangeAspect="1" noChangeArrowheads="1"/>
          </p:cNvPicPr>
          <p:nvPr>
            <p:ph idx="1"/>
          </p:nvPr>
        </p:nvPicPr>
        <p:blipFill>
          <a:blip r:embed="rId2"/>
          <a:srcRect/>
          <a:stretch>
            <a:fillRect/>
          </a:stretch>
        </p:blipFill>
        <p:spPr>
          <a:xfrm>
            <a:off x="827088" y="1455738"/>
            <a:ext cx="7272338" cy="920750"/>
          </a:xfrm>
        </p:spPr>
      </p:pic>
      <p:sp>
        <p:nvSpPr>
          <p:cNvPr id="40964" name="灯片编号占位符 5"/>
          <p:cNvSpPr txBox="1">
            <a:spLocks noGrp="1"/>
          </p:cNvSpPr>
          <p:nvPr>
            <p:ph type="sldNum" sz="quarter" idx="4294967295"/>
          </p:nvPr>
        </p:nvSpPr>
        <p:spPr bwMode="auto">
          <a:xfrm>
            <a:off x="6553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1440" tIns="45720" rIns="91440" bIns="45720" numCol="1" anchor="t" anchorCtr="0" compatLnSpc="1"/>
          <a:lstStyle>
            <a:lvl1pPr>
              <a:defRPr kumimoji="1" sz="2400">
                <a:solidFill>
                  <a:schemeClr val="tx1"/>
                </a:solidFill>
                <a:latin typeface="Times New Roman" panose="02020603050405020304" charset="0"/>
                <a:ea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CF6DE52B-3CA7-49CE-A3EC-D81B5DBF536B}" type="slidenum">
              <a:rPr kumimoji="0" lang="en-US" altLang="zh-CN" sz="1400" b="0" i="0" u="none" strike="noStrike" kern="1200" cap="none" spc="0" normalizeH="0" baseline="0" noProof="0" smtClean="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rPr>
              <a:pPr marL="0" marR="0" lvl="0" indent="0" algn="r" defTabSz="914400" rtl="0" eaLnBrk="0" fontAlgn="base" latinLnBrk="0" hangingPunct="0">
                <a:lnSpc>
                  <a:spcPct val="100000"/>
                </a:lnSpc>
                <a:spcBef>
                  <a:spcPct val="0"/>
                </a:spcBef>
                <a:spcAft>
                  <a:spcPct val="0"/>
                </a:spcAft>
                <a:buClrTx/>
                <a:buSzTx/>
                <a:buFontTx/>
                <a:buNone/>
                <a:defRPr/>
              </a:pPr>
              <a:t>53</a:t>
            </a:fld>
            <a:endParaRPr kumimoji="0" lang="en-US" altLang="zh-CN" sz="14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宋体" panose="02010600030101010101" pitchFamily="2" charset="-122"/>
            </a:endParaRPr>
          </a:p>
        </p:txBody>
      </p:sp>
      <p:sp>
        <p:nvSpPr>
          <p:cNvPr id="46085" name="Rectangle 3"/>
          <p:cNvSpPr/>
          <p:nvPr/>
        </p:nvSpPr>
        <p:spPr>
          <a:xfrm>
            <a:off x="3195638" y="3200400"/>
            <a:ext cx="9144000" cy="0"/>
          </a:xfrm>
          <a:prstGeom prst="rect">
            <a:avLst/>
          </a:prstGeom>
          <a:noFill/>
          <a:ln w="9525">
            <a:noFill/>
          </a:ln>
        </p:spPr>
        <p:txBody>
          <a:bodyPr>
            <a:spAutoFit/>
          </a:bodyPr>
          <a:lstStyle/>
          <a:p>
            <a:pPr eaLnBrk="1" hangingPunct="1"/>
            <a:endParaRPr lang="zh-CN" altLang="en-US" dirty="0">
              <a:latin typeface="Times New Roman" panose="02020603050405020304" charset="0"/>
            </a:endParaRPr>
          </a:p>
        </p:txBody>
      </p:sp>
      <p:sp>
        <p:nvSpPr>
          <p:cNvPr id="46086" name="Rectangle 4"/>
          <p:cNvSpPr/>
          <p:nvPr/>
        </p:nvSpPr>
        <p:spPr>
          <a:xfrm>
            <a:off x="3414713" y="3186113"/>
            <a:ext cx="9144000" cy="0"/>
          </a:xfrm>
          <a:prstGeom prst="rect">
            <a:avLst/>
          </a:prstGeom>
          <a:noFill/>
          <a:ln w="9525">
            <a:noFill/>
          </a:ln>
        </p:spPr>
        <p:txBody>
          <a:bodyPr>
            <a:spAutoFit/>
          </a:bodyPr>
          <a:lstStyle/>
          <a:p>
            <a:pPr eaLnBrk="1" hangingPunct="1"/>
            <a:endParaRPr lang="zh-CN" altLang="en-US" dirty="0">
              <a:latin typeface="Times New Roman" panose="02020603050405020304" charset="0"/>
            </a:endParaRPr>
          </a:p>
        </p:txBody>
      </p:sp>
      <p:pic>
        <p:nvPicPr>
          <p:cNvPr id="46087" name="Picture 11" descr="lena_直方图"/>
          <p:cNvPicPr>
            <a:picLocks noChangeAspect="1"/>
          </p:cNvPicPr>
          <p:nvPr/>
        </p:nvPicPr>
        <p:blipFill>
          <a:blip r:embed="rId3"/>
          <a:stretch>
            <a:fillRect/>
          </a:stretch>
        </p:blipFill>
        <p:spPr>
          <a:xfrm>
            <a:off x="1384300" y="2636838"/>
            <a:ext cx="6381750" cy="2924175"/>
          </a:xfrm>
          <a:prstGeom prst="rect">
            <a:avLst/>
          </a:prstGeom>
          <a:noFill/>
          <a:ln w="9525">
            <a:noFill/>
          </a:ln>
        </p:spPr>
      </p:pic>
    </p:spTree>
    <p:extLst>
      <p:ext uri="{BB962C8B-B14F-4D97-AF65-F5344CB8AC3E}">
        <p14:creationId xmlns:p14="http://schemas.microsoft.com/office/powerpoint/2010/main" val="683529499"/>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使用拉普拉斯算子进行图像增强</a:t>
            </a:r>
            <a:endParaRPr lang="zh-CN" altLang="en-US" dirty="0"/>
          </a:p>
        </p:txBody>
      </p:sp>
      <p:sp>
        <p:nvSpPr>
          <p:cNvPr id="3" name="灯片编号占位符 2"/>
          <p:cNvSpPr>
            <a:spLocks noGrp="1"/>
          </p:cNvSpPr>
          <p:nvPr>
            <p:ph type="sldNum" sz="quarter" idx="12"/>
          </p:nvPr>
        </p:nvSpPr>
        <p:spPr/>
        <p:txBody>
          <a:bodyPr/>
          <a:lstStyle/>
          <a:p>
            <a:fld id="{BE59E6E9-16BB-4D46-A8D6-97CC594B8C57}" type="slidenum">
              <a:rPr lang="en-US" altLang="zh-CN" smtClean="0"/>
              <a:pPr/>
              <a:t>54</a:t>
            </a:fld>
            <a:endParaRPr lang="en-US" altLang="zh-CN"/>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052" y="1513084"/>
            <a:ext cx="2989263" cy="517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9802" y="1541659"/>
            <a:ext cx="1065213" cy="262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574231"/>
      </p:ext>
    </p:extLst>
  </p:cSld>
  <p:clrMapOvr>
    <a:masterClrMapping/>
  </p:clrMapOvr>
  <p:transition/>
</p:sld>
</file>

<file path=ppt/theme/theme1.xml><?xml version="1.0" encoding="utf-8"?>
<a:theme xmlns:a="http://schemas.openxmlformats.org/drawingml/2006/main" name="Profil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ofile">
      <a:majorFont>
        <a:latin typeface="Times New Roman"/>
        <a:ea typeface="黑体"/>
        <a:cs typeface="黑体"/>
      </a:majorFont>
      <a:minorFont>
        <a:latin typeface="Times New Roman"/>
        <a:ea typeface="黑体"/>
        <a:cs typeface="黑体"/>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0000"/>
        </a:solidFill>
        <a:ln>
          <a:noFill/>
        </a:ln>
      </a:spPr>
      <a:bodyPr vert="horz" wrap="square" lIns="91440" tIns="45720" rIns="91440" bIns="45720" numCol="1" rtlCol="0" anchor="t" anchorCtr="0" compatLnSpc="1"/>
      <a:lstStyle>
        <a:defPPr marL="0" marR="0" indent="0" algn="l" defTabSz="914400" rtl="0" eaLnBrk="1" fontAlgn="base" latinLnBrk="0" hangingPunct="1">
          <a:lnSpc>
            <a:spcPct val="100000"/>
          </a:lnSpc>
          <a:spcBef>
            <a:spcPct val="20000"/>
          </a:spcBef>
          <a:spcAft>
            <a:spcPct val="0"/>
          </a:spcAft>
          <a:buClr>
            <a:schemeClr val="accent2"/>
          </a:buClr>
          <a:buSzTx/>
          <a:buFont typeface="Wingdings" panose="05000000000000000000" charset="0"/>
          <a:buChar char="•"/>
          <a:defRPr kumimoji="0" sz="1800" b="0" i="0" u="none" strike="noStrike" cap="none" normalizeH="0" baseline="0">
            <a:ln>
              <a:noFill/>
            </a:ln>
            <a:solidFill>
              <a:schemeClr val="tx1"/>
            </a:solidFill>
            <a:effectLst/>
            <a:latin typeface="Times New Roman" panose="02020603050405020304" charset="0"/>
            <a:ea typeface="黑体" panose="02010609060101010101" charset="-122"/>
            <a:cs typeface="黑体" panose="02010609060101010101"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20000"/>
          </a:spcBef>
          <a:spcAft>
            <a:spcPct val="0"/>
          </a:spcAft>
          <a:buClr>
            <a:schemeClr val="accent2"/>
          </a:buClr>
          <a:buSzTx/>
          <a:buFont typeface="Wingdings" panose="05000000000000000000" charset="0"/>
          <a:buChar char="•"/>
          <a:defRPr kumimoji="0" lang="zh-CN" altLang="en-US" sz="1800" b="0" i="0" u="none" strike="noStrike" cap="none" normalizeH="0" baseline="0">
            <a:ln>
              <a:noFill/>
            </a:ln>
            <a:solidFill>
              <a:schemeClr val="tx1"/>
            </a:solidFill>
            <a:effectLst/>
            <a:latin typeface="Times New Roman" panose="02020603050405020304" charset="0"/>
            <a:ea typeface="黑体" panose="02010609060101010101" charset="-122"/>
            <a:cs typeface="黑体" panose="02010609060101010101"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1582</TotalTime>
  <Words>3054</Words>
  <Application>Microsoft Office PowerPoint</Application>
  <PresentationFormat>全屏显示(4:3)</PresentationFormat>
  <Paragraphs>496</Paragraphs>
  <Slides>54</Slides>
  <Notes>6</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3" baseType="lpstr">
      <vt:lpstr>黑体</vt:lpstr>
      <vt:lpstr>宋体</vt:lpstr>
      <vt:lpstr>Arial</vt:lpstr>
      <vt:lpstr>Cambria Math</vt:lpstr>
      <vt:lpstr>Times New Roman</vt:lpstr>
      <vt:lpstr>Verdana</vt:lpstr>
      <vt:lpstr>Wingdings</vt:lpstr>
      <vt:lpstr>Profile</vt:lpstr>
      <vt:lpstr>Microsoft Word Picture</vt:lpstr>
      <vt:lpstr>数字图象处理</vt:lpstr>
      <vt:lpstr>第3章  灰度变换与空域滤波</vt:lpstr>
      <vt:lpstr>灰度变换与空间滤波基础</vt:lpstr>
      <vt:lpstr>灰度变换</vt:lpstr>
      <vt:lpstr>第3章  灰度变换与空域滤波</vt:lpstr>
      <vt:lpstr>常见灰度变换</vt:lpstr>
      <vt:lpstr>常见灰度变换－图象求反</vt:lpstr>
      <vt:lpstr>常见灰度变换－对数变换</vt:lpstr>
      <vt:lpstr>常见灰度变换－指数变换</vt:lpstr>
      <vt:lpstr>指数变换－伽马校正</vt:lpstr>
      <vt:lpstr>PowerPoint 演示文稿</vt:lpstr>
      <vt:lpstr>PowerPoint 演示文稿</vt:lpstr>
      <vt:lpstr>分段线性变换函数－对比度拉伸</vt:lpstr>
      <vt:lpstr>分段线性变换函数－灰度级切分</vt:lpstr>
      <vt:lpstr>比特面分割</vt:lpstr>
      <vt:lpstr>比特面分割</vt:lpstr>
      <vt:lpstr>第3章  灰度变换与空域滤波</vt:lpstr>
      <vt:lpstr>灰度直方图</vt:lpstr>
      <vt:lpstr>灰度直方图</vt:lpstr>
      <vt:lpstr>直方图的灰度变换</vt:lpstr>
      <vt:lpstr>直方图均衡</vt:lpstr>
      <vt:lpstr>直方图均衡</vt:lpstr>
      <vt:lpstr>直方图均衡</vt:lpstr>
      <vt:lpstr>直方图均衡</vt:lpstr>
      <vt:lpstr>直方图匹配（直方图规定化）</vt:lpstr>
      <vt:lpstr>直方图匹配（直方图规定化）</vt:lpstr>
      <vt:lpstr>直方图匹配</vt:lpstr>
      <vt:lpstr>直方图均衡 vs. 直方图匹配</vt:lpstr>
      <vt:lpstr>局部直方图处理</vt:lpstr>
      <vt:lpstr>基于统计分布的图像增强</vt:lpstr>
      <vt:lpstr>第3章  灰度变换与空域滤波</vt:lpstr>
      <vt:lpstr>空域滤波机制</vt:lpstr>
      <vt:lpstr>空间相关与卷积：一维情况</vt:lpstr>
      <vt:lpstr>空间相关与卷积：二维情况</vt:lpstr>
      <vt:lpstr>滤波器的向量表示与模板生成</vt:lpstr>
      <vt:lpstr>第3章  灰度变换与空域滤波</vt:lpstr>
      <vt:lpstr>平滑滤波器</vt:lpstr>
      <vt:lpstr>图像平滑</vt:lpstr>
      <vt:lpstr>图像平滑</vt:lpstr>
      <vt:lpstr>统计排序滤波器</vt:lpstr>
      <vt:lpstr>中值滤波保边缘的性能</vt:lpstr>
      <vt:lpstr>二维中值滤波窗口</vt:lpstr>
      <vt:lpstr>例</vt:lpstr>
      <vt:lpstr>第3章  灰度变换与空域滤波</vt:lpstr>
      <vt:lpstr>空域锐化</vt:lpstr>
      <vt:lpstr>空域锐化</vt:lpstr>
      <vt:lpstr>一阶微分锐化图像</vt:lpstr>
      <vt:lpstr>一阶微分锐化图像</vt:lpstr>
      <vt:lpstr>梯度算子</vt:lpstr>
      <vt:lpstr>梯度算子</vt:lpstr>
      <vt:lpstr>一阶微分锐化图像</vt:lpstr>
      <vt:lpstr>拉普拉斯算子</vt:lpstr>
      <vt:lpstr>使用拉普拉斯算子进行图像增强</vt:lpstr>
      <vt:lpstr>使用拉普拉斯算子进行图像增强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基于视觉特性的视频编码理论与方法研究</dc:title>
  <dc:creator>SwanTian</dc:creator>
  <cp:lastModifiedBy>Adam Zhou</cp:lastModifiedBy>
  <cp:revision>3559</cp:revision>
  <cp:lastPrinted>2019-03-12T15:26:01Z</cp:lastPrinted>
  <dcterms:created xsi:type="dcterms:W3CDTF">2006-10-11T01:50:00Z</dcterms:created>
  <dcterms:modified xsi:type="dcterms:W3CDTF">2025-09-22T07:48:58Z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